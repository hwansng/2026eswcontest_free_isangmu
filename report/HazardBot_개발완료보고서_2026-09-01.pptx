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1253871" y="2452497"/>
            <a:ext cx="502920" cy="414909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31432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 flipV="1">
            <a:off x="1505331" y="2339340"/>
            <a:ext cx="0" cy="113157"/>
          </a:xfrm>
          <a:prstGeom prst="line">
            <a:avLst/>
          </a:prstGeom>
          <a:ln w="44005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462583" y="2271446"/>
            <a:ext cx="85496" cy="854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 flipV="1">
            <a:off x="1731645" y="2427351"/>
            <a:ext cx="201168" cy="125730"/>
          </a:xfrm>
          <a:prstGeom prst="line">
            <a:avLst/>
          </a:prstGeom>
          <a:ln w="69151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88808" y="2383346"/>
            <a:ext cx="88011" cy="88011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1932813" y="2427351"/>
            <a:ext cx="88011" cy="176022"/>
          </a:xfrm>
          <a:prstGeom prst="line">
            <a:avLst/>
          </a:prstGeom>
          <a:ln w="69151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68017" y="2550566"/>
            <a:ext cx="105613" cy="105613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 flipV="1">
            <a:off x="2020824" y="2527935"/>
            <a:ext cx="88011" cy="75438"/>
          </a:xfrm>
          <a:prstGeom prst="line">
            <a:avLst/>
          </a:prstGeom>
          <a:ln w="50292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20824" y="2603373"/>
            <a:ext cx="75438" cy="88011"/>
          </a:xfrm>
          <a:prstGeom prst="line">
            <a:avLst/>
          </a:prstGeom>
          <a:ln w="50292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10449" y="2810828"/>
            <a:ext cx="163449" cy="163449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536764" y="2810828"/>
            <a:ext cx="163449" cy="163449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429893" y="2540508"/>
            <a:ext cx="226314" cy="226314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553108" y="2600858"/>
            <a:ext cx="55321" cy="55321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76500" y="2038350"/>
            <a:ext cx="72390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제24회 임베디드SW경진대회 개발완료보고서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6500" y="2286000"/>
            <a:ext cx="7239000" cy="647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4770"/>
              </a:lnSpc>
              <a:spcAft>
                <a:spcPts val="0"/>
              </a:spcAft>
            </a:pPr>
            <a:r>
              <a:rPr b="1" sz="4500" spc="-112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HazardBot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5550" y="3009900"/>
            <a:ext cx="72390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75" spc="58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자유공모 부문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8100"/>
            <a:ext cx="952500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</a:pPr>
            <a:r>
              <a:rPr b="0" sz="1500" spc="-15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위험물 취급구역을 순찰하며 감지·판정하고, 로봇팔로 직접 제거하는 AI 패트롤 로봇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419600"/>
            <a:ext cx="1036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4648200"/>
            <a:ext cx="6667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확정 후 삽입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0100" y="4648200"/>
            <a:ext cx="6667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00 ·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대회 필수항목 7개에 맞춘 5개 장 · 본문 20페이지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01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109728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1981200"/>
            <a:ext cx="495300" cy="8077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b="1" sz="1950" spc="-39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7800" y="1981200"/>
            <a:ext cx="8115300" cy="807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52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개발 개요</a:t>
            </a:r>
          </a:p>
          <a:p>
            <a:pPr algn="l">
              <a:lnSpc>
                <a:spcPts val="1462"/>
              </a:lnSpc>
              <a:spcBef>
                <a:spcPts val="450"/>
              </a:spcBef>
              <a:spcAft>
                <a:spcPts val="0"/>
              </a:spcAft>
            </a:pPr>
            <a:r>
              <a:rPr b="0" sz="97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개발 배경·동기 · 목표·필요성 · 작품 개요와 제출 링크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3600" y="1981200"/>
            <a:ext cx="1524000" cy="8077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75"/>
              </a:lnSpc>
              <a:spcAft>
                <a:spcPts val="0"/>
              </a:spcAft>
            </a:pPr>
            <a:r>
              <a:rPr b="0" sz="975" spc="2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02 – 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784158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2788920"/>
            <a:ext cx="495300" cy="8077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b="1" sz="1950" spc="-39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2788920"/>
            <a:ext cx="8115300" cy="807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52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개발 환경</a:t>
            </a:r>
          </a:p>
          <a:p>
            <a:pPr algn="l">
              <a:lnSpc>
                <a:spcPts val="1462"/>
              </a:lnSpc>
              <a:spcBef>
                <a:spcPts val="450"/>
              </a:spcBef>
              <a:spcAft>
                <a:spcPts val="0"/>
              </a:spcAft>
            </a:pPr>
            <a:r>
              <a:rPr b="0" sz="97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시스템 개요 · 하드웨어와 전력 계통 · 개발 환경과 오픈소스 · 소프트웨어 아키텍처 · 파일 구성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3600" y="2788920"/>
            <a:ext cx="1524000" cy="8077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75"/>
              </a:lnSpc>
              <a:spcAft>
                <a:spcPts val="0"/>
              </a:spcAft>
            </a:pPr>
            <a:r>
              <a:rPr b="0" sz="975" spc="2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05 – 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591878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4400" y="3596640"/>
            <a:ext cx="495300" cy="8077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b="1" sz="1950" spc="-39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7800" y="3596640"/>
            <a:ext cx="8115300" cy="807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52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개발 프로그램</a:t>
            </a:r>
          </a:p>
          <a:p>
            <a:pPr algn="l">
              <a:lnSpc>
                <a:spcPts val="1462"/>
              </a:lnSpc>
              <a:spcBef>
                <a:spcPts val="450"/>
              </a:spcBef>
              <a:spcAft>
                <a:spcPts val="0"/>
              </a:spcAft>
            </a:pPr>
            <a:r>
              <a:rPr b="0" sz="97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위험물 판정 로직 · GAS_CHECK · ACT 학습 · ACT 초동 조치 · 통합 파이프라인과 대시보드 · 검증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600" y="3596640"/>
            <a:ext cx="1524000" cy="8077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75"/>
              </a:lnSpc>
              <a:spcAft>
                <a:spcPts val="0"/>
              </a:spcAft>
            </a:pPr>
            <a:r>
              <a:rPr b="0" sz="975" spc="2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10 –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4399598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4404360"/>
            <a:ext cx="495300" cy="8077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b="1" sz="1950" spc="-39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7800" y="4404360"/>
            <a:ext cx="8115300" cy="807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52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장애요인과 해결</a:t>
            </a:r>
          </a:p>
          <a:p>
            <a:pPr algn="l">
              <a:lnSpc>
                <a:spcPts val="1462"/>
              </a:lnSpc>
              <a:spcBef>
                <a:spcPts val="450"/>
              </a:spcBef>
              <a:spcAft>
                <a:spcPts val="0"/>
              </a:spcAft>
            </a:pPr>
            <a:r>
              <a:rPr b="0" sz="97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개발 중 발생한 문제와 해결 방안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3600" y="4404360"/>
            <a:ext cx="1524000" cy="8077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75"/>
              </a:lnSpc>
              <a:spcAft>
                <a:spcPts val="0"/>
              </a:spcAft>
            </a:pPr>
            <a:r>
              <a:rPr b="0" sz="975" spc="2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207318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4400" y="5212080"/>
            <a:ext cx="495300" cy="8077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b="1" sz="1950" spc="-39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7800" y="5212080"/>
            <a:ext cx="8115300" cy="807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52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결과와 일정</a:t>
            </a:r>
          </a:p>
          <a:p>
            <a:pPr algn="l">
              <a:lnSpc>
                <a:spcPts val="1462"/>
              </a:lnSpc>
              <a:spcBef>
                <a:spcPts val="450"/>
              </a:spcBef>
              <a:spcAft>
                <a:spcPts val="0"/>
              </a:spcAft>
            </a:pPr>
            <a:r>
              <a:rPr b="0" sz="97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작품의 차별성 · 기술적 우수성 · 파급력과 기대효과 · 개발 일정과 업무 분장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3600" y="5212080"/>
            <a:ext cx="1524000" cy="8077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75"/>
              </a:lnSpc>
              <a:spcAft>
                <a:spcPts val="0"/>
              </a:spcAft>
            </a:pPr>
            <a:r>
              <a:rPr b="0" sz="975" spc="2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17 –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01 · 개발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사람이 계속 지킬 수 없는 구역이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24시간 가동하는 위험물 취급구역에서, 감시와 초동 조치는 여전히 사람의 몫으로 남아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02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1097280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914400" y="2438400"/>
            <a:ext cx="1866900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0600" y="2514600"/>
            <a:ext cx="17145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24시간 가동 현장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28925" y="2819400"/>
            <a:ext cx="161925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038475" y="2438400"/>
            <a:ext cx="1866900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114675" y="2514600"/>
            <a:ext cx="17145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위험물 상시 취급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53000" y="2819400"/>
            <a:ext cx="161925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62550" y="2438400"/>
            <a:ext cx="1866900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238750" y="2514600"/>
            <a:ext cx="17145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사람의 지속 감시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77075" y="2819400"/>
            <a:ext cx="161925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86625" y="2438400"/>
            <a:ext cx="1866900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62825" y="2514600"/>
            <a:ext cx="17145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접근 · 조치 지연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01150" y="2819400"/>
            <a:ext cx="161925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410700" y="2438400"/>
            <a:ext cx="1866900" cy="762000"/>
          </a:xfrm>
          <a:prstGeom prst="roundRect">
            <a:avLst>
              <a:gd name="adj" fmla="val 7500"/>
            </a:avLst>
          </a:prstGeom>
          <a:solidFill>
            <a:srgbClr val="EBF3FB"/>
          </a:solidFill>
          <a:ln w="14287">
            <a:solidFill>
              <a:srgbClr val="007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486900" y="2514600"/>
            <a:ext cx="17145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자동 감지 · 초동 조치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600" y="4191000"/>
            <a:ext cx="3505200" cy="21336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8200" y="4419600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현장 조건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676775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지속 감시의 한계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5076825"/>
            <a:ext cx="3048000" cy="1019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반도체 FAB·정유공장처럼 위험물을 다루면서도 멈추지 않는 현장이 있다. 사람이 밤낮없이 모든 구간을 같은 집중으로 지키는 것은 현실적으로 어렵다.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191000"/>
            <a:ext cx="3505200" cy="21336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72000" y="4419600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작업자 위험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676775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근접이 곧 위험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76825"/>
            <a:ext cx="3048000" cy="1019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위험물을 치우려면 사람이 유해 물질에 직접 다가가야 한다. 조치를 하는 행위 자체가 작업자에게 새로운 노출을 만든다.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77200" y="4191000"/>
            <a:ext cx="3505200" cy="21336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305800" y="4419600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개발 동기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5800" y="4676775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발견 다음이 비어 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5800" y="5076825"/>
            <a:ext cx="3048000" cy="1019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기존 순찰 로봇은 발견하고 알리는 데서 멈춘다. 치우는 일은 여전히 사람 몫으로 남아, 발견에서 조치까지의 간격이 사고 규모를 가른다.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01 · 개발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감지 · 판정 · 초동 조치를 하나의 흐름으로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사람이 직접 접근하지 않고도 위험물을 감지·판정하고, 제거까지 수행하는 로봇을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03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35052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8200" y="1885950"/>
            <a:ext cx="3048000" cy="1009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01</a:t>
            </a:r>
          </a:p>
          <a:p>
            <a:pPr algn="l">
              <a:lnSpc>
                <a:spcPts val="1852"/>
              </a:lnSpc>
              <a:spcBef>
                <a:spcPts val="450"/>
              </a:spcBef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자동 감지</a:t>
            </a:r>
          </a:p>
          <a:p>
            <a:pPr algn="l">
              <a:lnSpc>
                <a:spcPts val="1350"/>
              </a:lnSpc>
              <a:spcBef>
                <a:spcPts val="45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순찰 중 정지 지점마다 카메라로 물체를 확인한다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" y="3143250"/>
            <a:ext cx="35052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8200" y="3352800"/>
            <a:ext cx="3048000" cy="1009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02</a:t>
            </a:r>
          </a:p>
          <a:p>
            <a:pPr algn="l">
              <a:lnSpc>
                <a:spcPts val="1852"/>
              </a:lnSpc>
              <a:spcBef>
                <a:spcPts val="450"/>
              </a:spcBef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규칙 기반 판정</a:t>
            </a:r>
          </a:p>
          <a:p>
            <a:pPr algn="l">
              <a:lnSpc>
                <a:spcPts val="1350"/>
              </a:lnSpc>
              <a:spcBef>
                <a:spcPts val="45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색상으로 1차 분류하고, 필요한 경우에만 가스 센서로 정밀검사한다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4610100"/>
            <a:ext cx="35052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8200" y="4819650"/>
            <a:ext cx="3048000" cy="1009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03</a:t>
            </a:r>
          </a:p>
          <a:p>
            <a:pPr algn="l">
              <a:lnSpc>
                <a:spcPts val="1852"/>
              </a:lnSpc>
              <a:spcBef>
                <a:spcPts val="450"/>
              </a:spcBef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초동 조치</a:t>
            </a:r>
          </a:p>
          <a:p>
            <a:pPr algn="l">
              <a:lnSpc>
                <a:spcPts val="1350"/>
              </a:lnSpc>
              <a:spcBef>
                <a:spcPts val="45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위험으로 판정되면 로봇팔이 직접 집어 격리함에 넣는다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153150"/>
            <a:ext cx="35052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설계 근거 — 위험물안전관리법 유별 혼재 제한 · KS C IEC 60079-10-1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1676400"/>
            <a:ext cx="72390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demo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90700"/>
            <a:ext cx="7010400" cy="39433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57700" y="5810250"/>
            <a:ext cx="701040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순찰 경로와 정지 지점을 구성한 시연 공간</a:t>
            </a:r>
          </a:p>
          <a:p>
            <a:pPr algn="l">
              <a:lnSpc>
                <a:spcPts val="1350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바닥의 검은 선이 순찰 경로, 회색 패널이 각 정지 지점이다. 지점마다 판정 대상 물체와 격리함을 배치했다.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01 · 개발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작품 개요와 제출 링크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대회 가이드양식의 개발 개요 표를 그대로 채웠다 — 소스코드와 시연동영상 링크는 필수 항목이다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04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72390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1905000"/>
            <a:ext cx="1257300" cy="838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작품명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1905000"/>
            <a:ext cx="521970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95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HazardBot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738438"/>
            <a:ext cx="66294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2743200"/>
            <a:ext cx="1257300" cy="838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개발 배경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4100" y="2743200"/>
            <a:ext cx="521970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95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위험물을 다루면서도 24시간 멈추지 않는 산업현장에서, 감시와 초동 조치는 여전히 사람의 몫으로 남아 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576638"/>
            <a:ext cx="66294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4400" y="3581400"/>
            <a:ext cx="1257300" cy="838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동기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100" y="3581400"/>
            <a:ext cx="521970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95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기존 순찰 로봇은 발견하고 알리는 데서 멈춘다. 발견 이후 치우는 일은 사람이 위험물에 직접 다가가야 한다.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414838"/>
            <a:ext cx="66294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" y="4419600"/>
            <a:ext cx="1257300" cy="838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목표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4100" y="4419600"/>
            <a:ext cx="521970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95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위험물을 자동으로 감지·판정하고, 판정 결과에 따라 로봇팔로 초동 조치(제거)까지 수행하는 로봇을 개발한다.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253038"/>
            <a:ext cx="66294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5257800"/>
            <a:ext cx="1257300" cy="838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필요성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4100" y="5257800"/>
            <a:ext cx="521970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95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사람이 직접 접근하지 않고도 지속적인 감시·격리가 가능한 구조를 만들어, 유해물질에 근접하는 횟수 자체를 줄인다.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7200" y="1676400"/>
            <a:ext cx="3505200" cy="2209800"/>
          </a:xfrm>
          <a:prstGeom prst="roundRect">
            <a:avLst>
              <a:gd name="adj" fmla="val 2586"/>
            </a:avLst>
          </a:prstGeom>
          <a:solidFill>
            <a:srgbClr val="EBF3FB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077200" y="1733550"/>
            <a:ext cx="28575" cy="20955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05800" y="1924050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소스코드 링크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05800" y="2171700"/>
            <a:ext cx="540258" cy="2095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05800" y="2171700"/>
            <a:ext cx="540258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GitHub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5800" y="2552700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7"/>
              </a:lnSpc>
              <a:spcAft>
                <a:spcPts val="0"/>
              </a:spcAft>
            </a:pPr>
            <a:r>
              <a:rPr b="0" sz="1425" spc="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확정 후 삽입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05800" y="3162300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305800" y="327660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github.com/&lt;사용자이름&gt;/2026ESWContest_free_&lt;팀명&gt;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77200" y="4114800"/>
            <a:ext cx="3505200" cy="22098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305800" y="4362450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시연 동영상 링크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05800" y="4610100"/>
            <a:ext cx="603123" cy="209550"/>
          </a:xfrm>
          <a:prstGeom prst="roundRect">
            <a:avLst>
              <a:gd name="adj" fmla="val 1363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305800" y="4610100"/>
            <a:ext cx="603123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YouTube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5800" y="4991100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7"/>
              </a:lnSpc>
              <a:spcAft>
                <a:spcPts val="0"/>
              </a:spcAft>
            </a:pPr>
            <a:r>
              <a:rPr b="0" sz="1425" spc="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확정 후 삽입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05800" y="5600700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305800" y="571500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2026ESWContest_자유공모_&lt;팀명&gt;_시연동영상 · 3분 이내 · 720p 이상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02 · 개발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HazardBot — 감지에서 초동 조치까지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위험물 취급구역을 순찰하며 정지 지점마다 감지·판정하고, 로봇팔로 직접 제거한다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05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7239000" cy="3048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2590800" y="335280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62250" y="2781300"/>
            <a:ext cx="0" cy="1143000"/>
          </a:xfrm>
          <a:prstGeom prst="line">
            <a:avLst/>
          </a:prstGeom>
          <a:ln w="14287" cap="rnd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62250" y="2781300"/>
            <a:ext cx="104775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62250" y="3924300"/>
            <a:ext cx="104775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278130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43500" y="392430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4950" y="2781300"/>
            <a:ext cx="0" cy="1143000"/>
          </a:xfrm>
          <a:prstGeom prst="line">
            <a:avLst/>
          </a:prstGeom>
          <a:ln w="14287" cap="rnd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14950" y="2781300"/>
            <a:ext cx="104775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14950" y="3924300"/>
            <a:ext cx="104775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1981200"/>
            <a:ext cx="16764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01 감지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3700" y="1981200"/>
            <a:ext cx="22098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02 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1981200"/>
            <a:ext cx="20574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03 표시 · 조치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2857500"/>
            <a:ext cx="1676400" cy="990600"/>
          </a:xfrm>
          <a:prstGeom prst="roundRect">
            <a:avLst>
              <a:gd name="adj" fmla="val 5769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28700" y="2971800"/>
            <a:ext cx="1447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카메라 인식</a:t>
            </a:r>
          </a:p>
          <a:p>
            <a:pPr algn="l">
              <a:lnSpc>
                <a:spcPts val="1350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정지 지점마다 물체 색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33700" y="2286000"/>
            <a:ext cx="2209800" cy="990600"/>
          </a:xfrm>
          <a:prstGeom prst="roundRect">
            <a:avLst>
              <a:gd name="adj" fmla="val 5769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3048000" y="2505075"/>
            <a:ext cx="95250" cy="95250"/>
          </a:xfrm>
          <a:prstGeom prst="ellipse">
            <a:avLst/>
          </a:prstGeom>
          <a:solidFill>
            <a:srgbClr val="B2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219450" y="2400300"/>
            <a:ext cx="180975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황색 — 산화성 고체</a:t>
            </a:r>
          </a:p>
          <a:p>
            <a:pPr algn="l">
              <a:lnSpc>
                <a:spcPts val="1350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취급구역 내 위치 자체가 위반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19450" y="2971800"/>
            <a:ext cx="742615" cy="190500"/>
          </a:xfrm>
          <a:prstGeom prst="roundRect">
            <a:avLst>
              <a:gd name="adj" fmla="val 15000"/>
            </a:avLst>
          </a:prstGeom>
          <a:solidFill>
            <a:srgbClr val="F1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219450" y="2971800"/>
            <a:ext cx="742615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72" kern="0">
                <a:solidFill>
                  <a:srgbClr val="D70015"/>
                </a:solidFill>
                <a:latin typeface="Pretendard SemiBold"/>
                <a:cs typeface="Pretendard SemiBold"/>
                <a:ea typeface="Pretendard SemiBold"/>
              </a:rPr>
              <a:t>즉시 위험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33700" y="3429000"/>
            <a:ext cx="2209800" cy="990600"/>
          </a:xfrm>
          <a:prstGeom prst="roundRect">
            <a:avLst>
              <a:gd name="adj" fmla="val 5769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3048000" y="3648075"/>
            <a:ext cx="95250" cy="95250"/>
          </a:xfrm>
          <a:prstGeom prst="ellipse">
            <a:avLst/>
          </a:prstGeom>
          <a:solidFill>
            <a:srgbClr val="D7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219450" y="3543300"/>
            <a:ext cx="180975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적색 — 인화성 액체</a:t>
            </a:r>
          </a:p>
          <a:p>
            <a:pPr algn="l">
              <a:lnSpc>
                <a:spcPts val="1350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MQ-2 가스 3초 정밀검사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19450" y="4114800"/>
            <a:ext cx="832226" cy="190500"/>
          </a:xfrm>
          <a:prstGeom prst="roundRect">
            <a:avLst>
              <a:gd name="adj" fmla="val 15000"/>
            </a:avLst>
          </a:prstGeom>
          <a:solidFill>
            <a:srgbClr val="F1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219450" y="4114800"/>
            <a:ext cx="832226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72" kern="0">
                <a:solidFill>
                  <a:srgbClr val="D70015"/>
                </a:solidFill>
                <a:latin typeface="Pretendard SemiBold"/>
                <a:cs typeface="Pretendard SemiBold"/>
                <a:ea typeface="Pretendard SemiBold"/>
              </a:rPr>
              <a:t>검출 → 위험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08826" y="4114800"/>
            <a:ext cx="832226" cy="190500"/>
          </a:xfrm>
          <a:prstGeom prst="roundRect">
            <a:avLst>
              <a:gd name="adj" fmla="val 15000"/>
            </a:avLst>
          </a:prstGeom>
          <a:solidFill>
            <a:srgbClr val="D8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108826" y="4114800"/>
            <a:ext cx="832226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72" kern="0">
                <a:solidFill>
                  <a:srgbClr val="248A3D"/>
                </a:solidFill>
                <a:latin typeface="Pretendard SemiBold"/>
                <a:cs typeface="Pretendard SemiBold"/>
                <a:ea typeface="Pretendard SemiBold"/>
              </a:rPr>
              <a:t>없음 → 통과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0" y="2286000"/>
            <a:ext cx="2057400" cy="990600"/>
          </a:xfrm>
          <a:prstGeom prst="roundRect">
            <a:avLst>
              <a:gd name="adj" fmla="val 5769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600700" y="2400300"/>
            <a:ext cx="1828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대시보드 실시간 표시</a:t>
            </a:r>
          </a:p>
          <a:p>
            <a:pPr algn="l">
              <a:lnSpc>
                <a:spcPts val="1350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상태 · 센서 수치 · 판정 문장 로그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0" y="3429000"/>
            <a:ext cx="2057400" cy="990600"/>
          </a:xfrm>
          <a:prstGeom prst="roundRect">
            <a:avLst>
              <a:gd name="adj" fmla="val 5769"/>
            </a:avLst>
          </a:prstGeom>
          <a:solidFill>
            <a:srgbClr val="EBF3FB"/>
          </a:solidFill>
          <a:ln w="14287">
            <a:solidFill>
              <a:srgbClr val="007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600700" y="3543300"/>
            <a:ext cx="1828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로봇팔 초동 조치</a:t>
            </a:r>
          </a:p>
          <a:p>
            <a:pPr algn="l">
              <a:lnSpc>
                <a:spcPts val="1350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파지 → 이동 → 격리함 → 뚜껑 닫기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77200" y="1676400"/>
            <a:ext cx="3505200" cy="3048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305800" y="1905000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하드웨어 구성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05800" y="2133600"/>
            <a:ext cx="3048000" cy="5834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RPi 5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ROS2 오케스트레이션 · 카메라 인식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05800" y="2717006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305800" y="2726531"/>
            <a:ext cx="3048000" cy="5834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ESP_Drive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TB6612FNG 모터 드라이버 · 안전 우선순위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05800" y="3309938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305800" y="3319462"/>
            <a:ext cx="3048000" cy="5834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ESP_Env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MQ-2 가스 · 화염 센서 3초 샘플링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05800" y="3902869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305800" y="3912394"/>
            <a:ext cx="3048000" cy="5834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SO-101 로봇팔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ACT 정책 · RTX 4060 GPU 추론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9600" y="4953000"/>
            <a:ext cx="10972800" cy="1371600"/>
          </a:xfrm>
          <a:prstGeom prst="roundRect">
            <a:avLst>
              <a:gd name="adj" fmla="val 4166"/>
            </a:avLst>
          </a:prstGeom>
          <a:solidFill>
            <a:srgbClr val="FAFAFC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38200" y="5227320"/>
            <a:ext cx="23931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ACT 파지 성공률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5421630"/>
            <a:ext cx="239315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86.7%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5878830"/>
            <a:ext cx="239315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실물 30회 검증 · 근거리 100%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59956" y="5181600"/>
            <a:ext cx="9525" cy="914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698081" y="5227320"/>
            <a:ext cx="21645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가스 정밀검사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98081" y="5421630"/>
            <a:ext cx="216455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3초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98081" y="5878830"/>
            <a:ext cx="216455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MQ-2 샘플링 · 5초 워치독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91238" y="5181600"/>
            <a:ext cx="9525" cy="914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329362" y="5227320"/>
            <a:ext cx="21645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ACT 학습 데이터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29362" y="5421630"/>
            <a:ext cx="216455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100회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29362" y="5878830"/>
            <a:ext cx="216455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리더암 직접 시연 · 모방학습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22519" y="5181600"/>
            <a:ext cx="9525" cy="914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960644" y="5227320"/>
            <a:ext cx="23931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판정 로직 실물 확인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0644" y="5421630"/>
            <a:ext cx="239315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7회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60644" y="5878830"/>
            <a:ext cx="239315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3케이스 전부 정상 동작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02 · 개발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네 개의 하드웨어 단위와 세 개의 전력 레일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RPi 5가 전체 흐름을 조율하고 두 개의 ESP32와 로봇팔이 주행·센싱·조치를 맡는다 — 전원은 배터리 하나에서 세 갈래로 나뉜다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06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2571750" cy="24003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8200" y="1905000"/>
            <a:ext cx="21145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오케스트레이션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162175"/>
            <a:ext cx="21145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RPi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5622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ROS2 노드 조율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판정부터 조치까지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" y="2984500"/>
            <a:ext cx="211455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8200" y="29940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카메라 물체 인식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색상 · 방위각 산출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8200" y="3416300"/>
            <a:ext cx="211455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8200" y="34258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대시보드 웹서버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hazardbot.local:8080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9950" y="1676400"/>
            <a:ext cx="2571750" cy="24003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638550" y="1905000"/>
            <a:ext cx="21145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주행 · 안전 판단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8550" y="2162175"/>
            <a:ext cx="21145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ESP_Drive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8550" y="25622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TB6612FNG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듀얼 H-브리지 모터 제어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38550" y="2984500"/>
            <a:ext cx="211455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638550" y="29940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안전 우선순위 판단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위험 순위대로 정지 처리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38550" y="3416300"/>
            <a:ext cx="211455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38550" y="34258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라인 · 거리 센싱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TCRT5000 · VL53L1X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0300" y="1676400"/>
            <a:ext cx="2571750" cy="24003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38900" y="1905000"/>
            <a:ext cx="21145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가스 · 화염 센싱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8900" y="2162175"/>
            <a:ext cx="21145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ESP_Env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8900" y="25622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MQ-2 가스센서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원시값 샘플링 · 화염 병행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38900" y="2984500"/>
            <a:ext cx="211455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38900" y="29940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3초 정밀검사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요청 시 집중 샘플링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38900" y="3416300"/>
            <a:ext cx="211455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38900" y="34258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판정 결과 전달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DETECTED · CLEAR · ERROR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10650" y="1676400"/>
            <a:ext cx="2571750" cy="24003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239250" y="1905000"/>
            <a:ext cx="21145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초동 조치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9250" y="2162175"/>
            <a:ext cx="21145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SO-101 로봇팔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9250" y="25622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리더 - 팔로워 구조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시연을 관절값으로 수집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39250" y="2984500"/>
            <a:ext cx="211455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239250" y="29940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ACT 정책 제어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학습된 정책으로 파지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9250" y="3416300"/>
            <a:ext cx="211455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239250" y="3425825"/>
            <a:ext cx="2114550" cy="422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노트북 GPU 추론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RTX 4060 · COM3 직결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9600" y="4305300"/>
            <a:ext cx="10972800" cy="201930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14400" y="4533900"/>
            <a:ext cx="66675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전력 계통 — 3S LiPo 11.1V · 2200mAh 에서 세 개 레일로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4400" y="4819650"/>
            <a:ext cx="1600200" cy="685800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90600" y="4895850"/>
            <a:ext cx="1447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3S LiPo 배터리</a:t>
            </a:r>
          </a:p>
          <a:p>
            <a:pPr algn="ctr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11.1V · 2200mAh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14600" y="5162550"/>
            <a:ext cx="2095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2743200" y="4972050"/>
            <a:ext cx="1333500" cy="3810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2800350" y="5048250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XT60 1to3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076700" y="5162550"/>
            <a:ext cx="190500" cy="0"/>
          </a:xfrm>
          <a:prstGeom prst="line">
            <a:avLst/>
          </a:prstGeom>
          <a:ln w="14287" cap="rnd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67200" y="4914900"/>
            <a:ext cx="0" cy="876300"/>
          </a:xfrm>
          <a:prstGeom prst="line">
            <a:avLst/>
          </a:prstGeom>
          <a:ln w="14287" cap="rnd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267200" y="491490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457700" y="4724400"/>
            <a:ext cx="3048000" cy="3810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572000" y="4800600"/>
            <a:ext cx="2819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12V — 팔로워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62500" y="4724400"/>
            <a:ext cx="26670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로봇팔 서보 6개 전용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505700" y="491490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696200" y="4724400"/>
            <a:ext cx="3581400" cy="3810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848600" y="4724400"/>
            <a:ext cx="32766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SO-101 팔로워 암 · 6축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267200" y="535305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4457700" y="5162550"/>
            <a:ext cx="3048000" cy="381000"/>
          </a:xfrm>
          <a:prstGeom prst="roundRect">
            <a:avLst>
              <a:gd name="adj" fmla="val 15000"/>
            </a:avLst>
          </a:prstGeom>
          <a:solidFill>
            <a:srgbClr val="EBF3FB"/>
          </a:solidFill>
          <a:ln w="14287">
            <a:solidFill>
              <a:srgbClr val="007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572000" y="5238750"/>
            <a:ext cx="2819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5V_RPi — XL4016 단독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62500" y="5162550"/>
            <a:ext cx="26670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RPi 5 전용 레일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505700" y="535305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696200" y="5162550"/>
            <a:ext cx="3581400" cy="3810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7848600" y="5162550"/>
            <a:ext cx="32766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RPi 5 · ROS2 · 카메라 · 대시보드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267200" y="579120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4457700" y="5600700"/>
            <a:ext cx="3048000" cy="3810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72000" y="5676900"/>
            <a:ext cx="2819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12V 주행 + 5V_ESP — XL4015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62500" y="5600700"/>
            <a:ext cx="26670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주행 및 센서 계통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505700" y="579120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696200" y="5600700"/>
            <a:ext cx="3581400" cy="3810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848600" y="5600700"/>
            <a:ext cx="32766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TB6612 · ESP_Drive · ESP_Env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" y="6076950"/>
            <a:ext cx="103632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MQ-2 는 히터가 상시 330mA를 끌어 DRIVE 5V 를 흔들기 때문에 ESP_Env 5V/VIN 에서 따로 급전한다 · ESP 보드 전원선은 진동 이탈을 막으려 VCC/GND 직납땜 (16p)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02 · 개발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개발 환경과 활용한 오픈소스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규정 제10조 ③에 따라, 기존 소프트웨어의 출처와 우리가 바꾸거나 더한 것을 함께 밝힌다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07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10972800" cy="1828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1905000"/>
            <a:ext cx="66675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개발 환경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076450"/>
            <a:ext cx="11049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중앙 제어기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5500" y="2076450"/>
            <a:ext cx="38862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Raspberry Pi 5 · Ubuntu 24.04 LTS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ROS 2 Jazzy · Python 3.12 (rclpy)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0300" y="2076450"/>
            <a:ext cx="11049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학습 · 추론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1400" y="2076450"/>
            <a:ext cx="38862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Windows 11 노트북 · RTX 4060 (8GB)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miniconda 환경 lerobot · Python 3.10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409825"/>
            <a:ext cx="50673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4400" y="2419350"/>
            <a:ext cx="11049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로봇팔 스택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95500" y="2419350"/>
            <a:ext cx="38862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LeRobot 0.4.4 · PyTorch (CUDA)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SCServo 라이브러리 · CP210x USB 시리얼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0300" y="2409825"/>
            <a:ext cx="50673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0300" y="2419350"/>
            <a:ext cx="11049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임베디드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1400" y="2419350"/>
            <a:ext cx="38862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ESP32 × 2 · Arduino 스케치(.ino)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OTA 업로드 · TB6612FNG · MQ-2 · VL53L1X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2752725"/>
            <a:ext cx="50673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2762250"/>
            <a:ext cx="11049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비전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5500" y="2762250"/>
            <a:ext cx="38862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libcamera · OpenCV · cv_bridge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정지 지점 색상 · 방위각 산출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0300" y="2752725"/>
            <a:ext cx="50673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10300" y="2762250"/>
            <a:ext cx="11049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대시보드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1400" y="2762250"/>
            <a:ext cx="38862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Flask · Flask-SocketIO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RPi 호스팅 · hazardbot.local:8080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3095625"/>
            <a:ext cx="50673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14400" y="3105150"/>
            <a:ext cx="11049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형상관리 · CI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95500" y="3105150"/>
            <a:ext cx="38862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GitHub · GitHub Actions 2종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Arduino 컴파일 / colcon build (Jazzy)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0300" y="3095625"/>
            <a:ext cx="50673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10300" y="3105150"/>
            <a:ext cx="11049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3D 제작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1400" y="3105150"/>
            <a:ext cx="38862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STEP · STL · 3mf 자체 모델링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PLA 출력 — 섀시 어댑터 · 카메라 프레임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600" y="3733800"/>
            <a:ext cx="10972800" cy="236220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14400" y="3962400"/>
            <a:ext cx="85725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활용한 오픈소스 — 출처 · 라이선스 · 우리가 바꾸거나 더한 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4229100"/>
            <a:ext cx="2286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오픈소스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4700" y="4229100"/>
            <a:ext cx="11049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라이선스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33900" y="4229100"/>
            <a:ext cx="67437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개선점 · 추가한 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4438650"/>
            <a:ext cx="1036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14400" y="44958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ROS 2 Jazzy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4700" y="4495800"/>
            <a:ext cx="110490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Apache-2.0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33900" y="4495800"/>
            <a:ext cx="67437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미션 통합 레이어로 자체 패키지 8종을 새로 작성했다.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4811078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14400" y="4815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LeRobot 0.4.4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4700" y="4815840"/>
            <a:ext cx="110490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Apache-2.0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33900" y="4815840"/>
            <a:ext cx="67437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표준 record 는 에피소드 사이 리더암 조작을 요구해 무인 롤아웃이 안 된다. 「에피소드 1회 = 프로세스 1회」 패치 러너로 재구성하고, HuggingFace 자동 업로드 기본값을 차단했다.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5131118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14400" y="51358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ACT (Action Chunking Transformer)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4700" y="5135880"/>
            <a:ext cx="110490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논문 구현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33900" y="5135880"/>
            <a:ext cx="67437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파지 → 격리함 투입 → 뚜껑 닫기를 단일 에피소드 태스크로 재정의해 100 에피소드를 자체 수집·학습했다.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5451158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14400" y="5455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SO-ARM101 · lerobot-calibrate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4700" y="5455920"/>
            <a:ext cx="110490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Apache-2.0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33900" y="5455920"/>
            <a:ext cx="67437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원본이 테이블 클램프 설계라 2WD 섀시 어댑터를 v2까지 자체 모델링했고, 표준 캘리브레이션이 못 잡는 축을 위해 전용 도구를 직접 만들었다.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5771198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14400" y="57759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Flask · Flask-SocketIO · OpenCV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4700" y="5775960"/>
            <a:ext cx="110490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BSD · Apache-2.0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33900" y="5775960"/>
            <a:ext cx="67437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실시간 판정 대시보드를 새로 구현했다.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6172200"/>
            <a:ext cx="103632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본 보고서 서체는 Pretendard (SIL OFL 1.1), 이미지는 전부 자체 촬영·자체 제작이다.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02 · 개발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ROS2 노드가 판정과 조치를 이어 붙인다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인식 · 센싱 · 주행 노드가 판정 노드로 모이고, 오케스트레이터가 표시와 조치로 내보낸다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08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72390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914400" y="1981200"/>
            <a:ext cx="2057400" cy="533400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0600" y="20574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vision_node</a:t>
            </a:r>
          </a:p>
          <a:p>
            <a:pPr algn="ctr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카메라 물체 인식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1981200"/>
            <a:ext cx="2057400" cy="533400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276600" y="20574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sensor_bridge_node</a:t>
            </a:r>
          </a:p>
          <a:p>
            <a:pPr algn="ctr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ENV 보드 중계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1981200"/>
            <a:ext cx="2057400" cy="533400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562600" y="20574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amr_bridge_node</a:t>
            </a:r>
          </a:p>
          <a:p>
            <a:pPr algn="ctr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DRIVE 보드 중계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124200"/>
            <a:ext cx="6629400" cy="533400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8700" y="3200400"/>
            <a:ext cx="6400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hazard_detector_node</a:t>
            </a:r>
          </a:p>
          <a:p>
            <a:pPr algn="ctr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색상 1차 분류 + 가스 결과로 위험 판정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267200"/>
            <a:ext cx="6629400" cy="533400"/>
          </a:xfrm>
          <a:prstGeom prst="roundRect">
            <a:avLst>
              <a:gd name="adj" fmla="val 10714"/>
            </a:avLst>
          </a:prstGeom>
          <a:solidFill>
            <a:srgbClr val="EBF3FB"/>
          </a:solidFill>
          <a:ln w="14287">
            <a:solidFill>
              <a:srgbClr val="007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28700" y="4343400"/>
            <a:ext cx="6400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mission_orchestrator</a:t>
            </a:r>
          </a:p>
          <a:p>
            <a:pPr algn="ctr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판정 결과에 따라 조치를 요청하고 상태를 관리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410200"/>
            <a:ext cx="3200400" cy="533400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90600" y="54864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dashboard_node</a:t>
            </a:r>
          </a:p>
          <a:p>
            <a:pPr algn="ctr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실시간 판정 화면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5410200"/>
            <a:ext cx="3200400" cy="533400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19600" y="54864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arm_act_node</a:t>
            </a:r>
          </a:p>
          <a:p>
            <a:pPr algn="ctr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ACT 정책 실행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371600" y="2514600"/>
            <a:ext cx="0" cy="59055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47800" y="2724150"/>
            <a:ext cx="142875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/vision/detected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57600" y="2514600"/>
            <a:ext cx="0" cy="59055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733800" y="2724150"/>
            <a:ext cx="142875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/env/gas_result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2514600"/>
            <a:ext cx="0" cy="59055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19800" y="2724150"/>
            <a:ext cx="142875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/amr/object_near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57600" y="3657600"/>
            <a:ext cx="0" cy="59055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33800" y="3867150"/>
            <a:ext cx="15240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/hazard/detected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14600" y="4800600"/>
            <a:ext cx="0" cy="59055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590800" y="5010150"/>
            <a:ext cx="142875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판정 · 상태 갱신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105400" y="4800600"/>
            <a:ext cx="0" cy="59055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81600" y="4876800"/>
            <a:ext cx="15240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/arm/grip_request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6819900" y="4819650"/>
            <a:ext cx="0" cy="57150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219700" y="5124450"/>
            <a:ext cx="15240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/arm/act_result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77200" y="1676400"/>
            <a:ext cx="3505200" cy="22098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305800" y="1905000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판정 계통 토픽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5800" y="2162175"/>
            <a:ext cx="3048000" cy="366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/vision/detected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인식한 물체의 색상 · 방위각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05800" y="2528888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305800" y="2538412"/>
            <a:ext cx="3048000" cy="366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/hazard/gas_check_request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적색일 때 가스 정밀검사 요청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05800" y="2905125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305800" y="2914650"/>
            <a:ext cx="3048000" cy="366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/env/gas_result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DETECTED · CLEAR · ERROR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05800" y="3281362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305800" y="3290888"/>
            <a:ext cx="3048000" cy="366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/hazard/detected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최종 위험 판정과 판정 문장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77200" y="4114800"/>
            <a:ext cx="3505200" cy="22098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305800" y="4343400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조치 · 상태 계통 토픽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05800" y="4600575"/>
            <a:ext cx="3048000" cy="366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/amr/object_near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정지 지점에서 물체 근접 감지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05800" y="4967288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305800" y="4976812"/>
            <a:ext cx="3048000" cy="366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/amr/stop_index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현재 정지 지점 번호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05800" y="5343525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305800" y="5353050"/>
            <a:ext cx="3048000" cy="366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/arm/grip_request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로봇팔 초동 조치 요청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05800" y="5719762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305800" y="5729288"/>
            <a:ext cx="3048000" cy="366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/arm/act_result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정책 실행 결과 회신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02 · 개발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파일 구성 · 주요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저장소를 열었을 때 어디에 무엇이 있고, 어느 함수가 앞의 주장을 떠받치는지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09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53721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1905000"/>
            <a:ext cx="47625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저장소 구조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152650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1" sz="937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HazardBot/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390775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├ ros2_ws/src/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0900" y="2390775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ROS2 패키지 9종 · RPi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628900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├ firmware/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867025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│  ├ esp32_drive/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0900" y="2867025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DRIVE 스케치 6종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105150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│  ├ esp32_env/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0900" y="3105150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ENV 스케치 · 판정 헤더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343275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│  ├ tools/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0900" y="3343275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ENV 프로토콜 파서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581400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│  └ tests/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0900" y="3581400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로직 테스트 57건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19525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├ arm/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057650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│  ├ tools/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90900" y="4057650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STS3215 제어 · 진단 17종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295775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│  ├ act/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90900" y="4295775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ACT 수집 · 검수 · 데이터셋 메타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533900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│  ├ scripts/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90900" y="4533900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teleop · record · rollout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772025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│  └ calibration/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90900" y="4772025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캘리브레이션 정본 4개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010150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├ docs/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0900" y="5010150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설계 · 일정 · 실배선 기록 71건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248275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├ hardware/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90900" y="5248275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출력에 쓴 STL 3종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486400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├ report/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90900" y="5486400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이 보고서 빌드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724525"/>
            <a:ext cx="24003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8"/>
              </a:lnSpc>
              <a:spcAft>
                <a:spcPts val="0"/>
              </a:spcAft>
            </a:pPr>
            <a:r>
              <a:rPr b="0" sz="937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└ archive/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90900" y="5724525"/>
            <a:ext cx="22860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b="0" sz="862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폐기 설계 · ENV v1~v8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300" y="1676400"/>
            <a:ext cx="53721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15100" y="1905000"/>
            <a:ext cx="49149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앞 장의 주장을 떠받치는 함수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5100" y="2152650"/>
            <a:ext cx="4914900" cy="6225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analyze_frame() · vision_node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HSV 마스크에서 가장 큰 윤곽을 잡아 minAreaRect 로 색과 방위각을 낸다. 10p 판정의 입력이 여기서 나온다.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15100" y="2775177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515100" y="2784702"/>
            <a:ext cx="4914900" cy="6225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vision_cb() · hazard_detector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황색이면 그 자리에서 위험으로 판정하고, 적색이면 ENV 에 가스 검사를 요청한다. 10p 규칙이 곧 이 함수다.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15100" y="3407229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515100" y="3416754"/>
            <a:ext cx="4914900" cy="6225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updateGasInspection() · ENV 헤더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3초를 채우기 전에는 결과를 내지 않는 게이트(11p). constexpr 순수 함수라 하드웨어 없이 시험할 수 있다.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15100" y="4039280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515100" y="4048805"/>
            <a:ext cx="4914900" cy="4653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pollToF() · esp32_drive_tcp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장애물 300mm 가 3회 연속이면 doStop() 을 직접 부른다. RPi 를 거치지 않는 정지 경로다.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15100" y="4514170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515100" y="4523695"/>
            <a:ext cx="4914900" cy="6225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transition() · mission_orchestrator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IDLE → PATROL → … → REPORT 상태 전이가 지나는 단 하나의 창구. 상태 변경이 여러 곳에 흩어지지 않는다.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15100" y="5146221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515100" y="5155746"/>
            <a:ext cx="4914900" cy="4653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grip_request_cb() · arm_act_node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판정을 받아 ACT 롤아웃을 띄우고 결과를 되돌려준다. 14p 파이프라인의 이음매다.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15100" y="5621111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515100" y="5630636"/>
            <a:ext cx="4914900" cy="4653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verify_checksum() · 브리지 3종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ASCII 합 % 256 을 못 맞춘 프레임은 버린다. 두 ESP32 와 RPi 가 같은 규칙을 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03 · 개발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색으로 나누고, 필요할 때만 가스로 확인한다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고체는 놓여 있는 것만으로 위반, 액체는 새어 나올 때만 위험 — 물질의 성질을 규칙으로 옮겼다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10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10972800" cy="190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914400" y="2247900"/>
            <a:ext cx="2390775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28700" y="2324100"/>
            <a:ext cx="2162175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정지 지점 도착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순찰 중 지정된 지점에 정지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52800" y="262890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571875" y="2247900"/>
            <a:ext cx="2390775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686175" y="2324100"/>
            <a:ext cx="2162175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카메라 색상 확인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물체의 색과 방위각을 산출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10275" y="262890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29350" y="2247900"/>
            <a:ext cx="2390775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43650" y="2324100"/>
            <a:ext cx="2162175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색상별 규칙 적용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황색은 즉시, 적색은 가스 검사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67750" y="2628900"/>
            <a:ext cx="1714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886825" y="2247900"/>
            <a:ext cx="2390775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01125" y="2324100"/>
            <a:ext cx="2162175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판정 문장 출력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대시보드에 결과를 그대로 표시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" y="3810000"/>
            <a:ext cx="3505200" cy="251460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38200" y="4038600"/>
            <a:ext cx="742615" cy="190500"/>
          </a:xfrm>
          <a:prstGeom prst="roundRect">
            <a:avLst>
              <a:gd name="adj" fmla="val 15000"/>
            </a:avLst>
          </a:prstGeom>
          <a:solidFill>
            <a:srgbClr val="F4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8200" y="4038600"/>
            <a:ext cx="742615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72" kern="0">
                <a:solidFill>
                  <a:srgbClr val="B25000"/>
                </a:solidFill>
                <a:latin typeface="Pretendard SemiBold"/>
                <a:cs typeface="Pretendard SemiBold"/>
                <a:ea typeface="Pretendard SemiBold"/>
              </a:rPr>
              <a:t>즉시 위험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81500"/>
            <a:ext cx="30480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황색 산화성 고체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8200" y="4762500"/>
            <a:ext cx="19050" cy="495300"/>
          </a:xfrm>
          <a:prstGeom prst="rect">
            <a:avLst/>
          </a:prstGeom>
          <a:solidFill>
            <a:srgbClr val="B2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71550" y="4762500"/>
            <a:ext cx="291465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황색 산화성 고체 감지 — 취급구역 내 위치 자체가 위반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541020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고체는 가스를 내뿜지 않는다. 그 자리에 있다는 사실만으로 규정 위반이므로 추가 검사 없이 곧바로 위험으로 판정한다.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3810000"/>
            <a:ext cx="3505200" cy="251460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4572000" y="4038600"/>
            <a:ext cx="446532" cy="190500"/>
          </a:xfrm>
          <a:prstGeom prst="roundRect">
            <a:avLst>
              <a:gd name="adj" fmla="val 15000"/>
            </a:avLst>
          </a:prstGeom>
          <a:solidFill>
            <a:srgbClr val="F9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0" y="4038600"/>
            <a:ext cx="446532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72" kern="0">
                <a:solidFill>
                  <a:srgbClr val="D70015"/>
                </a:solidFill>
                <a:latin typeface="Pretendard SemiBold"/>
                <a:cs typeface="Pretendard SemiBold"/>
                <a:ea typeface="Pretendard SemiBold"/>
              </a:rPr>
              <a:t>위험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381500"/>
            <a:ext cx="30480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적색 · 가스 검출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4762500"/>
            <a:ext cx="19050" cy="495300"/>
          </a:xfrm>
          <a:prstGeom prst="rect">
            <a:avLst/>
          </a:prstGeom>
          <a:solidFill>
            <a:srgbClr val="D7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705350" y="4762500"/>
            <a:ext cx="291465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적색 물질 — 가스 감지. 격납 파손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41020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인화성 액체는 새어 나올 때 위험해진다. MQ-2가 가스를 검출하면 격납이 깨진 것으로 보고 위험으로 판정한다.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77200" y="3810000"/>
            <a:ext cx="3505200" cy="251460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8305800" y="4038600"/>
            <a:ext cx="446532" cy="190500"/>
          </a:xfrm>
          <a:prstGeom prst="roundRect">
            <a:avLst>
              <a:gd name="adj" fmla="val 15000"/>
            </a:avLst>
          </a:prstGeom>
          <a:solidFill>
            <a:srgbClr val="E0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05800" y="4038600"/>
            <a:ext cx="446532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72" kern="0">
                <a:solidFill>
                  <a:srgbClr val="248A3D"/>
                </a:solidFill>
                <a:latin typeface="Pretendard SemiBold"/>
                <a:cs typeface="Pretendard SemiBold"/>
                <a:ea typeface="Pretendard SemiBold"/>
              </a:rPr>
              <a:t>통과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5800" y="4381500"/>
            <a:ext cx="30480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적색 · 가스 없음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05800" y="4762500"/>
            <a:ext cx="19050" cy="495300"/>
          </a:xfrm>
          <a:prstGeom prst="rect">
            <a:avLst/>
          </a:prstGeom>
          <a:solidFill>
            <a:srgbClr val="24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439150" y="4762500"/>
            <a:ext cx="291465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적색 물질 — 가스 없음. 격납 유지, 통과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541020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같은 적색이어도 가스가 없으면 격납이 유지된 상태다. 정상으로 판정하고 순찰을 이어간다.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03 · 개발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적색 물질은 3초 정밀검사를 거친다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판정 노드가 검사를 요청하면 ENV 보드가 MQ-2를 3초간 샘플링하고, 5초 워치독이 응답 지연을 막는다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11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10972800" cy="3048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914400" y="1981200"/>
            <a:ext cx="2447925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28700" y="2057400"/>
            <a:ext cx="2219325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적색 판정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카메라가 적색 물체를 확인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90900" y="2362200"/>
            <a:ext cx="1333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552825" y="1981200"/>
            <a:ext cx="2447925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667125" y="2057400"/>
            <a:ext cx="2219325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검사 요청 발행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/hazard/gas_check_request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29325" y="2362200"/>
            <a:ext cx="1333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91250" y="1981200"/>
            <a:ext cx="2447925" cy="762000"/>
          </a:xfrm>
          <a:prstGeom prst="roundRect">
            <a:avLst>
              <a:gd name="adj" fmla="val 7500"/>
            </a:avLst>
          </a:prstGeom>
          <a:solidFill>
            <a:srgbClr val="EBF3FB"/>
          </a:solidFill>
          <a:ln w="14287">
            <a:solidFill>
              <a:srgbClr val="007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05550" y="2057400"/>
            <a:ext cx="2219325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MQ-2 3초 샘플링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GAS_INSPECTION_DURATION_MS = 3000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67750" y="2362200"/>
            <a:ext cx="133350" cy="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829675" y="1981200"/>
            <a:ext cx="2447925" cy="76200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943975" y="2057400"/>
            <a:ext cx="2219325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2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결과 응답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/env/gas_result 로 회신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876550"/>
            <a:ext cx="38100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결과 유형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124200"/>
            <a:ext cx="3302000" cy="1295400"/>
          </a:xfrm>
          <a:prstGeom prst="roundRect">
            <a:avLst>
              <a:gd name="adj" fmla="val 4411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1104900" y="3333750"/>
            <a:ext cx="910316" cy="190500"/>
          </a:xfrm>
          <a:prstGeom prst="roundRect">
            <a:avLst>
              <a:gd name="adj" fmla="val 15000"/>
            </a:avLst>
          </a:prstGeom>
          <a:solidFill>
            <a:srgbClr val="F1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104900" y="3333750"/>
            <a:ext cx="910316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72" kern="0">
                <a:solidFill>
                  <a:srgbClr val="D70015"/>
                </a:solidFill>
                <a:latin typeface="Pretendard SemiBold"/>
                <a:cs typeface="Pretendard SemiBold"/>
                <a:ea typeface="Pretendard SemiBold"/>
              </a:rPr>
              <a:t>DETECTED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900" y="3600450"/>
            <a:ext cx="2921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가스 검출 — 위험</a:t>
            </a:r>
          </a:p>
          <a:p>
            <a:pPr algn="l">
              <a:lnSpc>
                <a:spcPts val="1350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격납이 깨진 것으로 보고 위험으로 판정한다. 초동 조치 대상이 된다.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45000" y="3124200"/>
            <a:ext cx="3302000" cy="1295400"/>
          </a:xfrm>
          <a:prstGeom prst="roundRect">
            <a:avLst>
              <a:gd name="adj" fmla="val 4411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4635500" y="3333750"/>
            <a:ext cx="640385" cy="190500"/>
          </a:xfrm>
          <a:prstGeom prst="roundRect">
            <a:avLst>
              <a:gd name="adj" fmla="val 15000"/>
            </a:avLst>
          </a:prstGeom>
          <a:solidFill>
            <a:srgbClr val="D8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635500" y="3333750"/>
            <a:ext cx="640385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72" kern="0">
                <a:solidFill>
                  <a:srgbClr val="248A3D"/>
                </a:solidFill>
                <a:latin typeface="Pretendard SemiBold"/>
                <a:cs typeface="Pretendard SemiBold"/>
                <a:ea typeface="Pretendard SemiBold"/>
              </a:rPr>
              <a:t>CLEAR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5500" y="3600450"/>
            <a:ext cx="2921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가스 없음 — 통과</a:t>
            </a:r>
          </a:p>
          <a:p>
            <a:pPr algn="l">
              <a:lnSpc>
                <a:spcPts val="1350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격납이 유지된 상태로 보고 정상 판정 후 순찰을 이어간다.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75600" y="3124200"/>
            <a:ext cx="3302000" cy="1295400"/>
          </a:xfrm>
          <a:prstGeom prst="roundRect">
            <a:avLst>
              <a:gd name="adj" fmla="val 4411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8166100" y="3333750"/>
            <a:ext cx="521970" cy="190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66100" y="3333750"/>
            <a:ext cx="52197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6100" y="3600450"/>
            <a:ext cx="2921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센서 오류 · 응답 없음</a:t>
            </a:r>
          </a:p>
          <a:p>
            <a:pPr algn="l">
              <a:lnSpc>
                <a:spcPts val="1350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5초 워치독(GAS_CHECK_TIMEOUT_S = 5.0)이 걸리면 오류로 처리한다. 위험도 정상도 아닌 세 번째 결과다.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600" y="4953000"/>
            <a:ext cx="10972800" cy="1371600"/>
          </a:xfrm>
          <a:prstGeom prst="roundRect">
            <a:avLst>
              <a:gd name="adj" fmla="val 4166"/>
            </a:avLst>
          </a:prstGeom>
          <a:solidFill>
            <a:srgbClr val="FAFAFC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38200" y="5227320"/>
            <a:ext cx="32702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샘플링 시간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5421630"/>
            <a:ext cx="327025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3초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878830"/>
            <a:ext cx="327025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GAS_INSPECTION_DURATION_MS = 3000 — 액체가 새는지 확인하기에 필요한 최소 구간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37050" y="5181600"/>
            <a:ext cx="9525" cy="914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5175" y="5227320"/>
            <a:ext cx="30416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응답 워치독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5175" y="5421630"/>
            <a:ext cx="304165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5초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5175" y="5878830"/>
            <a:ext cx="304165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GAS_CHECK_TIMEOUT_S = 5.0 — 응답이 늦어도 판정 흐름이 멈추지 않는다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45425" y="5181600"/>
            <a:ext cx="9525" cy="914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083550" y="5227320"/>
            <a:ext cx="32702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결과 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83550" y="5421630"/>
            <a:ext cx="327025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3가지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83550" y="5878830"/>
            <a:ext cx="327025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DETECTED · CLEAR · ERROR — 오류도 판정 결과로 명시해 놓친 검사를 남기지 않는다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03 · 개발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사람의 시연 100회를 정책으로 학습했다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리더암으로 직접 보여준 동작을 ACT(Action Chunking Transformer)로 모방학습했다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12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5372100" cy="35052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act_col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790700"/>
            <a:ext cx="4838700" cy="27241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6300" y="4552950"/>
            <a:ext cx="48387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시연 데이터를 쌓는 중 — 리더암은 사람 손에 있다</a:t>
            </a:r>
          </a:p>
          <a:p>
            <a:pPr algn="l">
              <a:lnSpc>
                <a:spcPts val="1237"/>
              </a:lnSpc>
              <a:spcBef>
                <a:spcPts val="300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두 손으로 잡은 흰색 팔이 리더암, 섀시 위 팔이 팔로워암이다. 사람이 움직인 그대로 팔로워가 따라가고, 그때의 관절값이 학습 데이터가 된다. 노트북 화면에 뜬 것은 학습에 쓰는 손목 카메라 뷰다.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300" y="1676400"/>
            <a:ext cx="5372100" cy="35052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15100" y="1905000"/>
            <a:ext cx="49149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수집에서 롤아웃까지 3단계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2209800"/>
            <a:ext cx="4914900" cy="933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01 · 시연 데이터 수집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리더-팔로워 구조라 사람이 보여준 궤적이 그대로 관절값으로 남는다. 적색 50 · 황색 50, 다섯 위치에 각 10회씩 배분해 100 에피소드를 모았다.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15100" y="3143250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15100" y="3152775"/>
            <a:ext cx="4914900" cy="933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02 · ACT 정책 학습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한 스텝씩이 아니라 여러 스텝을 한 덩어리(청크)로 예측하는 ACT 로 학습한다. 중간에 멈추면 실패하는 파지 작업에 적합하다.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15100" y="4086225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15100" y="4095750"/>
            <a:ext cx="4914900" cy="933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03 · 정책 롤아웃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학습된 정책이 카메라 관측을 받아 다음 청크를 내놓고 팔로워가 실행한다. 이 경로로 실물 30회를 측정했다.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600" y="5410200"/>
            <a:ext cx="10972800" cy="914400"/>
          </a:xfrm>
          <a:prstGeom prst="roundRect">
            <a:avLst>
              <a:gd name="adj" fmla="val 6250"/>
            </a:avLst>
          </a:prstGeom>
          <a:solidFill>
            <a:srgbClr val="FAFAFC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8200" y="5600700"/>
            <a:ext cx="23931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시연 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5791200"/>
            <a:ext cx="2393156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b="1" sz="2400" spc="-48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100 에피소드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59956" y="5638800"/>
            <a:ext cx="9525" cy="4572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698081" y="5600700"/>
            <a:ext cx="21645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색상 배분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98081" y="5791200"/>
            <a:ext cx="2164556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b="1" sz="2400" spc="-48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적 50 · 황 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1238" y="5638800"/>
            <a:ext cx="9525" cy="4572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29362" y="5600700"/>
            <a:ext cx="21645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학습량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9362" y="5791200"/>
            <a:ext cx="2164556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b="1" sz="2400" spc="-48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100,000 스텝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22519" y="5638800"/>
            <a:ext cx="9525" cy="4572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960644" y="5600700"/>
            <a:ext cx="23931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학습 시간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0644" y="5791200"/>
            <a:ext cx="2393156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b="1" sz="2400" spc="-48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4시간 47분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03 · 개발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집어서 넣고 뚜껑까지, 한 번에 수행한다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네 단계를 하나의 에피소드로 학습해 중간 개입 없이 이어서 실행한다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13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3505200" cy="46482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8200" y="1905000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단일 에피소드 태스크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162175"/>
            <a:ext cx="3048000" cy="88201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01 · 위험물 파지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정지 지점에 놓인 물체를 집는다. 파지가 실패하면 이후 단계가 모두 무의미해지는 가장 어려운 구간이다.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8200" y="3044190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8200" y="3053715"/>
            <a:ext cx="3048000" cy="7105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02 · 이동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집은 상태를 유지한 채 격리함 위치까지 팔을 옮긴다.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8200" y="3764280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8200" y="3773805"/>
            <a:ext cx="3048000" cy="7105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03 · 격리함 투입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격리함 안으로 물체를 넣고 그리퍼를 연다.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8200" y="4484370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8200" y="4493895"/>
            <a:ext cx="3048000" cy="7105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04 · 뚜껑 닫기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격리함 뚜껑을 덮어 취급구역에서 격리를 완료한다.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200" y="5204460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8200" y="5213985"/>
            <a:ext cx="3048000" cy="88201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05 · 홈 복귀</a:t>
            </a:r>
          </a:p>
          <a:p>
            <a:pPr algn="l">
              <a:lnSpc>
                <a:spcPts val="1350"/>
              </a:lnSpc>
              <a:spcBef>
                <a:spcPts val="225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3초 선형 보간으로 부드럽게 홈 포지션으로 돌아가 다음 지점에 대비한다.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1676400"/>
            <a:ext cx="72390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gri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90700"/>
            <a:ext cx="3448050" cy="19431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457700" y="3790950"/>
            <a:ext cx="344805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01  </a:t>
            </a:r>
            <a:r>
              <a:rPr b="0" sz="82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위험물 파지</a:t>
            </a: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  —  그리퍼가 적색 원통을 문다</a:t>
            </a:r>
          </a:p>
        </p:txBody>
      </p:sp>
      <p:pic>
        <p:nvPicPr>
          <p:cNvPr id="37" name="Picture 36" descr="gri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050" y="1790700"/>
            <a:ext cx="3448050" cy="19431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20050" y="3790950"/>
            <a:ext cx="344805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02  </a:t>
            </a:r>
            <a:r>
              <a:rPr b="0" sz="82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이동</a:t>
            </a: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  —  집은 채로 들어 올려 옮긴다</a:t>
            </a:r>
          </a:p>
        </p:txBody>
      </p:sp>
      <p:pic>
        <p:nvPicPr>
          <p:cNvPr id="39" name="Picture 38" descr="gri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4057650"/>
            <a:ext cx="3448050" cy="19431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457700" y="6057900"/>
            <a:ext cx="344805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03  </a:t>
            </a:r>
            <a:r>
              <a:rPr b="0" sz="82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격리함 투입</a:t>
            </a: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  —  격리함 안으로 내려놓는다</a:t>
            </a:r>
          </a:p>
        </p:txBody>
      </p:sp>
      <p:pic>
        <p:nvPicPr>
          <p:cNvPr id="41" name="Picture 40" descr="gri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050" y="4057650"/>
            <a:ext cx="3448050" cy="19431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020050" y="6057900"/>
            <a:ext cx="344805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96"/>
              </a:lnSpc>
              <a:spcAft>
                <a:spcPts val="0"/>
              </a:spcAft>
            </a:pPr>
            <a:r>
              <a:rPr b="0" sz="825" spc="0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04  </a:t>
            </a:r>
            <a:r>
              <a:rPr b="0" sz="82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뚜껑 닫기</a:t>
            </a: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  —  육각 뚜껑을 덮어 격리 완료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03 · 개발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판정에서 조치까지, 그리고 화면에 남는 기록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판정 노드가 위험을 알리면 오케스트레이터가 조치를 요청하고, 그 과정이 대시보드에 실시간으로 쌓인다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14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53721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1905000"/>
            <a:ext cx="49149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ROS2 통합 파이프라인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2247900"/>
            <a:ext cx="4914900" cy="609600"/>
          </a:xfrm>
          <a:prstGeom prst="roundRect">
            <a:avLst>
              <a:gd name="adj" fmla="val 9375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47750" y="232410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hazard_detector_node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색상과 가스 결과를 합쳐 최종 위험 판정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71850" y="2857500"/>
            <a:ext cx="0" cy="22860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48050" y="2895600"/>
            <a:ext cx="20955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/hazard/detected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238500"/>
            <a:ext cx="4914900" cy="609600"/>
          </a:xfrm>
          <a:prstGeom prst="roundRect">
            <a:avLst>
              <a:gd name="adj" fmla="val 9375"/>
            </a:avLst>
          </a:prstGeom>
          <a:solidFill>
            <a:srgbClr val="EBF3FB"/>
          </a:solidFill>
          <a:ln w="14287">
            <a:solidFill>
              <a:srgbClr val="007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47750" y="331470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mission_orchestrator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조치 필요 여부 판단 · 전체 상태 관리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71850" y="3848100"/>
            <a:ext cx="0" cy="22860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48050" y="3886200"/>
            <a:ext cx="20955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/arm/grip_request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229100"/>
            <a:ext cx="4914900" cy="609600"/>
          </a:xfrm>
          <a:prstGeom prst="roundRect">
            <a:avLst>
              <a:gd name="adj" fmla="val 9375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47750" y="430530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arm_act_node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lerobot-rollout 으로 ACT 정책 실행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71850" y="4838700"/>
            <a:ext cx="0" cy="228600"/>
          </a:xfrm>
          <a:prstGeom prst="line">
            <a:avLst/>
          </a:prstGeom>
          <a:ln w="14287" cap="rnd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448050" y="4876800"/>
            <a:ext cx="20955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/arm/act_result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5219700"/>
            <a:ext cx="4914900" cy="609600"/>
          </a:xfrm>
          <a:prstGeom prst="roundRect">
            <a:avLst>
              <a:gd name="adj" fmla="val 9375"/>
            </a:avLst>
          </a:prstGeom>
          <a:solidFill>
            <a:srgbClr val="F5F5F7"/>
          </a:solidFill>
          <a:ln w="14287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47750" y="529590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결과 회신</a:t>
            </a:r>
          </a:p>
          <a:p>
            <a:pPr algn="l">
              <a:lnSpc>
                <a:spcPts val="1259"/>
              </a:lnSpc>
              <a:spcBef>
                <a:spcPts val="3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성공 · 실패를 오케스트레이터로 되돌린다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0300" y="1676400"/>
            <a:ext cx="53721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dash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1790700"/>
            <a:ext cx="4914900" cy="372427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38900" y="5591175"/>
            <a:ext cx="4914900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RPi 가 호스팅하는 실시간 대시보드 — hazardbot.local:8080</a:t>
            </a:r>
          </a:p>
          <a:p>
            <a:pPr algn="l">
              <a:lnSpc>
                <a:spcPts val="1237"/>
              </a:lnSpc>
              <a:spcBef>
                <a:spcPts val="300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EVENT LOG 한 화면에 세 판정이 다 남아 있다 — 황색 위반, 적색·가스 없음(통과), 적색·가스 감지(격납 파손). HAZARD LEVEL 은 종합 판정이 아니라 가스 지표라 황색 판정 때도 L0 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03 · 개발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파지 30회, 판정 3케이스를 실물로 확인했다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ACT 파지는 성공률로, 규칙 기반 판정 로직은 케이스별 실물 시연으로 각각 검증했다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15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5372100" cy="3048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1981200"/>
            <a:ext cx="47625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정지 위치별 ACT 파지 성공률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381250"/>
            <a:ext cx="180975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근거리 (center · rear)</a:t>
            </a:r>
          </a:p>
          <a:p>
            <a:pPr algn="l">
              <a:lnSpc>
                <a:spcPts val="1196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18회 중 18회 성공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19400" y="2438400"/>
            <a:ext cx="2286000" cy="20955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19400" y="2438400"/>
            <a:ext cx="2286000" cy="2095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181600" y="2381250"/>
            <a:ext cx="49530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852"/>
              </a:lnSpc>
              <a:spcAft>
                <a:spcPts val="0"/>
              </a:spcAft>
            </a:pPr>
            <a:r>
              <a:rPr b="1" sz="1425" spc="-29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086100"/>
            <a:ext cx="180975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원거리 (front)</a:t>
            </a:r>
          </a:p>
          <a:p>
            <a:pPr algn="l">
              <a:lnSpc>
                <a:spcPts val="1196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12회 중 8회 성공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19400" y="3143250"/>
            <a:ext cx="2286000" cy="20955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819400" y="3143250"/>
            <a:ext cx="1524000" cy="20955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181600" y="3086100"/>
            <a:ext cx="49530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852"/>
              </a:lnSpc>
              <a:spcAft>
                <a:spcPts val="0"/>
              </a:spcAft>
            </a:pPr>
            <a:r>
              <a:rPr b="1" sz="1425" spc="-29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66.7%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810000"/>
            <a:ext cx="47625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4400" y="3943350"/>
            <a:ext cx="285750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전체 30회 평균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0" y="3924300"/>
            <a:ext cx="18669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950"/>
              </a:lnSpc>
              <a:spcAft>
                <a:spcPts val="0"/>
              </a:spcAft>
            </a:pPr>
            <a:r>
              <a:rPr b="1" sz="1950" spc="-39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86.7%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305300"/>
            <a:ext cx="47625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rollout_plan.csv — 3세트 × 10회, 위치와 색상을 섞어 측정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0300" y="1676400"/>
            <a:ext cx="5372100" cy="3048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8900" y="1981200"/>
            <a:ext cx="49149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판정 로직 실물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286000"/>
            <a:ext cx="19431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케이스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2500" y="2286000"/>
            <a:ext cx="7620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시연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6900" y="2286000"/>
            <a:ext cx="18669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결과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38900" y="2514600"/>
            <a:ext cx="49149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457950" y="2724150"/>
            <a:ext cx="95250" cy="95250"/>
          </a:xfrm>
          <a:prstGeom prst="ellipse">
            <a:avLst/>
          </a:prstGeom>
          <a:solidFill>
            <a:srgbClr val="B2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629400" y="2524125"/>
            <a:ext cx="19431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황색 — 산화성 고체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72500" y="2524125"/>
            <a:ext cx="7620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3회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6900" y="2524125"/>
            <a:ext cx="18669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즉시 위험 판정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38900" y="3019425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6457950" y="3219450"/>
            <a:ext cx="95250" cy="95250"/>
          </a:xfrm>
          <a:prstGeom prst="ellipse">
            <a:avLst/>
          </a:prstGeom>
          <a:solidFill>
            <a:srgbClr val="D7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629400" y="3019425"/>
            <a:ext cx="19431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적색 — 가스 검출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2500" y="3019425"/>
            <a:ext cx="7620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3회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86900" y="3019425"/>
            <a:ext cx="18669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위험 판정 · 격납 파손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38900" y="3514725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6457950" y="3714750"/>
            <a:ext cx="95250" cy="95250"/>
          </a:xfrm>
          <a:prstGeom prst="ellipse">
            <a:avLst/>
          </a:prstGeom>
          <a:solidFill>
            <a:srgbClr val="24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629400" y="3514725"/>
            <a:ext cx="19431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적색 — 가스 없음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2500" y="3514725"/>
            <a:ext cx="7620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1회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86900" y="3514725"/>
            <a:ext cx="18669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통과 · 격납 유지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8900" y="4152900"/>
            <a:ext cx="4914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규칙 기반 로직이라 확률적 정확도가 아니라, 케이스별로 실물에서 규칙대로 동작하는지를 확인했다.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9600" y="4953000"/>
            <a:ext cx="10972800" cy="1371600"/>
          </a:xfrm>
          <a:prstGeom prst="roundRect">
            <a:avLst>
              <a:gd name="adj" fmla="val 4166"/>
            </a:avLst>
          </a:prstGeom>
          <a:solidFill>
            <a:srgbClr val="FAFAFC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38200" y="5227320"/>
            <a:ext cx="23931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ACT 파지 평균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200" y="5421630"/>
            <a:ext cx="239315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86.7%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8200" y="5878830"/>
            <a:ext cx="239315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실물 30회 · 3세트 × 10회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59956" y="5181600"/>
            <a:ext cx="9525" cy="914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698081" y="5227320"/>
            <a:ext cx="21645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근거리 위치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98081" y="5421630"/>
            <a:ext cx="216455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98081" y="5878830"/>
            <a:ext cx="216455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center · rear 18회 전부 성공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1238" y="5181600"/>
            <a:ext cx="9525" cy="914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329362" y="5227320"/>
            <a:ext cx="21645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원거리 위치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9362" y="5421630"/>
            <a:ext cx="216455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66.7%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29362" y="5878830"/>
            <a:ext cx="216455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front 12회 중 8회 성공 — 개선 여지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22519" y="5181600"/>
            <a:ext cx="9525" cy="914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960644" y="5227320"/>
            <a:ext cx="23931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판정 로직 확인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0644" y="5421630"/>
            <a:ext cx="239315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b="1" sz="3300" spc="-66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7회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0644" y="5878830"/>
            <a:ext cx="239315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3케이스 전부 규칙대로 동작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04 · 장애요인과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막힌 지점마다 원인을 규명하고 우회했다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실물에서 만난 네 건을 증상 · 원인 · 해결로 정리했다 — 세 건은 원인까지 규명해 재발을 막았다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16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10972800" cy="3200400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1905000"/>
            <a:ext cx="2286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증상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1905000"/>
            <a:ext cx="30099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0" y="1905000"/>
            <a:ext cx="46101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해결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171700"/>
            <a:ext cx="1036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2247900"/>
            <a:ext cx="22860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리더암 서보 6개 동시 소손</a:t>
            </a:r>
          </a:p>
          <a:p>
            <a:pPr algn="l">
              <a:lnSpc>
                <a:spcPts val="1155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2026-06-16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247900"/>
            <a:ext cx="30099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7.4V 정격 서보에 12V 오인가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500" y="2247900"/>
            <a:ext cx="46101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XL4015 두 대의 용도를 고정해(리더 7.4V / ESP32 5.0V) 레일을 물리적으로 분리하고, 되돌릴 수 없는 항목만 모은 통전 전 확인 5항목을 만들었다. 이후 동일 사고 0건.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2900362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4400" y="2905125"/>
            <a:ext cx="22860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ESP_Drive 보드 발열 사망</a:t>
            </a:r>
          </a:p>
          <a:p>
            <a:pPr algn="l">
              <a:lnSpc>
                <a:spcPts val="1155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2026-08-25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905125"/>
            <a:ext cx="30099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핀소켓 GND가 모터 진동으로 이탈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0" y="2905125"/>
            <a:ext cx="46101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전원선을 VCC/GND 직납땜으로 바꿨다. 이어서 전원 모듈(DFR0753)이 쇼트로 소손되자 XL4016 단독 레일로 계통을 우회 재구성했다.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3557588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3562350"/>
            <a:ext cx="22860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표준 도구로 캘리브레이션 불가</a:t>
            </a:r>
          </a:p>
          <a:p>
            <a:pPr algn="l">
              <a:lnSpc>
                <a:spcPts val="1155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2026-06~07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562350"/>
            <a:ext cx="30099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shoulder_lift 엔코더 래핑 · wrist_roll 연속 회전축 영점 불일치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7500" y="3562350"/>
            <a:ext cx="46101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표준 lerobot-calibrate 로는 잡히지 않아 축마다 전용 도구를 직접 만들었다. 정본 4종(leader_arm · follower_arm · wrist_zero · follower_home)을 확정하고 백업·복원 체계를 붙였다.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214812"/>
            <a:ext cx="103632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4400" y="4219575"/>
            <a:ext cx="22860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RPi 온보드 추론 중 정지</a:t>
            </a:r>
          </a:p>
          <a:p>
            <a:pPr algn="l">
              <a:lnSpc>
                <a:spcPts val="1155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2026-08-04 사전점검 → 08-29 실물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219575"/>
            <a:ext cx="30099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수집 전 더미 가중치로 쟀을 때는 224×224 평균 0.509초로 합격이었다. 실물도 평균은 23ms 였지만, 청크를 다시 계산하는 틱만 1023ms 로 튀어 20초에 4번 멈췄다.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7500" y="4219575"/>
            <a:ext cx="4610100" cy="657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노트북 GPU 오프로드(gRPC)로 전환해 연결·제어까지 성공했으나 파지가 재현되지 않았다. 원인 미규명 상태로 조사를 종결하고, 노트북 단독 경로(rollout_act.ps1 · COM3 직결)로 제어 경로를 확정했다 — 15p 86.7%의 근거다.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600" y="5105400"/>
            <a:ext cx="10972800" cy="1219200"/>
          </a:xfrm>
          <a:prstGeom prst="roundRect">
            <a:avLst>
              <a:gd name="adj" fmla="val 4687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" y="5162550"/>
            <a:ext cx="28575" cy="11049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6775" y="5334000"/>
            <a:ext cx="10487025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남은 한계</a:t>
            </a:r>
          </a:p>
          <a:p>
            <a:pPr algn="l">
              <a:lnSpc>
                <a:spcPts val="1395"/>
              </a:lnSpc>
              <a:spcBef>
                <a:spcPts val="450"/>
              </a:spcBef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판정 → 초동 조치 자동 트리거는 코드 구현 후 실물 최종 검증이 남아 있다 · DRIVE 주행은 RPi/ESP 통합 이후 간헐적 오작동으로 이번 시연 범위에서 제외했다(안전 우선순위 판단 로직 자체는 구현되어 있다) · 원거리 위치 파지 성공률 66.7% 는 개선 여지가 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05 · 결과와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발견에서 멈추지 않고 조치까지 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기존 순찰·보안 로봇과의 차이는 조치 여부, 판정 근거, 그리고 조작 방식 세 곳에서 갈린다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17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53721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1905000"/>
            <a:ext cx="49149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① 기존 산업용 순찰·보안 로봇과의 기능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247900"/>
            <a:ext cx="20955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기능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8500" y="2247900"/>
            <a:ext cx="1143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기존 로봇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3900" y="2247900"/>
            <a:ext cx="12954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514600"/>
            <a:ext cx="49149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28700" y="2590800"/>
            <a:ext cx="19812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순찰 · 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38500" y="2590800"/>
            <a:ext cx="1143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657"/>
              </a:lnSpc>
              <a:spcAft>
                <a:spcPts val="0"/>
              </a:spcAft>
            </a:pPr>
            <a:r>
              <a:rPr b="0" sz="127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3900" y="2590800"/>
            <a:ext cx="12954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657"/>
              </a:lnSpc>
              <a:spcAft>
                <a:spcPts val="0"/>
              </a:spcAft>
            </a:pPr>
            <a:r>
              <a:rPr b="0" sz="127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119438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28700" y="3124200"/>
            <a:ext cx="19812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이상 감지 · 기록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8500" y="3124200"/>
            <a:ext cx="1143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657"/>
              </a:lnSpc>
              <a:spcAft>
                <a:spcPts val="0"/>
              </a:spcAft>
            </a:pPr>
            <a:r>
              <a:rPr b="0" sz="127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3900" y="3124200"/>
            <a:ext cx="12954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657"/>
              </a:lnSpc>
              <a:spcAft>
                <a:spcPts val="0"/>
              </a:spcAft>
            </a:pPr>
            <a:r>
              <a:rPr b="0" sz="127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652838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28700" y="3657600"/>
            <a:ext cx="19812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관제 보고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38500" y="3657600"/>
            <a:ext cx="1143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657"/>
              </a:lnSpc>
              <a:spcAft>
                <a:spcPts val="0"/>
              </a:spcAft>
            </a:pPr>
            <a:r>
              <a:rPr b="0" sz="127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3900" y="3657600"/>
            <a:ext cx="12954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657"/>
              </a:lnSpc>
              <a:spcAft>
                <a:spcPts val="0"/>
              </a:spcAft>
            </a:pPr>
            <a:r>
              <a:rPr b="0" sz="127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186238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14400" y="4191000"/>
            <a:ext cx="4914900" cy="533400"/>
          </a:xfrm>
          <a:prstGeom prst="roundRect">
            <a:avLst>
              <a:gd name="adj" fmla="val 5357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28700" y="4191000"/>
            <a:ext cx="19812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물리적 초동 조치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38500" y="4191000"/>
            <a:ext cx="11430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657"/>
              </a:lnSpc>
              <a:spcAft>
                <a:spcPts val="0"/>
              </a:spcAft>
            </a:pPr>
            <a:r>
              <a:rPr b="0" sz="1275" spc="0" kern="0">
                <a:solidFill>
                  <a:srgbClr val="D70015"/>
                </a:solidFill>
                <a:latin typeface="Pretendard"/>
                <a:cs typeface="Pretendard"/>
                <a:ea typeface="Pretendard"/>
              </a:rPr>
              <a:t>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3900" y="4191000"/>
            <a:ext cx="12954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657"/>
              </a:lnSpc>
              <a:spcAft>
                <a:spcPts val="0"/>
              </a:spcAft>
            </a:pPr>
            <a:r>
              <a:rPr b="0" sz="1275" spc="0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4838700"/>
            <a:ext cx="49149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14400" y="4991100"/>
            <a:ext cx="491490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기존 로봇은 발견하고 알리는 데서 끝난다</a:t>
            </a:r>
          </a:p>
          <a:p>
            <a:pPr algn="l">
              <a:lnSpc>
                <a:spcPts val="1395"/>
              </a:lnSpc>
              <a:spcBef>
                <a:spcPts val="600"/>
              </a:spcBef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결국 사람이 위험물에 다가가야 한다는 문제는 그대로 남는다. HazardBot 은 판정과 조치가 한 로봇 안에서 닫히므로, 사람이 현장에 들어가기 전에 격리라는 초동 조치가 이미 끝나 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0300" y="1676400"/>
            <a:ext cx="5372100" cy="22098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38900" y="1905000"/>
            <a:ext cx="49149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② 판정 근거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38900" y="2162175"/>
            <a:ext cx="49149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색이 아니라 물성으로 나눈다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8900" y="2562225"/>
            <a:ext cx="4914900" cy="542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고체 — 황색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가스를 내뿜지 않으므로 존재 자체가 위반이다. 즉시 판정한다.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38900" y="3105150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38900" y="3114675"/>
            <a:ext cx="4914900" cy="542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액체 — 적색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새어 나올 때만 위험해지므로 MQ-2 3초 검사로 2차 게이팅한다.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0300" y="4114800"/>
            <a:ext cx="5372100" cy="22098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38900" y="4343400"/>
            <a:ext cx="49149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③ 조치 방식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38900" y="4600575"/>
            <a:ext cx="49149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고정 궤적이 아니라 학습된 정책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8900" y="5000625"/>
            <a:ext cx="4914900" cy="464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모방학습 정책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좌표를 고정한 시퀀스가 아니라 사람 시연 100회를 학습한 ACT 정책이라, 물체 위치가 달라져도 대응한다.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38900" y="5464969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38900" y="5474494"/>
            <a:ext cx="4914900" cy="6215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설계 근거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판정 기준을 임의로 정하지 않고 위험물안전관리법 유별 혼재 제한과 KS C IEC 60079-10-1 에서 가져왔다.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05 · 결과와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임베디드 자원 제약을 구조로 풀었다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센서를 주기별로 나누고, 정지 권한을 한 곳에 모으고, 없는 자원은 다른 방법으로 대체했다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18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3505200" cy="46482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8200" y="1905000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① 구조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162175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역할이 분리된 3계층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562225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센서를 「누가 이 데이터로 행동하는가」를 기준으로 세 계층으로 재편했다.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124200"/>
            <a:ext cx="14287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계층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6950" y="3124200"/>
            <a:ext cx="6667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주기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6100" y="3124200"/>
            <a:ext cx="8001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89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담당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8200" y="335280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8200" y="3429000"/>
            <a:ext cx="142875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실시간 반사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라인센서 · 모터 제어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6950" y="3429000"/>
            <a:ext cx="66675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67"/>
              </a:lnSpc>
              <a:spcAft>
                <a:spcPts val="0"/>
              </a:spcAft>
            </a:pPr>
            <a:r>
              <a:rPr b="0" sz="975" spc="0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20ms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6100" y="3429000"/>
            <a:ext cx="80010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ESP_Drive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200" y="4090988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8200" y="4095750"/>
            <a:ext cx="142875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환경 감시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MQ-2 가스 · 화염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6950" y="4095750"/>
            <a:ext cx="66675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67"/>
              </a:lnSpc>
              <a:spcAft>
                <a:spcPts val="0"/>
              </a:spcAft>
            </a:pPr>
            <a:r>
              <a:rPr b="0" sz="975" spc="0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100ms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86100" y="4095750"/>
            <a:ext cx="80010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ESP_Env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200" y="4757738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8200" y="4762500"/>
            <a:ext cx="142875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13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인지 · 학습</a:t>
            </a:r>
          </a:p>
          <a:p>
            <a:pPr algn="l">
              <a:lnSpc>
                <a:spcPts val="1155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카메라 · 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66950" y="4762500"/>
            <a:ext cx="66675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67"/>
              </a:lnSpc>
              <a:spcAft>
                <a:spcPts val="0"/>
              </a:spcAft>
            </a:pPr>
            <a:r>
              <a:rPr b="0" sz="975" spc="0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30fps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86100" y="4762500"/>
            <a:ext cx="80010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RPi · 노트북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200" y="550545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38200" y="5600700"/>
            <a:ext cx="30480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어떤 센서를 어느 보드에 붙일지가 논쟁이 아니라 규칙이 됐다. ToF 는 이 주기와 별개로 측정이 준비될 때만 읽고, 300mm 가 3회 연속이면 DRIVE 가 그 자리에서 모터를 끊는다.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1676400"/>
            <a:ext cx="3505200" cy="46482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572000" y="1905000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② 안전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2162175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정지 권한을 한 곳에 모았다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2562225"/>
            <a:ext cx="3048000" cy="11191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모터를 멈추는 것은 DRIVE 뿐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하드웨어 풀다운 · DRIVE 로컬 · RPi · 사람의 4계층으로 나누되, 실제로 모터를 끊는 권한은 DRIVE 한 곳에만 둔다.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681412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572000" y="3690938"/>
            <a:ext cx="3048000" cy="1276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하트비트 — 명령이 아니라 생존 신호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STOP 을 보내는 방식이 아니라 생존 신호가 끊기면 멈추는 방식이라, RPi 사망 · WiFi 두절 · ENV 사망을 하나의 메커니즘으로 처리한다.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967288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572000" y="4976812"/>
            <a:ext cx="3048000" cy="11191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STBY 10kΩ 풀다운 페일세이프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ESP32 가 죽거나 리셋되면 제어핀이 하이임피던스가 되어 모터가 자동 정지한다. 설계 결정을 하드웨어로 뒷받침했다.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77200" y="1676400"/>
            <a:ext cx="3505200" cy="464820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305800" y="1905000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③ 자원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5800" y="2162175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없는 자원은 다르게 대체했다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2562225"/>
            <a:ext cx="3048000" cy="11191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전압 피드포워드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엔코더 속도루프 없이 실제듀티 = 목표듀티 × (12.0 / 측정전압) 으로 배터리 전압 강하를 보상한다.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05800" y="3681412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305800" y="3690938"/>
            <a:ext cx="3048000" cy="11191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VL53L1X 논블로킹 읽기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블로킹으로 읽으면 라인 PID 주기가 붕괴함을 규명하고 구조를 바꿨다.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05800" y="4810125"/>
            <a:ext cx="30480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305800" y="4819650"/>
            <a:ext cx="3048000" cy="1276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라인 추종 PD 루프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적분항 없이 KP=60 · KD=25 · 20ms(50Hz)로 구성했다. 센서 배선 없이 도는 가상 라인 모드로 조향 방향 · 비례 · 이탈 선회를 검증했고, 실측 게인 튜닝은 섀시 트랙 몫으로 남겼다.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05 · 결과와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사람이 위험물에 다가가는 횟수를 줄인다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지금 쓸 수 있는 곳과 기대효과, 그리고 실제 현장에 놓기 위해 넓혀야 할 네 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19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53721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8200" y="1905000"/>
            <a:ext cx="49149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활용성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162175"/>
            <a:ext cx="49149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어디에 놓을 수 있나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562225"/>
            <a:ext cx="49149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활용처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8200" y="2762250"/>
            <a:ext cx="739140" cy="209550"/>
          </a:xfrm>
          <a:prstGeom prst="roundRect">
            <a:avLst>
              <a:gd name="adj" fmla="val 1363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8200" y="2762250"/>
            <a:ext cx="73914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반도체 FAB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53540" y="2762250"/>
            <a:ext cx="1068324" cy="209550"/>
          </a:xfrm>
          <a:prstGeom prst="roundRect">
            <a:avLst>
              <a:gd name="adj" fmla="val 1363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653540" y="2762250"/>
            <a:ext cx="1068324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정유 · 화학 플랜트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98064" y="2762250"/>
            <a:ext cx="1077468" cy="209550"/>
          </a:xfrm>
          <a:prstGeom prst="roundRect">
            <a:avLst>
              <a:gd name="adj" fmla="val 1363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798064" y="2762250"/>
            <a:ext cx="1077468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화학물질 보관창고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8200" y="3067050"/>
            <a:ext cx="1479804" cy="209550"/>
          </a:xfrm>
          <a:prstGeom prst="roundRect">
            <a:avLst>
              <a:gd name="adj" fmla="val 1363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8200" y="3067050"/>
            <a:ext cx="1479804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물류창고 야간 무인 시간대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94204" y="3067050"/>
            <a:ext cx="1699260" cy="209550"/>
          </a:xfrm>
          <a:prstGeom prst="roundRect">
            <a:avLst>
              <a:gd name="adj" fmla="val 1363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394204" y="3067050"/>
            <a:ext cx="169926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0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소방 · 안전관리 초동 대응 보조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8200" y="3505200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8200" y="3657600"/>
            <a:ext cx="4914900" cy="7540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감시의 공백을 메운다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야간 · 연휴 · 교대 사이처럼 사람의 집중이 끊기는 시간대를 로봇이 같은 기준으로 이어서 지킨다.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8200" y="4411662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8200" y="4421188"/>
            <a:ext cx="4914900" cy="9112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사람이 도착하기 전에 격리가 끝나 있다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이상을 발견하고 사람이 현장에 투입되기까지의 시간 동안, 초동 조치인 격리가 이미 완료된 상태를 만든다.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8200" y="5332412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8200" y="5341937"/>
            <a:ext cx="4914900" cy="7540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판정 근거가 기록으로 남는다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색상값 · 가스값 · 시각이 EVENT LOG 에 쌓여 사후 확인과 원인 추적이 가능하다.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0300" y="1676400"/>
            <a:ext cx="53721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38900" y="1905000"/>
            <a:ext cx="49149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발전 가능성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8900" y="2162175"/>
            <a:ext cx="49149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3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현장에 놓기 위해 넓힐 네 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8900" y="2562225"/>
            <a:ext cx="49149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위험물 분류 확장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지금은 색상 2분류뿐이다. 용기 라벨의 UN 번호와 QR/바코드를 읽어 MSDS(물질안전보건자료)와 연동하면 부식성 · 독성 · 압축가스까지 넓힐 수 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38900" y="3438525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38900" y="3448050"/>
            <a:ext cx="49149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초동 조치 범위 확장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격리함 투입 외에 밸브 잠금, 국소 배기 가동, 흡착제 · 중화제 살포, 스필 컨테인먼트 전개 같은 대응 동작으로 넓힌다.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38900" y="4324350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438900" y="4333875"/>
            <a:ext cx="49149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온보드 자립 추론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지금은 ACT 정책이 노트북 GPU 에서 돌고 USB 로 팔을 제어한다. 현장에서는 로봇이 스스로 판단해야 하므로, 온보드 추론의 정지 원인을 규명하거나 엣지 NPU 가속기를 얹어 노트북 없이 도는 구조로 만든다.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38900" y="5210175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38900" y="5219700"/>
            <a:ext cx="49149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  <a:spcAft>
                <a:spcPts val="0"/>
              </a:spcAft>
            </a:pPr>
            <a:r>
              <a:rPr b="0" sz="975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전 구역 주행 · 다중 로봇</a:t>
            </a:r>
          </a:p>
          <a:p>
            <a:pPr algn="l">
              <a:lnSpc>
                <a:spcPts val="1237"/>
              </a:lnSpc>
              <a:spcBef>
                <a:spcPts val="22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SLAM 기반 전 구역 주행으로 넓히고, 한 대로 감당할 수 없는 규모에는 구역 분담과 작업 핸드오프가 가능한 다중 로봇 구조로 확장한다.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476250"/>
            <a:ext cx="57150" cy="571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10858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5"/>
              </a:lnSpc>
              <a:spcAft>
                <a:spcPts val="0"/>
              </a:spcAft>
            </a:pPr>
            <a:r>
              <a:rPr b="0" sz="975" spc="117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05 · 결과와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09728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3104"/>
              </a:lnSpc>
              <a:spcAft>
                <a:spcPts val="0"/>
              </a:spcAft>
            </a:pPr>
            <a:r>
              <a:rPr b="0" sz="2700" spc="-54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13주 공정과 세 명의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52525"/>
            <a:ext cx="109728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</a:pPr>
            <a:r>
              <a:rPr b="0" sz="1275" spc="-13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2026-06-01부터 08-31까지 13주로 만들고, 9/1~9/3 사흘로 제출물을 냈다 — 순서는 기술적 선후관계로 정했다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504950"/>
            <a:ext cx="10972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55892" y="6505766"/>
            <a:ext cx="68580" cy="56578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4286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 flipV="1">
            <a:off x="690181" y="6490335"/>
            <a:ext cx="0" cy="15431"/>
          </a:xfrm>
          <a:prstGeom prst="line">
            <a:avLst/>
          </a:prstGeom>
          <a:ln w="6000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4352" y="6481077"/>
            <a:ext cx="11659" cy="1165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721042" y="6502336"/>
            <a:ext cx="27432" cy="17146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2474" y="6496336"/>
            <a:ext cx="12002" cy="1200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748474" y="6502336"/>
            <a:ext cx="12002" cy="24003"/>
          </a:xfrm>
          <a:prstGeom prst="line">
            <a:avLst/>
          </a:prstGeom>
          <a:ln w="9429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3275" y="6519139"/>
            <a:ext cx="14402" cy="1440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 flipV="1">
            <a:off x="760476" y="6516052"/>
            <a:ext cx="12002" cy="10287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" y="6526339"/>
            <a:ext cx="10287" cy="12002"/>
          </a:xfrm>
          <a:prstGeom prst="line">
            <a:avLst/>
          </a:prstGeom>
          <a:ln w="6858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3607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94468" y="6554629"/>
            <a:ext cx="22288" cy="222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9894" y="6517767"/>
            <a:ext cx="30861" cy="30861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96697" y="6525997"/>
            <a:ext cx="7544" cy="75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7250" y="6438900"/>
            <a:ext cx="4762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HazardBot 개발완료보고서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900" y="6438900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82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20 /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676400"/>
            <a:ext cx="53721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1905000"/>
            <a:ext cx="49149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개발 일정 — 2026-06-01 ~ 09-03 · 13주 + 제출 3일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314575"/>
            <a:ext cx="28575" cy="419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66800" y="2209800"/>
            <a:ext cx="80010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57"/>
              </a:lnSpc>
              <a:spcAft>
                <a:spcPts val="0"/>
              </a:spcAft>
            </a:pPr>
            <a:r>
              <a:rPr b="1" sz="1275" spc="-26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6월</a:t>
            </a:r>
          </a:p>
          <a:p>
            <a:pPr algn="l">
              <a:lnSpc>
                <a:spcPts val="1072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W1–W5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3100" y="2209800"/>
            <a:ext cx="38862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37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계획 정본 · 저장소 · CI → 로봇팔 환경과 툴체인 → 전력 계통 설계·확정 → 3D 모델링 · 출력 → 캘리브레이션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833688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14400" y="2943225"/>
            <a:ext cx="28575" cy="419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66800" y="2838450"/>
            <a:ext cx="80010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57"/>
              </a:lnSpc>
              <a:spcAft>
                <a:spcPts val="0"/>
              </a:spcAft>
            </a:pPr>
            <a:r>
              <a:rPr b="1" sz="1275" spc="-26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7월</a:t>
            </a:r>
          </a:p>
          <a:p>
            <a:pPr algn="l">
              <a:lnSpc>
                <a:spcPts val="1072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W6–W9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43100" y="2838450"/>
            <a:ext cx="38862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37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캘리브레이션 정본 확정 → 텔레옵 마일스톤 → DRIVE 보드와 주행 펌웨어 → 안전 체계 · 센서 체계 설계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462338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14400" y="3571875"/>
            <a:ext cx="28575" cy="419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66800" y="3467100"/>
            <a:ext cx="80010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57"/>
              </a:lnSpc>
              <a:spcAft>
                <a:spcPts val="0"/>
              </a:spcAft>
            </a:pPr>
            <a:r>
              <a:rPr b="1" sz="1275" spc="-26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8월</a:t>
            </a:r>
          </a:p>
          <a:p>
            <a:pPr algn="l">
              <a:lnSpc>
                <a:spcPts val="1072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W10–W13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3100" y="3467100"/>
            <a:ext cx="38862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37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시나리오 · 시연 설계 정본 → 세트 제작과 실측 → 수집 게이트 · 준비 → ACT 수집 · 학습 · 검증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090988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14400" y="4200525"/>
            <a:ext cx="28575" cy="419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66800" y="4095750"/>
            <a:ext cx="80010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57"/>
              </a:lnSpc>
              <a:spcAft>
                <a:spcPts val="0"/>
              </a:spcAft>
            </a:pPr>
            <a:r>
              <a:rPr b="1" sz="1275" spc="-26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9월</a:t>
            </a:r>
          </a:p>
          <a:p>
            <a:pPr algn="l">
              <a:lnSpc>
                <a:spcPts val="1072"/>
              </a:lnSpc>
              <a:spcBef>
                <a:spcPts val="150"/>
              </a:spcBef>
              <a:spcAft>
                <a:spcPts val="0"/>
              </a:spcAft>
            </a:pPr>
            <a:r>
              <a:rPr b="0" sz="825" spc="0" kern="0">
                <a:solidFill>
                  <a:srgbClr val="7A7A7A"/>
                </a:solidFill>
                <a:latin typeface="Pretendard"/>
                <a:cs typeface="Pretendard"/>
                <a:ea typeface="Pretendard"/>
              </a:rPr>
              <a:t>W14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3100" y="4095750"/>
            <a:ext cx="38862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37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대회 양식 반영 → 필수항목 7개로 보고서 재구성 → 저장소 정본화 · 자격증명 정리 → 영상 자료 · 파일 구성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762500"/>
            <a:ext cx="49149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14400" y="4867275"/>
            <a:ext cx="4914900" cy="1657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b="0" sz="825" spc="5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마일스톤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076825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07/11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62100" y="5076825"/>
            <a:ext cx="42672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캘리브레이션 정본 4종 확정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314950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07/16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62100" y="5314950"/>
            <a:ext cx="42672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★ 텔레옵 마일스톤 — 60초 오류 0건 · 평균 55.5Hz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553075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08/14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62100" y="5553075"/>
            <a:ext cx="42672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시연 공간 확보 · 세트 제작 완료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791200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08/26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62100" y="5791200"/>
            <a:ext cx="42672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★ ACT 학습 완료 — 100,000 스텝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6029325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09/03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2100" y="6029325"/>
            <a:ext cx="42672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</a:pPr>
            <a:r>
              <a:rPr b="0" sz="90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저장소 정본화 — 추적 파일 259개 · ENV 펌웨어 반입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0300" y="1676400"/>
            <a:ext cx="5372100" cy="4648200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15100" y="1905000"/>
            <a:ext cx="4914900" cy="17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9"/>
              </a:lnSpc>
              <a:spcAft>
                <a:spcPts val="0"/>
              </a:spcAft>
            </a:pPr>
            <a:r>
              <a:rPr b="0" sz="900" spc="72" kern="0">
                <a:solidFill>
                  <a:srgbClr val="333333"/>
                </a:solidFill>
                <a:latin typeface="Pretendard SemiBold"/>
                <a:cs typeface="Pretendard SemiBold"/>
                <a:ea typeface="Pretendard SemiBold"/>
              </a:rPr>
              <a:t>업무 분장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15100" y="2343150"/>
            <a:ext cx="342900" cy="190500"/>
          </a:xfrm>
          <a:prstGeom prst="roundRect">
            <a:avLst>
              <a:gd name="adj" fmla="val 15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15100" y="2343150"/>
            <a:ext cx="3429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825"/>
              </a:lnSpc>
              <a:spcAft>
                <a:spcPts val="0"/>
              </a:spcAft>
            </a:pPr>
            <a:r>
              <a:rPr b="0" sz="825" spc="0" kern="0">
                <a:solidFill>
                  <a:srgbClr val="0066CC"/>
                </a:solidFill>
                <a:latin typeface="Pretendard"/>
                <a:cs typeface="Pretendard"/>
                <a:ea typeface="Pretendard"/>
              </a:rPr>
              <a:t>팀장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5100" y="260985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52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승환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05700" y="2324100"/>
            <a:ext cx="39243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로봇팔 · 주행 · 전력 · 시연 설계</a:t>
            </a:r>
          </a:p>
          <a:p>
            <a:pPr algn="l">
              <a:lnSpc>
                <a:spcPts val="1237"/>
              </a:lnSpc>
              <a:spcBef>
                <a:spcPts val="37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SO-101 리더-팔로워 구성, 시연 100회 수집과 ACT 정책 학습, RTX 4060 롤아웃 파이프라인 · ESP_Drive 펌웨어와 안전 우선순위 판단 로직 · 배터리부터 각 보드까지 전력 계통 전 구간 · 시나리오와 세트 설계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15100" y="3500438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6515100" y="3638550"/>
            <a:ext cx="342900" cy="1905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515100" y="3638550"/>
            <a:ext cx="3429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825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팀원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5100" y="390525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52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강희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05700" y="3619500"/>
            <a:ext cx="39243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센서 하드웨어 · 펌웨어 · 시연 영상</a:t>
            </a:r>
          </a:p>
          <a:p>
            <a:pPr algn="l">
              <a:lnSpc>
                <a:spcPts val="1237"/>
              </a:lnSpc>
              <a:spcBef>
                <a:spcPts val="37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MQ-2 가스센서와 화염센서 배선 · 납땜과 급전 경로 구성 · 센서 샘플링과 3초 가스 정밀검사(GAS_CHECK) 로직 구현 · 판정 결과(DETECTED / CLEAR / ERROR) 전달 통신 · 제출 시연 영상 제작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15100" y="4795838"/>
            <a:ext cx="49149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6515100" y="4933950"/>
            <a:ext cx="342900" cy="1905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515100" y="4933950"/>
            <a:ext cx="3429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825"/>
              </a:lnSpc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팀원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15100" y="520065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52"/>
              </a:lnSpc>
              <a:spcAft>
                <a:spcPts val="0"/>
              </a:spcAft>
            </a:pPr>
            <a:r>
              <a:rPr b="0" sz="1425" spc="-21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진우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05700" y="4914900"/>
            <a:ext cx="39243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</a:pPr>
            <a:r>
              <a:rPr b="0" sz="900" spc="0" kern="0">
                <a:solidFill>
                  <a:srgbClr val="1D1D1F"/>
                </a:solidFill>
                <a:latin typeface="Pretendard SemiBold"/>
                <a:cs typeface="Pretendard SemiBold"/>
                <a:ea typeface="Pretendard SemiBold"/>
              </a:rPr>
              <a:t>ROS2 통합 · 배포 · 저장소</a:t>
            </a:r>
          </a:p>
          <a:p>
            <a:pPr algn="l">
              <a:lnSpc>
                <a:spcPts val="1237"/>
              </a:lnSpc>
              <a:spcBef>
                <a:spcPts val="375"/>
              </a:spcBef>
              <a:spcAft>
                <a:spcPts val="0"/>
              </a:spcAft>
            </a:pPr>
            <a:r>
              <a:rPr b="0" sz="825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ROS2 워크스페이스 구성과 노드 통합 · sensor_bridge_node 와 amr_bridge_node 를 통한 RPi–ESP 통신 연결 · RPi 실물 대시보드 배포와 실기 검증 · GitHub 저장소 관리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1161288" y="2566416"/>
            <a:ext cx="365760" cy="301752"/>
          </a:xfrm>
          <a:prstGeom prst="roundRect">
            <a:avLst>
              <a:gd name="adj" fmla="val 42424"/>
            </a:avLst>
          </a:prstGeom>
          <a:solidFill>
            <a:srgbClr val="1D1D1F"/>
          </a:solidFill>
          <a:ln w="22859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 flipV="1">
            <a:off x="1344168" y="2484120"/>
            <a:ext cx="0" cy="82296"/>
          </a:xfrm>
          <a:prstGeom prst="line">
            <a:avLst/>
          </a:prstGeom>
          <a:ln w="32004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313078" y="2434742"/>
            <a:ext cx="62179" cy="62179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 flipV="1">
            <a:off x="1508760" y="2548128"/>
            <a:ext cx="146304" cy="91440"/>
          </a:xfrm>
          <a:prstGeom prst="line">
            <a:avLst/>
          </a:prstGeom>
          <a:ln w="50291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623060" y="2516124"/>
            <a:ext cx="64008" cy="6400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1655064" y="2548128"/>
            <a:ext cx="64008" cy="128016"/>
          </a:xfrm>
          <a:prstGeom prst="line">
            <a:avLst/>
          </a:prstGeom>
          <a:ln w="50291" cap="rnd">
            <a:solidFill>
              <a:srgbClr val="1D1D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680667" y="2637739"/>
            <a:ext cx="76810" cy="7681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 flipV="1">
            <a:off x="1719072" y="2621280"/>
            <a:ext cx="64008" cy="54864"/>
          </a:xfrm>
          <a:prstGeom prst="line">
            <a:avLst/>
          </a:prstGeom>
          <a:ln w="36576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19072" y="2676144"/>
            <a:ext cx="54864" cy="64008"/>
          </a:xfrm>
          <a:prstGeom prst="line">
            <a:avLst/>
          </a:prstGeom>
          <a:ln w="36576" cap="rnd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02436" y="2827020"/>
            <a:ext cx="118872" cy="11887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367028" y="2827020"/>
            <a:ext cx="118872" cy="11887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289304" y="2630424"/>
            <a:ext cx="164592" cy="16459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378915" y="2674315"/>
            <a:ext cx="40234" cy="4023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133600" y="2324100"/>
            <a:ext cx="8572500" cy="419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970"/>
              </a:lnSpc>
              <a:spcAft>
                <a:spcPts val="0"/>
              </a:spcAft>
            </a:pPr>
            <a:r>
              <a:rPr b="1" sz="2700" spc="-54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감사합니다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2650" y="2857500"/>
            <a:ext cx="85725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75"/>
              </a:lnSpc>
              <a:spcAft>
                <a:spcPts val="0"/>
              </a:spcAft>
            </a:pPr>
            <a:r>
              <a:rPr b="0" sz="1050" spc="0" kern="0">
                <a:solidFill>
                  <a:srgbClr val="333333"/>
                </a:solidFill>
                <a:latin typeface="Pretendard"/>
                <a:cs typeface="Pretendard"/>
                <a:ea typeface="Pretendard"/>
              </a:rPr>
              <a:t>HazardBot — 감지 · 판정에서 초동 조치까지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33800"/>
            <a:ext cx="1036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14400" y="4038600"/>
            <a:ext cx="10363200" cy="1219200"/>
          </a:xfrm>
          <a:prstGeom prst="roundRect">
            <a:avLst>
              <a:gd name="adj" fmla="val 4687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14400" y="4095750"/>
            <a:ext cx="28575" cy="11049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71575" y="4267200"/>
            <a:ext cx="9877425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0066CC"/>
                </a:solidFill>
                <a:latin typeface="Pretendard SemiBold"/>
                <a:cs typeface="Pretendard SemiBold"/>
                <a:ea typeface="Pretendard SemiBold"/>
              </a:rPr>
              <a:t>Q &amp; A</a:t>
            </a:r>
          </a:p>
          <a:p>
            <a:pPr algn="l">
              <a:lnSpc>
                <a:spcPts val="1920"/>
              </a:lnSpc>
              <a:spcBef>
                <a:spcPts val="600"/>
              </a:spcBef>
              <a:spcAft>
                <a:spcPts val="0"/>
              </a:spcAft>
            </a:pPr>
            <a:r>
              <a:rPr b="0" sz="1200" spc="-6" kern="0">
                <a:solidFill>
                  <a:srgbClr val="1D1D1F"/>
                </a:solidFill>
                <a:latin typeface="Pretendard"/>
                <a:cs typeface="Pretendard"/>
                <a:ea typeface="Pretendard"/>
              </a:rPr>
              <a:t>남은 과제는 RPi 온보드 추론 경로의 원인 규명, 판정 → 조치 자동 연동의 실물 최종 검증, DRIVE 주행 재개다.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76900"/>
            <a:ext cx="6667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제24회 임베디드SW경진대회 · 자유공모 · 확정 후 삽입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0100" y="5676900"/>
            <a:ext cx="66675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</a:pPr>
            <a:r>
              <a:rPr b="0" sz="900" spc="72" kern="0">
                <a:solidFill>
                  <a:srgbClr val="7A7A7A"/>
                </a:solidFill>
                <a:latin typeface="Pretendard SemiBold"/>
                <a:cs typeface="Pretendard SemiBold"/>
                <a:ea typeface="Pretendard SemiBold"/>
              </a:rPr>
              <a:t>2026-09-03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