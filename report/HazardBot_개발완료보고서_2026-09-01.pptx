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253871" y="2452497"/>
            <a:ext cx="502920" cy="414909"/>
          </a:xfrm>
          <a:prstGeom prst="roundRect">
            <a:avLst>
              <a:gd name="adj" fmla="val 42424"/>
            </a:avLst>
          </a:prstGeom>
          <a:solidFill>
            <a:srgbClr val="1D1D1F"/>
          </a:solidFill>
          <a:ln w="31432">
            <a:solidFill>
              <a:srgbClr val="1D1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4" name="Connector 3"/>
          <p:cNvCxnSpPr/>
          <p:nvPr/>
        </p:nvCxnSpPr>
        <p:spPr>
          <a:xfrm flipV="1">
            <a:off x="1505331" y="2339340"/>
            <a:ext cx="0" cy="113157"/>
          </a:xfrm>
          <a:prstGeom prst="line">
            <a:avLst/>
          </a:prstGeom>
          <a:ln w="44005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462583" y="2271446"/>
            <a:ext cx="85496" cy="85496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6" name="Connector 5"/>
          <p:cNvCxnSpPr/>
          <p:nvPr/>
        </p:nvCxnSpPr>
        <p:spPr>
          <a:xfrm flipV="1">
            <a:off x="1731645" y="2427351"/>
            <a:ext cx="201168" cy="125730"/>
          </a:xfrm>
          <a:prstGeom prst="line">
            <a:avLst/>
          </a:prstGeom>
          <a:ln w="69151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888808" y="2383346"/>
            <a:ext cx="88011" cy="88011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8" name="Connector 7"/>
          <p:cNvCxnSpPr/>
          <p:nvPr/>
        </p:nvCxnSpPr>
        <p:spPr>
          <a:xfrm>
            <a:off x="1932813" y="2427351"/>
            <a:ext cx="88011" cy="176022"/>
          </a:xfrm>
          <a:prstGeom prst="line">
            <a:avLst/>
          </a:prstGeom>
          <a:ln w="69151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1968017" y="2550566"/>
            <a:ext cx="105613" cy="105613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0" name="Connector 9"/>
          <p:cNvCxnSpPr/>
          <p:nvPr/>
        </p:nvCxnSpPr>
        <p:spPr>
          <a:xfrm flipV="1">
            <a:off x="2020824" y="2527935"/>
            <a:ext cx="88011" cy="75438"/>
          </a:xfrm>
          <a:prstGeom prst="line">
            <a:avLst/>
          </a:prstGeom>
          <a:ln w="50292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020824" y="2603373"/>
            <a:ext cx="75438" cy="88011"/>
          </a:xfrm>
          <a:prstGeom prst="line">
            <a:avLst/>
          </a:prstGeom>
          <a:ln w="50292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10449" y="2810828"/>
            <a:ext cx="163449" cy="163449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Oval 12"/>
          <p:cNvSpPr/>
          <p:nvPr/>
        </p:nvSpPr>
        <p:spPr>
          <a:xfrm>
            <a:off x="1536764" y="2810828"/>
            <a:ext cx="163449" cy="163449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Oval 13"/>
          <p:cNvSpPr/>
          <p:nvPr/>
        </p:nvSpPr>
        <p:spPr>
          <a:xfrm>
            <a:off x="1429893" y="2540508"/>
            <a:ext cx="226314" cy="226314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Oval 14"/>
          <p:cNvSpPr/>
          <p:nvPr/>
        </p:nvSpPr>
        <p:spPr>
          <a:xfrm>
            <a:off x="1553108" y="2600858"/>
            <a:ext cx="55321" cy="55321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476500" y="2038350"/>
            <a:ext cx="7239000" cy="1714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sz="900" b="0" kern="0" spc="72">
                <a:solidFill>
                  <a:srgbClr val="0066CC"/>
                </a:solidFill>
                <a:latin typeface="Pretendard SemiBold"/>
                <a:cs typeface="Pretendard SemiBold"/>
              </a:rPr>
              <a:t>제24회 임베디드SW경진대회 개발완료보고서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76500" y="2286000"/>
            <a:ext cx="7239000" cy="647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4770"/>
              </a:lnSpc>
              <a:spcAft>
                <a:spcPts val="0"/>
              </a:spcAft>
            </a:pPr>
            <a:r>
              <a:rPr sz="4500" b="1" kern="0" spc="-112">
                <a:solidFill>
                  <a:srgbClr val="1D1D1F"/>
                </a:solidFill>
                <a:latin typeface="Pretendard"/>
                <a:cs typeface="Pretendard"/>
              </a:rPr>
              <a:t>HazardBot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95550" y="3009900"/>
            <a:ext cx="7239000" cy="1714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170"/>
              </a:lnSpc>
              <a:spcAft>
                <a:spcPts val="0"/>
              </a:spcAft>
            </a:pPr>
            <a:r>
              <a:rPr sz="975" b="0" kern="0" spc="58">
                <a:solidFill>
                  <a:srgbClr val="7A7A7A"/>
                </a:solidFill>
                <a:latin typeface="Pretendard SemiBold"/>
                <a:cs typeface="Pretendard SemiBold"/>
              </a:rPr>
              <a:t>자유공모 부문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848100"/>
            <a:ext cx="952500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2250"/>
              </a:lnSpc>
              <a:spcAft>
                <a:spcPts val="0"/>
              </a:spcAft>
            </a:pPr>
            <a:r>
              <a:rPr sz="1500" b="0" kern="0" spc="-15">
                <a:solidFill>
                  <a:srgbClr val="333333"/>
                </a:solidFill>
                <a:latin typeface="Pretendard"/>
                <a:cs typeface="Pretendard"/>
              </a:rPr>
              <a:t>위험물 취급구역을 순찰하며 감지·판정하고, 로봇팔로 직접 제거하는 AI 패트롤 로봇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4419600"/>
            <a:ext cx="103632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4648200"/>
            <a:ext cx="6667500" cy="1714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sz="900" b="0" kern="0" spc="72">
                <a:solidFill>
                  <a:srgbClr val="7A7A7A"/>
                </a:solidFill>
                <a:latin typeface="Pretendard SemiBold"/>
                <a:cs typeface="Pretendard SemiBold"/>
              </a:rPr>
              <a:t>확정 후 삽입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0100" y="4648200"/>
            <a:ext cx="6667500" cy="1714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</a:pPr>
            <a:r>
              <a:rPr sz="900" b="0" kern="0" spc="72">
                <a:solidFill>
                  <a:srgbClr val="7A7A7A"/>
                </a:solidFill>
                <a:latin typeface="Pretendard SemiBold"/>
                <a:cs typeface="Pretendard SemiBold"/>
              </a:rPr>
              <a:t>2026-09-03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600" y="476250"/>
            <a:ext cx="57150" cy="5715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3900" y="419100"/>
            <a:ext cx="10858500" cy="1714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75"/>
              </a:lnSpc>
              <a:spcAft>
                <a:spcPts val="0"/>
              </a:spcAft>
            </a:pPr>
            <a:r>
              <a:rPr sz="975" b="0" kern="0" spc="117">
                <a:solidFill>
                  <a:srgbClr val="333333"/>
                </a:solidFill>
                <a:latin typeface="Pretendard SemiBold"/>
                <a:cs typeface="Pretendard SemiBold"/>
              </a:rPr>
              <a:t>00 · 목차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66750"/>
            <a:ext cx="10972800" cy="4381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3104"/>
              </a:lnSpc>
              <a:spcAft>
                <a:spcPts val="0"/>
              </a:spcAft>
            </a:pPr>
            <a:r>
              <a:rPr sz="2700" b="0" kern="0" spc="-54">
                <a:solidFill>
                  <a:srgbClr val="1D1D1F"/>
                </a:solidFill>
                <a:latin typeface="Pretendard SemiBold"/>
                <a:cs typeface="Pretendard SemiBold"/>
              </a:rPr>
              <a:t>목차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52525"/>
            <a:ext cx="10972800" cy="2476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48"/>
              </a:lnSpc>
              <a:spcAft>
                <a:spcPts val="0"/>
              </a:spcAft>
            </a:pPr>
            <a:r>
              <a:rPr sz="1275" b="0" kern="0" spc="-13">
                <a:solidFill>
                  <a:srgbClr val="333333"/>
                </a:solidFill>
                <a:latin typeface="Pretendard"/>
                <a:cs typeface="Pretendard"/>
              </a:rPr>
              <a:t>대회 필수항목 7개에 맞춘 5개 장 · 본문 20페이지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504950"/>
            <a:ext cx="109728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55892" y="6505766"/>
            <a:ext cx="68580" cy="56578"/>
          </a:xfrm>
          <a:prstGeom prst="roundRect">
            <a:avLst>
              <a:gd name="adj" fmla="val 42424"/>
            </a:avLst>
          </a:prstGeom>
          <a:solidFill>
            <a:srgbClr val="1D1D1F"/>
          </a:solidFill>
          <a:ln w="4286">
            <a:solidFill>
              <a:srgbClr val="1D1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690181" y="6490335"/>
            <a:ext cx="0" cy="15431"/>
          </a:xfrm>
          <a:prstGeom prst="line">
            <a:avLst/>
          </a:prstGeom>
          <a:ln w="6000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84352" y="6481077"/>
            <a:ext cx="11659" cy="11659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1" name="Connector 10"/>
          <p:cNvCxnSpPr/>
          <p:nvPr/>
        </p:nvCxnSpPr>
        <p:spPr>
          <a:xfrm flipV="1">
            <a:off x="721042" y="6502336"/>
            <a:ext cx="27432" cy="17146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742474" y="6496336"/>
            <a:ext cx="12002" cy="12002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3" name="Connector 12"/>
          <p:cNvCxnSpPr/>
          <p:nvPr/>
        </p:nvCxnSpPr>
        <p:spPr>
          <a:xfrm>
            <a:off x="748474" y="6502336"/>
            <a:ext cx="12002" cy="24003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753275" y="6519139"/>
            <a:ext cx="14402" cy="14402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5" name="Connector 14"/>
          <p:cNvCxnSpPr/>
          <p:nvPr/>
        </p:nvCxnSpPr>
        <p:spPr>
          <a:xfrm flipV="1">
            <a:off x="760476" y="6516052"/>
            <a:ext cx="12002" cy="10287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0476" y="6526339"/>
            <a:ext cx="10287" cy="12002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63607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Oval 17"/>
          <p:cNvSpPr/>
          <p:nvPr/>
        </p:nvSpPr>
        <p:spPr>
          <a:xfrm>
            <a:off x="694468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Oval 18"/>
          <p:cNvSpPr/>
          <p:nvPr/>
        </p:nvSpPr>
        <p:spPr>
          <a:xfrm>
            <a:off x="679894" y="6517767"/>
            <a:ext cx="30861" cy="30861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Oval 19"/>
          <p:cNvSpPr/>
          <p:nvPr/>
        </p:nvSpPr>
        <p:spPr>
          <a:xfrm>
            <a:off x="696697" y="6525997"/>
            <a:ext cx="7544" cy="754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57250" y="6438900"/>
            <a:ext cx="4762500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825"/>
              </a:lnSpc>
              <a:spcAft>
                <a:spcPts val="0"/>
              </a:spcAft>
            </a:pPr>
            <a:r>
              <a:rPr sz="825" b="0" kern="0" spc="50">
                <a:solidFill>
                  <a:srgbClr val="7A7A7A"/>
                </a:solidFill>
                <a:latin typeface="Pretendard SemiBold"/>
                <a:cs typeface="Pretendard SemiBold"/>
              </a:rPr>
              <a:t>HazardBot 개발완료보고서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24900" y="6438900"/>
            <a:ext cx="2857500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825"/>
              </a:lnSpc>
              <a:spcAft>
                <a:spcPts val="0"/>
              </a:spcAft>
            </a:pPr>
            <a:r>
              <a:rPr sz="825" b="0" kern="0" spc="50">
                <a:solidFill>
                  <a:srgbClr val="7A7A7A"/>
                </a:solidFill>
                <a:latin typeface="Pretendard SemiBold"/>
                <a:cs typeface="Pretendard SemiBold"/>
              </a:rPr>
              <a:t>01 / 20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1676400"/>
            <a:ext cx="10972800" cy="4648200"/>
          </a:xfrm>
          <a:prstGeom prst="roundRect">
            <a:avLst>
              <a:gd name="adj" fmla="val 1229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1981200"/>
            <a:ext cx="495300" cy="8077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</a:pPr>
            <a:r>
              <a:rPr sz="1950" b="1" kern="0" spc="-39">
                <a:solidFill>
                  <a:srgbClr val="7A7A7A"/>
                </a:solidFill>
                <a:latin typeface="Pretendard"/>
                <a:cs typeface="Pretendard"/>
              </a:rPr>
              <a:t>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47800" y="1981200"/>
            <a:ext cx="8115300" cy="8077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852"/>
              </a:lnSpc>
              <a:spcAft>
                <a:spcPts val="0"/>
              </a:spcAft>
            </a:pPr>
            <a:r>
              <a:rPr sz="1425" b="0" kern="0" spc="-21">
                <a:solidFill>
                  <a:srgbClr val="1D1D1F"/>
                </a:solidFill>
                <a:latin typeface="Pretendard SemiBold"/>
                <a:cs typeface="Pretendard SemiBold"/>
              </a:rPr>
              <a:t>개발 개요</a:t>
            </a:r>
          </a:p>
          <a:p>
            <a:pPr algn="l">
              <a:lnSpc>
                <a:spcPts val="1462"/>
              </a:lnSpc>
              <a:spcBef>
                <a:spcPts val="450"/>
              </a:spcBef>
              <a:spcAft>
                <a:spcPts val="0"/>
              </a:spcAft>
            </a:pPr>
            <a:r>
              <a:rPr sz="975" b="0" kern="0" spc="0">
                <a:solidFill>
                  <a:srgbClr val="333333"/>
                </a:solidFill>
                <a:latin typeface="Pretendard"/>
                <a:cs typeface="Pretendard"/>
              </a:rPr>
              <a:t>개발 배경·동기 · 목표·필요성 · 작품 개요와 제출 링크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3600" y="1981200"/>
            <a:ext cx="1524000" cy="8077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975"/>
              </a:lnSpc>
              <a:spcAft>
                <a:spcPts val="0"/>
              </a:spcAft>
            </a:pPr>
            <a:r>
              <a:rPr sz="975" b="0" kern="0" spc="20">
                <a:solidFill>
                  <a:srgbClr val="7A7A7A"/>
                </a:solidFill>
                <a:latin typeface="Pretendard SemiBold"/>
                <a:cs typeface="Pretendard SemiBold"/>
              </a:rPr>
              <a:t>02 – 04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2784158"/>
            <a:ext cx="103632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4400" y="2788920"/>
            <a:ext cx="495300" cy="8077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</a:pPr>
            <a:r>
              <a:rPr sz="1950" b="1" kern="0" spc="-39">
                <a:solidFill>
                  <a:srgbClr val="7A7A7A"/>
                </a:solidFill>
                <a:latin typeface="Pretendard"/>
                <a:cs typeface="Pretendard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47800" y="2788920"/>
            <a:ext cx="8115300" cy="8077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852"/>
              </a:lnSpc>
              <a:spcAft>
                <a:spcPts val="0"/>
              </a:spcAft>
            </a:pPr>
            <a:r>
              <a:rPr sz="1425" b="0" kern="0" spc="-21">
                <a:solidFill>
                  <a:srgbClr val="1D1D1F"/>
                </a:solidFill>
                <a:latin typeface="Pretendard SemiBold"/>
                <a:cs typeface="Pretendard SemiBold"/>
              </a:rPr>
              <a:t>개발 환경</a:t>
            </a:r>
          </a:p>
          <a:p>
            <a:pPr algn="l">
              <a:lnSpc>
                <a:spcPts val="1462"/>
              </a:lnSpc>
              <a:spcBef>
                <a:spcPts val="450"/>
              </a:spcBef>
              <a:spcAft>
                <a:spcPts val="0"/>
              </a:spcAft>
            </a:pPr>
            <a:r>
              <a:rPr sz="975" b="0" kern="0" spc="0">
                <a:solidFill>
                  <a:srgbClr val="333333"/>
                </a:solidFill>
                <a:latin typeface="Pretendard"/>
                <a:cs typeface="Pretendard"/>
              </a:rPr>
              <a:t>시스템 개요 · 하드웨어와 전력 계통 · 개발 환경과 오픈소스 · 소프트웨어 아키텍처 · 파일 구성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53600" y="2788920"/>
            <a:ext cx="1524000" cy="8077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975"/>
              </a:lnSpc>
              <a:spcAft>
                <a:spcPts val="0"/>
              </a:spcAft>
            </a:pPr>
            <a:r>
              <a:rPr sz="975" b="0" kern="0" spc="20">
                <a:solidFill>
                  <a:srgbClr val="7A7A7A"/>
                </a:solidFill>
                <a:latin typeface="Pretendard SemiBold"/>
                <a:cs typeface="Pretendard SemiBold"/>
              </a:rPr>
              <a:t>05 – 09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" y="3591878"/>
            <a:ext cx="103632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14400" y="3596640"/>
            <a:ext cx="495300" cy="8077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</a:pPr>
            <a:r>
              <a:rPr sz="1950" b="1" kern="0" spc="-39">
                <a:solidFill>
                  <a:srgbClr val="7A7A7A"/>
                </a:solidFill>
                <a:latin typeface="Pretendard"/>
                <a:cs typeface="Pretendard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47800" y="3596640"/>
            <a:ext cx="8115300" cy="8077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852"/>
              </a:lnSpc>
              <a:spcAft>
                <a:spcPts val="0"/>
              </a:spcAft>
            </a:pPr>
            <a:r>
              <a:rPr sz="1425" b="0" kern="0" spc="-21">
                <a:solidFill>
                  <a:srgbClr val="1D1D1F"/>
                </a:solidFill>
                <a:latin typeface="Pretendard SemiBold"/>
                <a:cs typeface="Pretendard SemiBold"/>
              </a:rPr>
              <a:t>개발 프로그램</a:t>
            </a:r>
          </a:p>
          <a:p>
            <a:pPr algn="l">
              <a:lnSpc>
                <a:spcPts val="1462"/>
              </a:lnSpc>
              <a:spcBef>
                <a:spcPts val="450"/>
              </a:spcBef>
              <a:spcAft>
                <a:spcPts val="0"/>
              </a:spcAft>
            </a:pPr>
            <a:r>
              <a:rPr sz="975" b="0" kern="0" spc="0">
                <a:solidFill>
                  <a:srgbClr val="333333"/>
                </a:solidFill>
                <a:latin typeface="Pretendard"/>
                <a:cs typeface="Pretendard"/>
              </a:rPr>
              <a:t>위험물 판정 로직 · GAS_CHECK · ACT 학습 · ACT 초동 조치 · 통합 파이프라인과 대시보드 · 검증 결과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53600" y="3596640"/>
            <a:ext cx="1524000" cy="8077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975"/>
              </a:lnSpc>
              <a:spcAft>
                <a:spcPts val="0"/>
              </a:spcAft>
            </a:pPr>
            <a:r>
              <a:rPr sz="975" b="0" kern="0" spc="20">
                <a:solidFill>
                  <a:srgbClr val="7A7A7A"/>
                </a:solidFill>
                <a:latin typeface="Pretendard SemiBold"/>
                <a:cs typeface="Pretendard SemiBold"/>
              </a:rPr>
              <a:t>10 – 15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4399598"/>
            <a:ext cx="103632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14400" y="4404360"/>
            <a:ext cx="495300" cy="8077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</a:pPr>
            <a:r>
              <a:rPr sz="1950" b="1" kern="0" spc="-39">
                <a:solidFill>
                  <a:srgbClr val="7A7A7A"/>
                </a:solidFill>
                <a:latin typeface="Pretendard"/>
                <a:cs typeface="Pretendard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47800" y="4404360"/>
            <a:ext cx="8115300" cy="8077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852"/>
              </a:lnSpc>
              <a:spcAft>
                <a:spcPts val="0"/>
              </a:spcAft>
            </a:pPr>
            <a:r>
              <a:rPr sz="1425" b="0" kern="0" spc="-21">
                <a:solidFill>
                  <a:srgbClr val="1D1D1F"/>
                </a:solidFill>
                <a:latin typeface="Pretendard SemiBold"/>
                <a:cs typeface="Pretendard SemiBold"/>
              </a:rPr>
              <a:t>장애요인과 해결</a:t>
            </a:r>
          </a:p>
          <a:p>
            <a:pPr algn="l">
              <a:lnSpc>
                <a:spcPts val="1462"/>
              </a:lnSpc>
              <a:spcBef>
                <a:spcPts val="450"/>
              </a:spcBef>
              <a:spcAft>
                <a:spcPts val="0"/>
              </a:spcAft>
            </a:pPr>
            <a:r>
              <a:rPr sz="975" b="0" kern="0" spc="0">
                <a:solidFill>
                  <a:srgbClr val="333333"/>
                </a:solidFill>
                <a:latin typeface="Pretendard"/>
                <a:cs typeface="Pretendard"/>
              </a:rPr>
              <a:t>개발 중 발생한 문제와 해결 방안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53600" y="4404360"/>
            <a:ext cx="1524000" cy="8077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975"/>
              </a:lnSpc>
              <a:spcAft>
                <a:spcPts val="0"/>
              </a:spcAft>
            </a:pPr>
            <a:r>
              <a:rPr sz="975" b="0" kern="0" spc="20">
                <a:solidFill>
                  <a:srgbClr val="7A7A7A"/>
                </a:solidFill>
                <a:latin typeface="Pretendard SemiBold"/>
                <a:cs typeface="Pretendard SemiBold"/>
              </a:rPr>
              <a:t>16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4400" y="5207318"/>
            <a:ext cx="103632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14400" y="5212080"/>
            <a:ext cx="495300" cy="8077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950"/>
              </a:lnSpc>
              <a:spcAft>
                <a:spcPts val="0"/>
              </a:spcAft>
            </a:pPr>
            <a:r>
              <a:rPr sz="1950" b="1" kern="0" spc="-39">
                <a:solidFill>
                  <a:srgbClr val="7A7A7A"/>
                </a:solidFill>
                <a:latin typeface="Pretendard"/>
                <a:cs typeface="Pretendard"/>
              </a:rPr>
              <a:t>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47800" y="5212080"/>
            <a:ext cx="8115300" cy="8077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852"/>
              </a:lnSpc>
              <a:spcAft>
                <a:spcPts val="0"/>
              </a:spcAft>
            </a:pPr>
            <a:r>
              <a:rPr sz="1425" b="0" kern="0" spc="-21">
                <a:solidFill>
                  <a:srgbClr val="1D1D1F"/>
                </a:solidFill>
                <a:latin typeface="Pretendard SemiBold"/>
                <a:cs typeface="Pretendard SemiBold"/>
              </a:rPr>
              <a:t>결과와 일정</a:t>
            </a:r>
          </a:p>
          <a:p>
            <a:pPr algn="l">
              <a:lnSpc>
                <a:spcPts val="1462"/>
              </a:lnSpc>
              <a:spcBef>
                <a:spcPts val="450"/>
              </a:spcBef>
              <a:spcAft>
                <a:spcPts val="0"/>
              </a:spcAft>
            </a:pPr>
            <a:r>
              <a:rPr sz="975" b="0" kern="0" spc="0">
                <a:solidFill>
                  <a:srgbClr val="333333"/>
                </a:solidFill>
                <a:latin typeface="Pretendard"/>
                <a:cs typeface="Pretendard"/>
              </a:rPr>
              <a:t>작품의 차별성 · 기술적 우수성 · 파급력과 기대효과 · 개발 일정과 업무 분장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53600" y="5212080"/>
            <a:ext cx="1524000" cy="80772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975"/>
              </a:lnSpc>
              <a:spcAft>
                <a:spcPts val="0"/>
              </a:spcAft>
            </a:pPr>
            <a:r>
              <a:rPr sz="975" b="0" kern="0" spc="20">
                <a:solidFill>
                  <a:srgbClr val="7A7A7A"/>
                </a:solidFill>
                <a:latin typeface="Pretendard SemiBold"/>
                <a:cs typeface="Pretendard SemiBold"/>
              </a:rPr>
              <a:t>17 –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600" y="476250"/>
            <a:ext cx="57150" cy="5715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3900" y="419100"/>
            <a:ext cx="10858500" cy="1714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75"/>
              </a:lnSpc>
              <a:spcAft>
                <a:spcPts val="0"/>
              </a:spcAft>
            </a:pPr>
            <a:r>
              <a:rPr sz="975" b="0" kern="0" spc="117">
                <a:solidFill>
                  <a:srgbClr val="333333"/>
                </a:solidFill>
                <a:latin typeface="Pretendard SemiBold"/>
                <a:cs typeface="Pretendard SemiBold"/>
              </a:rPr>
              <a:t>01 · 개발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66750"/>
            <a:ext cx="10972800" cy="4381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3104"/>
              </a:lnSpc>
              <a:spcAft>
                <a:spcPts val="0"/>
              </a:spcAft>
            </a:pPr>
            <a:r>
              <a:rPr sz="2700" b="0" kern="0" spc="-54">
                <a:solidFill>
                  <a:srgbClr val="1D1D1F"/>
                </a:solidFill>
                <a:latin typeface="Pretendard SemiBold"/>
                <a:cs typeface="Pretendard SemiBold"/>
              </a:rPr>
              <a:t>사람이 계속 지킬 수 없는 구역이 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52525"/>
            <a:ext cx="10972800" cy="2476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48"/>
              </a:lnSpc>
              <a:spcAft>
                <a:spcPts val="0"/>
              </a:spcAft>
            </a:pPr>
            <a:r>
              <a:rPr sz="1275" b="0" kern="0" spc="-13">
                <a:solidFill>
                  <a:srgbClr val="333333"/>
                </a:solidFill>
                <a:latin typeface="Pretendard"/>
                <a:cs typeface="Pretendard"/>
              </a:rPr>
              <a:t>24시간 가동하는 위험물 취급구역에서, 감시와 초동 조치는 여전히 사람의 몫으로 남아 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504950"/>
            <a:ext cx="109728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55892" y="6505766"/>
            <a:ext cx="68580" cy="56578"/>
          </a:xfrm>
          <a:prstGeom prst="roundRect">
            <a:avLst>
              <a:gd name="adj" fmla="val 42424"/>
            </a:avLst>
          </a:prstGeom>
          <a:solidFill>
            <a:srgbClr val="1D1D1F"/>
          </a:solidFill>
          <a:ln w="4286">
            <a:solidFill>
              <a:srgbClr val="1D1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690181" y="6490335"/>
            <a:ext cx="0" cy="15431"/>
          </a:xfrm>
          <a:prstGeom prst="line">
            <a:avLst/>
          </a:prstGeom>
          <a:ln w="6000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84352" y="6481077"/>
            <a:ext cx="11659" cy="11659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1" name="Connector 10"/>
          <p:cNvCxnSpPr/>
          <p:nvPr/>
        </p:nvCxnSpPr>
        <p:spPr>
          <a:xfrm flipV="1">
            <a:off x="721042" y="6502336"/>
            <a:ext cx="27432" cy="17146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742474" y="6496336"/>
            <a:ext cx="12002" cy="12002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3" name="Connector 12"/>
          <p:cNvCxnSpPr/>
          <p:nvPr/>
        </p:nvCxnSpPr>
        <p:spPr>
          <a:xfrm>
            <a:off x="748474" y="6502336"/>
            <a:ext cx="12002" cy="24003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753275" y="6519139"/>
            <a:ext cx="14402" cy="14402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5" name="Connector 14"/>
          <p:cNvCxnSpPr/>
          <p:nvPr/>
        </p:nvCxnSpPr>
        <p:spPr>
          <a:xfrm flipV="1">
            <a:off x="760476" y="6516052"/>
            <a:ext cx="12002" cy="10287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0476" y="6526339"/>
            <a:ext cx="10287" cy="12002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63607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Oval 17"/>
          <p:cNvSpPr/>
          <p:nvPr/>
        </p:nvSpPr>
        <p:spPr>
          <a:xfrm>
            <a:off x="694468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Oval 18"/>
          <p:cNvSpPr/>
          <p:nvPr/>
        </p:nvSpPr>
        <p:spPr>
          <a:xfrm>
            <a:off x="679894" y="6517767"/>
            <a:ext cx="30861" cy="30861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Oval 19"/>
          <p:cNvSpPr/>
          <p:nvPr/>
        </p:nvSpPr>
        <p:spPr>
          <a:xfrm>
            <a:off x="696697" y="6525997"/>
            <a:ext cx="7544" cy="754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57250" y="6438900"/>
            <a:ext cx="4762500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825"/>
              </a:lnSpc>
              <a:spcAft>
                <a:spcPts val="0"/>
              </a:spcAft>
            </a:pPr>
            <a:r>
              <a:rPr sz="825" b="0" kern="0" spc="50">
                <a:solidFill>
                  <a:srgbClr val="7A7A7A"/>
                </a:solidFill>
                <a:latin typeface="Pretendard SemiBold"/>
                <a:cs typeface="Pretendard SemiBold"/>
              </a:rPr>
              <a:t>HazardBot 개발완료보고서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24900" y="6438900"/>
            <a:ext cx="2857500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825"/>
              </a:lnSpc>
              <a:spcAft>
                <a:spcPts val="0"/>
              </a:spcAft>
            </a:pPr>
            <a:r>
              <a:rPr sz="825" b="0" kern="0" spc="50">
                <a:solidFill>
                  <a:srgbClr val="7A7A7A"/>
                </a:solidFill>
                <a:latin typeface="Pretendard SemiBold"/>
                <a:cs typeface="Pretendard SemiBold"/>
              </a:rPr>
              <a:t>02 / 20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1676400"/>
            <a:ext cx="10972800" cy="2286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914400" y="2438400"/>
            <a:ext cx="1866900" cy="762000"/>
          </a:xfrm>
          <a:prstGeom prst="roundRect">
            <a:avLst>
              <a:gd name="adj" fmla="val 7500"/>
            </a:avLst>
          </a:prstGeom>
          <a:solidFill>
            <a:srgbClr val="F5F5F7"/>
          </a:solidFill>
          <a:ln w="14287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90600" y="2514600"/>
            <a:ext cx="1714500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ts val="1522"/>
              </a:lnSpc>
              <a:spcAft>
                <a:spcPts val="0"/>
              </a:spcAft>
            </a:pPr>
            <a:r>
              <a:rPr sz="105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24시간 가동 현장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828925" y="2819400"/>
            <a:ext cx="161925" cy="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038475" y="2438400"/>
            <a:ext cx="1866900" cy="762000"/>
          </a:xfrm>
          <a:prstGeom prst="roundRect">
            <a:avLst>
              <a:gd name="adj" fmla="val 7500"/>
            </a:avLst>
          </a:prstGeom>
          <a:solidFill>
            <a:srgbClr val="F5F5F7"/>
          </a:solidFill>
          <a:ln w="14287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114675" y="2514600"/>
            <a:ext cx="1714500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ts val="1522"/>
              </a:lnSpc>
              <a:spcAft>
                <a:spcPts val="0"/>
              </a:spcAft>
            </a:pPr>
            <a:r>
              <a:rPr sz="105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위험물 상시 취급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953000" y="2819400"/>
            <a:ext cx="161925" cy="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5162550" y="2438400"/>
            <a:ext cx="1866900" cy="762000"/>
          </a:xfrm>
          <a:prstGeom prst="roundRect">
            <a:avLst>
              <a:gd name="adj" fmla="val 7500"/>
            </a:avLst>
          </a:prstGeom>
          <a:solidFill>
            <a:srgbClr val="F5F5F7"/>
          </a:solidFill>
          <a:ln w="14287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238750" y="2514600"/>
            <a:ext cx="1714500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ts val="1522"/>
              </a:lnSpc>
              <a:spcAft>
                <a:spcPts val="0"/>
              </a:spcAft>
            </a:pPr>
            <a:r>
              <a:rPr sz="105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사람의 지속 감시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077075" y="2819400"/>
            <a:ext cx="161925" cy="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7286625" y="2438400"/>
            <a:ext cx="1866900" cy="762000"/>
          </a:xfrm>
          <a:prstGeom prst="roundRect">
            <a:avLst>
              <a:gd name="adj" fmla="val 7500"/>
            </a:avLst>
          </a:prstGeom>
          <a:solidFill>
            <a:srgbClr val="F5F5F7"/>
          </a:solidFill>
          <a:ln w="14287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362825" y="2514600"/>
            <a:ext cx="1714500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ts val="1522"/>
              </a:lnSpc>
              <a:spcAft>
                <a:spcPts val="0"/>
              </a:spcAft>
            </a:pPr>
            <a:r>
              <a:rPr sz="105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접근 · 조치 지연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201150" y="2819400"/>
            <a:ext cx="161925" cy="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9410700" y="2438400"/>
            <a:ext cx="1866900" cy="762000"/>
          </a:xfrm>
          <a:prstGeom prst="roundRect">
            <a:avLst>
              <a:gd name="adj" fmla="val 7500"/>
            </a:avLst>
          </a:prstGeom>
          <a:solidFill>
            <a:srgbClr val="EBF3FB"/>
          </a:solidFill>
          <a:ln w="14287">
            <a:solidFill>
              <a:srgbClr val="007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486900" y="2514600"/>
            <a:ext cx="1714500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ts val="1522"/>
              </a:lnSpc>
              <a:spcAft>
                <a:spcPts val="0"/>
              </a:spcAft>
            </a:pPr>
            <a:r>
              <a:rPr sz="105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자동 감지 · 초동 조치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9600" y="4191000"/>
            <a:ext cx="3505200" cy="2133600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38200" y="4419600"/>
            <a:ext cx="3048000" cy="1428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sz="900" b="0" kern="0" spc="72">
                <a:solidFill>
                  <a:srgbClr val="333333"/>
                </a:solidFill>
                <a:latin typeface="Pretendard SemiBold"/>
                <a:cs typeface="Pretendard SemiBold"/>
              </a:rPr>
              <a:t>현장 조건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200" y="4676775"/>
            <a:ext cx="30480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923"/>
              </a:lnSpc>
              <a:spcAft>
                <a:spcPts val="0"/>
              </a:spcAft>
            </a:pPr>
            <a:r>
              <a:rPr sz="1425" b="0" kern="0" spc="-21">
                <a:solidFill>
                  <a:srgbClr val="1D1D1F"/>
                </a:solidFill>
                <a:latin typeface="Pretendard SemiBold"/>
                <a:cs typeface="Pretendard SemiBold"/>
              </a:rPr>
              <a:t>지속 감시의 한계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8200" y="5076825"/>
            <a:ext cx="3048000" cy="10191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</a:pPr>
            <a:r>
              <a:rPr sz="1050" b="0" kern="0" spc="0">
                <a:solidFill>
                  <a:srgbClr val="333333"/>
                </a:solidFill>
                <a:latin typeface="Pretendard"/>
                <a:cs typeface="Pretendard"/>
              </a:rPr>
              <a:t>반도체 FAB·정유공장처럼 위험물을 다루면서도 멈추지 않는 현장이 있다. 사람이 밤낮없이 모든 구간을 같은 집중으로 지키는 것은 현실적으로 어렵다.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43400" y="4191000"/>
            <a:ext cx="3505200" cy="2133600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572000" y="4419600"/>
            <a:ext cx="3048000" cy="1428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sz="900" b="0" kern="0" spc="72">
                <a:solidFill>
                  <a:srgbClr val="333333"/>
                </a:solidFill>
                <a:latin typeface="Pretendard SemiBold"/>
                <a:cs typeface="Pretendard SemiBold"/>
              </a:rPr>
              <a:t>작업자 위험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4676775"/>
            <a:ext cx="30480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923"/>
              </a:lnSpc>
              <a:spcAft>
                <a:spcPts val="0"/>
              </a:spcAft>
            </a:pPr>
            <a:r>
              <a:rPr sz="1425" b="0" kern="0" spc="-21">
                <a:solidFill>
                  <a:srgbClr val="1D1D1F"/>
                </a:solidFill>
                <a:latin typeface="Pretendard SemiBold"/>
                <a:cs typeface="Pretendard SemiBold"/>
              </a:rPr>
              <a:t>근접이 곧 위험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5076825"/>
            <a:ext cx="3048000" cy="10191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</a:pPr>
            <a:r>
              <a:rPr sz="1050" b="0" kern="0" spc="0">
                <a:solidFill>
                  <a:srgbClr val="333333"/>
                </a:solidFill>
                <a:latin typeface="Pretendard"/>
                <a:cs typeface="Pretendard"/>
              </a:rPr>
              <a:t>위험물을 치우려면 사람이 유해 물질에 직접 다가가야 한다. 조치를 하는 행위 자체가 작업자에게 새로운 노출을 만든다.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077200" y="4191000"/>
            <a:ext cx="3505200" cy="2133600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305800" y="4419600"/>
            <a:ext cx="3048000" cy="1428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sz="900" b="0" kern="0" spc="72">
                <a:solidFill>
                  <a:srgbClr val="333333"/>
                </a:solidFill>
                <a:latin typeface="Pretendard SemiBold"/>
                <a:cs typeface="Pretendard SemiBold"/>
              </a:rPr>
              <a:t>개발 동기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05800" y="4676775"/>
            <a:ext cx="30480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923"/>
              </a:lnSpc>
              <a:spcAft>
                <a:spcPts val="0"/>
              </a:spcAft>
            </a:pPr>
            <a:r>
              <a:rPr sz="1425" b="0" kern="0" spc="-21">
                <a:solidFill>
                  <a:srgbClr val="1D1D1F"/>
                </a:solidFill>
                <a:latin typeface="Pretendard SemiBold"/>
                <a:cs typeface="Pretendard SemiBold"/>
              </a:rPr>
              <a:t>발견 다음이 비어 있다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05800" y="5076825"/>
            <a:ext cx="3048000" cy="10191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</a:pPr>
            <a:r>
              <a:rPr sz="1050" b="0" kern="0" spc="0">
                <a:solidFill>
                  <a:srgbClr val="333333"/>
                </a:solidFill>
                <a:latin typeface="Pretendard"/>
                <a:cs typeface="Pretendard"/>
              </a:rPr>
              <a:t>기존 순찰 로봇은 발견하고 알리는 데서 멈춘다. 치우는 일은 여전히 사람 몫으로 남아, 발견에서 조치까지의 간격이 사고 규모를 가른다.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600" y="476250"/>
            <a:ext cx="57150" cy="5715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3900" y="419100"/>
            <a:ext cx="10858500" cy="1714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75"/>
              </a:lnSpc>
              <a:spcAft>
                <a:spcPts val="0"/>
              </a:spcAft>
            </a:pPr>
            <a:r>
              <a:rPr sz="975" b="0" kern="0" spc="117">
                <a:solidFill>
                  <a:srgbClr val="333333"/>
                </a:solidFill>
                <a:latin typeface="Pretendard SemiBold"/>
                <a:cs typeface="Pretendard SemiBold"/>
              </a:rPr>
              <a:t>01 · 개발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66750"/>
            <a:ext cx="10972800" cy="4381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3104"/>
              </a:lnSpc>
              <a:spcAft>
                <a:spcPts val="0"/>
              </a:spcAft>
            </a:pPr>
            <a:r>
              <a:rPr sz="2700" b="0" kern="0" spc="-54">
                <a:solidFill>
                  <a:srgbClr val="1D1D1F"/>
                </a:solidFill>
                <a:latin typeface="Pretendard SemiBold"/>
                <a:cs typeface="Pretendard SemiBold"/>
              </a:rPr>
              <a:t>감지 · 판정 · 초동 조치를 하나의 흐름으로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52525"/>
            <a:ext cx="10972800" cy="2476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48"/>
              </a:lnSpc>
              <a:spcAft>
                <a:spcPts val="0"/>
              </a:spcAft>
            </a:pPr>
            <a:r>
              <a:rPr sz="1275" b="0" kern="0" spc="-13">
                <a:solidFill>
                  <a:srgbClr val="333333"/>
                </a:solidFill>
                <a:latin typeface="Pretendard"/>
                <a:cs typeface="Pretendard"/>
              </a:rPr>
              <a:t>사람이 직접 접근하지 않고도 위험물을 감지·판정하고, 제거까지 수행하는 로봇을 만든다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504950"/>
            <a:ext cx="109728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55892" y="6505766"/>
            <a:ext cx="68580" cy="56578"/>
          </a:xfrm>
          <a:prstGeom prst="roundRect">
            <a:avLst>
              <a:gd name="adj" fmla="val 42424"/>
            </a:avLst>
          </a:prstGeom>
          <a:solidFill>
            <a:srgbClr val="1D1D1F"/>
          </a:solidFill>
          <a:ln w="4286">
            <a:solidFill>
              <a:srgbClr val="1D1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690181" y="6490335"/>
            <a:ext cx="0" cy="15431"/>
          </a:xfrm>
          <a:prstGeom prst="line">
            <a:avLst/>
          </a:prstGeom>
          <a:ln w="6000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84352" y="6481077"/>
            <a:ext cx="11659" cy="11659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1" name="Connector 10"/>
          <p:cNvCxnSpPr/>
          <p:nvPr/>
        </p:nvCxnSpPr>
        <p:spPr>
          <a:xfrm flipV="1">
            <a:off x="721042" y="6502336"/>
            <a:ext cx="27432" cy="17146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742474" y="6496336"/>
            <a:ext cx="12002" cy="12002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3" name="Connector 12"/>
          <p:cNvCxnSpPr/>
          <p:nvPr/>
        </p:nvCxnSpPr>
        <p:spPr>
          <a:xfrm>
            <a:off x="748474" y="6502336"/>
            <a:ext cx="12002" cy="24003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753275" y="6519139"/>
            <a:ext cx="14402" cy="14402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5" name="Connector 14"/>
          <p:cNvCxnSpPr/>
          <p:nvPr/>
        </p:nvCxnSpPr>
        <p:spPr>
          <a:xfrm flipV="1">
            <a:off x="760476" y="6516052"/>
            <a:ext cx="12002" cy="10287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0476" y="6526339"/>
            <a:ext cx="10287" cy="12002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63607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Oval 17"/>
          <p:cNvSpPr/>
          <p:nvPr/>
        </p:nvSpPr>
        <p:spPr>
          <a:xfrm>
            <a:off x="694468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Oval 18"/>
          <p:cNvSpPr/>
          <p:nvPr/>
        </p:nvSpPr>
        <p:spPr>
          <a:xfrm>
            <a:off x="679894" y="6517767"/>
            <a:ext cx="30861" cy="30861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Oval 19"/>
          <p:cNvSpPr/>
          <p:nvPr/>
        </p:nvSpPr>
        <p:spPr>
          <a:xfrm>
            <a:off x="696697" y="6525997"/>
            <a:ext cx="7544" cy="754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57250" y="6438900"/>
            <a:ext cx="4762500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825"/>
              </a:lnSpc>
              <a:spcAft>
                <a:spcPts val="0"/>
              </a:spcAft>
            </a:pPr>
            <a:r>
              <a:rPr sz="825" b="0" kern="0" spc="50">
                <a:solidFill>
                  <a:srgbClr val="7A7A7A"/>
                </a:solidFill>
                <a:latin typeface="Pretendard SemiBold"/>
                <a:cs typeface="Pretendard SemiBold"/>
              </a:rPr>
              <a:t>HazardBot 개발완료보고서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24900" y="6438900"/>
            <a:ext cx="2857500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825"/>
              </a:lnSpc>
              <a:spcAft>
                <a:spcPts val="0"/>
              </a:spcAft>
            </a:pPr>
            <a:r>
              <a:rPr sz="825" b="0" kern="0" spc="50">
                <a:solidFill>
                  <a:srgbClr val="7A7A7A"/>
                </a:solidFill>
                <a:latin typeface="Pretendard SemiBold"/>
                <a:cs typeface="Pretendard SemiBold"/>
              </a:rPr>
              <a:t>03 / 20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1676400"/>
            <a:ext cx="3505200" cy="14287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8200" y="1885950"/>
            <a:ext cx="3048000" cy="10096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sz="900" b="0" kern="0" spc="72">
                <a:solidFill>
                  <a:srgbClr val="7A7A7A"/>
                </a:solidFill>
                <a:latin typeface="Pretendard SemiBold"/>
                <a:cs typeface="Pretendard SemiBold"/>
              </a:rPr>
              <a:t>01</a:t>
            </a:r>
          </a:p>
          <a:p>
            <a:pPr algn="l">
              <a:lnSpc>
                <a:spcPts val="1852"/>
              </a:lnSpc>
              <a:spcBef>
                <a:spcPts val="450"/>
              </a:spcBef>
              <a:spcAft>
                <a:spcPts val="0"/>
              </a:spcAft>
            </a:pPr>
            <a:r>
              <a:rPr sz="1425" b="0" kern="0" spc="-21">
                <a:solidFill>
                  <a:srgbClr val="1D1D1F"/>
                </a:solidFill>
                <a:latin typeface="Pretendard SemiBold"/>
                <a:cs typeface="Pretendard SemiBold"/>
              </a:rPr>
              <a:t>자동 감지</a:t>
            </a:r>
          </a:p>
          <a:p>
            <a:pPr algn="l">
              <a:lnSpc>
                <a:spcPts val="1350"/>
              </a:lnSpc>
              <a:spcBef>
                <a:spcPts val="450"/>
              </a:spcBef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순찰 중 정지 지점마다 카메라로 물체를 확인한다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9600" y="3143250"/>
            <a:ext cx="3505200" cy="14287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38200" y="3352800"/>
            <a:ext cx="3048000" cy="10096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sz="900" b="0" kern="0" spc="72">
                <a:solidFill>
                  <a:srgbClr val="7A7A7A"/>
                </a:solidFill>
                <a:latin typeface="Pretendard SemiBold"/>
                <a:cs typeface="Pretendard SemiBold"/>
              </a:rPr>
              <a:t>02</a:t>
            </a:r>
          </a:p>
          <a:p>
            <a:pPr algn="l">
              <a:lnSpc>
                <a:spcPts val="1852"/>
              </a:lnSpc>
              <a:spcBef>
                <a:spcPts val="450"/>
              </a:spcBef>
              <a:spcAft>
                <a:spcPts val="0"/>
              </a:spcAft>
            </a:pPr>
            <a:r>
              <a:rPr sz="1425" b="0" kern="0" spc="-21">
                <a:solidFill>
                  <a:srgbClr val="1D1D1F"/>
                </a:solidFill>
                <a:latin typeface="Pretendard SemiBold"/>
                <a:cs typeface="Pretendard SemiBold"/>
              </a:rPr>
              <a:t>규칙 기반 판정</a:t>
            </a:r>
          </a:p>
          <a:p>
            <a:pPr algn="l">
              <a:lnSpc>
                <a:spcPts val="1350"/>
              </a:lnSpc>
              <a:spcBef>
                <a:spcPts val="450"/>
              </a:spcBef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색상으로 1차 분류하고, 필요한 경우에만 가스 센서로 정밀검사한다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9600" y="4610100"/>
            <a:ext cx="3505200" cy="14287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38200" y="4819650"/>
            <a:ext cx="3048000" cy="10096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sz="900" b="0" kern="0" spc="72">
                <a:solidFill>
                  <a:srgbClr val="7A7A7A"/>
                </a:solidFill>
                <a:latin typeface="Pretendard SemiBold"/>
                <a:cs typeface="Pretendard SemiBold"/>
              </a:rPr>
              <a:t>03</a:t>
            </a:r>
          </a:p>
          <a:p>
            <a:pPr algn="l">
              <a:lnSpc>
                <a:spcPts val="1852"/>
              </a:lnSpc>
              <a:spcBef>
                <a:spcPts val="450"/>
              </a:spcBef>
              <a:spcAft>
                <a:spcPts val="0"/>
              </a:spcAft>
            </a:pPr>
            <a:r>
              <a:rPr sz="1425" b="0" kern="0" spc="-21">
                <a:solidFill>
                  <a:srgbClr val="1D1D1F"/>
                </a:solidFill>
                <a:latin typeface="Pretendard SemiBold"/>
                <a:cs typeface="Pretendard SemiBold"/>
              </a:rPr>
              <a:t>초동 조치</a:t>
            </a:r>
          </a:p>
          <a:p>
            <a:pPr algn="l">
              <a:lnSpc>
                <a:spcPts val="1350"/>
              </a:lnSpc>
              <a:spcBef>
                <a:spcPts val="450"/>
              </a:spcBef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위험으로 판정되면 로봇팔이 직접 집어 격리함에 넣는다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153150"/>
            <a:ext cx="3505200" cy="16573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825" b="0" kern="0" spc="0">
                <a:solidFill>
                  <a:srgbClr val="7A7A7A"/>
                </a:solidFill>
                <a:latin typeface="Pretendard"/>
                <a:cs typeface="Pretendard"/>
              </a:rPr>
              <a:t>설계 근거 — 위험물안전관리법 유별 혼재 제한 · KS C IEC 60079-10-1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43400" y="1676400"/>
            <a:ext cx="7239000" cy="4648200"/>
          </a:xfrm>
          <a:prstGeom prst="roundRect">
            <a:avLst>
              <a:gd name="adj" fmla="val 1229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1" name="Picture 30" descr="demo_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7700" y="1790700"/>
            <a:ext cx="7010400" cy="394335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457700" y="5810250"/>
            <a:ext cx="7010400" cy="4000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순찰 경로와 정지 지점을 구성한 시연 공간</a:t>
            </a:r>
          </a:p>
          <a:p>
            <a:pPr algn="l">
              <a:lnSpc>
                <a:spcPts val="1350"/>
              </a:lnSpc>
              <a:spcBef>
                <a:spcPts val="300"/>
              </a:spcBef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바닥의 검은 선이 순찰 경로, 회색 패널이 각 정지 지점이다. 지점마다 판정 대상 물체와 격리함을 배치했다.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600" y="476250"/>
            <a:ext cx="57150" cy="5715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3900" y="419100"/>
            <a:ext cx="10858500" cy="1714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75"/>
              </a:lnSpc>
              <a:spcAft>
                <a:spcPts val="0"/>
              </a:spcAft>
            </a:pPr>
            <a:r>
              <a:rPr sz="975" b="0" kern="0" spc="117">
                <a:solidFill>
                  <a:srgbClr val="333333"/>
                </a:solidFill>
                <a:latin typeface="Pretendard SemiBold"/>
                <a:cs typeface="Pretendard SemiBold"/>
              </a:rPr>
              <a:t>01 · 개발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66750"/>
            <a:ext cx="10972800" cy="4381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3104"/>
              </a:lnSpc>
              <a:spcAft>
                <a:spcPts val="0"/>
              </a:spcAft>
            </a:pPr>
            <a:r>
              <a:rPr sz="2700" b="0" kern="0" spc="-54">
                <a:solidFill>
                  <a:srgbClr val="1D1D1F"/>
                </a:solidFill>
                <a:latin typeface="Pretendard SemiBold"/>
                <a:cs typeface="Pretendard SemiBold"/>
              </a:rPr>
              <a:t>작품 개요와 제출 링크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52525"/>
            <a:ext cx="10972800" cy="2476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48"/>
              </a:lnSpc>
              <a:spcAft>
                <a:spcPts val="0"/>
              </a:spcAft>
            </a:pPr>
            <a:r>
              <a:rPr sz="1275" b="0" kern="0" spc="-13">
                <a:solidFill>
                  <a:srgbClr val="333333"/>
                </a:solidFill>
                <a:latin typeface="Pretendard"/>
                <a:cs typeface="Pretendard"/>
              </a:rPr>
              <a:t>대회 가이드양식의 개발 개요 표를 그대로 채웠다 — 소스코드와 시연동영상 링크는 필수 항목이다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504950"/>
            <a:ext cx="109728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55892" y="6505766"/>
            <a:ext cx="68580" cy="56578"/>
          </a:xfrm>
          <a:prstGeom prst="roundRect">
            <a:avLst>
              <a:gd name="adj" fmla="val 42424"/>
            </a:avLst>
          </a:prstGeom>
          <a:solidFill>
            <a:srgbClr val="1D1D1F"/>
          </a:solidFill>
          <a:ln w="4286">
            <a:solidFill>
              <a:srgbClr val="1D1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690181" y="6490335"/>
            <a:ext cx="0" cy="15431"/>
          </a:xfrm>
          <a:prstGeom prst="line">
            <a:avLst/>
          </a:prstGeom>
          <a:ln w="6000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84352" y="6481077"/>
            <a:ext cx="11659" cy="11659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1" name="Connector 10"/>
          <p:cNvCxnSpPr/>
          <p:nvPr/>
        </p:nvCxnSpPr>
        <p:spPr>
          <a:xfrm flipV="1">
            <a:off x="721042" y="6502336"/>
            <a:ext cx="27432" cy="17146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742474" y="6496336"/>
            <a:ext cx="12002" cy="12002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3" name="Connector 12"/>
          <p:cNvCxnSpPr/>
          <p:nvPr/>
        </p:nvCxnSpPr>
        <p:spPr>
          <a:xfrm>
            <a:off x="748474" y="6502336"/>
            <a:ext cx="12002" cy="24003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753275" y="6519139"/>
            <a:ext cx="14402" cy="14402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5" name="Connector 14"/>
          <p:cNvCxnSpPr/>
          <p:nvPr/>
        </p:nvCxnSpPr>
        <p:spPr>
          <a:xfrm flipV="1">
            <a:off x="760476" y="6516052"/>
            <a:ext cx="12002" cy="10287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0476" y="6526339"/>
            <a:ext cx="10287" cy="12002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63607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Oval 17"/>
          <p:cNvSpPr/>
          <p:nvPr/>
        </p:nvSpPr>
        <p:spPr>
          <a:xfrm>
            <a:off x="694468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Oval 18"/>
          <p:cNvSpPr/>
          <p:nvPr/>
        </p:nvSpPr>
        <p:spPr>
          <a:xfrm>
            <a:off x="679894" y="6517767"/>
            <a:ext cx="30861" cy="30861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Oval 19"/>
          <p:cNvSpPr/>
          <p:nvPr/>
        </p:nvSpPr>
        <p:spPr>
          <a:xfrm>
            <a:off x="696697" y="6525997"/>
            <a:ext cx="7544" cy="754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57250" y="6438900"/>
            <a:ext cx="4762500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825"/>
              </a:lnSpc>
              <a:spcAft>
                <a:spcPts val="0"/>
              </a:spcAft>
            </a:pPr>
            <a:r>
              <a:rPr sz="825" b="0" kern="0" spc="50">
                <a:solidFill>
                  <a:srgbClr val="7A7A7A"/>
                </a:solidFill>
                <a:latin typeface="Pretendard SemiBold"/>
                <a:cs typeface="Pretendard SemiBold"/>
              </a:rPr>
              <a:t>HazardBot 개발완료보고서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24900" y="6438900"/>
            <a:ext cx="2857500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825"/>
              </a:lnSpc>
              <a:spcAft>
                <a:spcPts val="0"/>
              </a:spcAft>
            </a:pPr>
            <a:r>
              <a:rPr sz="825" b="0" kern="0" spc="50">
                <a:solidFill>
                  <a:srgbClr val="7A7A7A"/>
                </a:solidFill>
                <a:latin typeface="Pretendard SemiBold"/>
                <a:cs typeface="Pretendard SemiBold"/>
              </a:rPr>
              <a:t>04 / 20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1676400"/>
            <a:ext cx="7239000" cy="4648200"/>
          </a:xfrm>
          <a:prstGeom prst="roundRect">
            <a:avLst>
              <a:gd name="adj" fmla="val 1229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1905000"/>
            <a:ext cx="1257300" cy="838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sz="975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작품명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24100" y="1905000"/>
            <a:ext cx="5219700" cy="838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395"/>
              </a:lnSpc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HazardBot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2738438"/>
            <a:ext cx="66294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4400" y="2743200"/>
            <a:ext cx="1257300" cy="838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sz="975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개발 배경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24100" y="2743200"/>
            <a:ext cx="5219700" cy="838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395"/>
              </a:lnSpc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위험물을 다루면서도 24시간 멈추지 않는 산업현장에서, 감시와 초동 조치는 여전히 사람의 몫으로 남아 있다.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3576638"/>
            <a:ext cx="66294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4400" y="3581400"/>
            <a:ext cx="1257300" cy="838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sz="975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동기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24100" y="3581400"/>
            <a:ext cx="5219700" cy="838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395"/>
              </a:lnSpc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기존 순찰 로봇은 발견하고 알리는 데서 멈춘다. 발견 이후 치우는 일은 사람이 위험물에 직접 다가가야 한다.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4414838"/>
            <a:ext cx="66294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14400" y="4419600"/>
            <a:ext cx="1257300" cy="838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sz="975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목표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24100" y="4419600"/>
            <a:ext cx="5219700" cy="838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395"/>
              </a:lnSpc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위험물을 자동으로 감지·판정하고, 판정 결과에 따라 로봇팔로 초동 조치(제거)까지 수행하는 로봇을 개발한다.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253038"/>
            <a:ext cx="66294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14400" y="5257800"/>
            <a:ext cx="1257300" cy="8382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sz="975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필요성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24100" y="5257800"/>
            <a:ext cx="5219700" cy="838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395"/>
              </a:lnSpc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사람이 직접 접근하지 않고도 지속적인 감시·격리가 가능한 구조를 만들어, 유해물질에 근접하는 횟수 자체를 줄인다.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77200" y="1676400"/>
            <a:ext cx="3505200" cy="2209800"/>
          </a:xfrm>
          <a:prstGeom prst="roundRect">
            <a:avLst>
              <a:gd name="adj" fmla="val 2586"/>
            </a:avLst>
          </a:prstGeom>
          <a:solidFill>
            <a:srgbClr val="EBF3FB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8077200" y="1733550"/>
            <a:ext cx="28575" cy="20955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305800" y="1924050"/>
            <a:ext cx="3048000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sz="900" b="0" kern="0" spc="72">
                <a:solidFill>
                  <a:srgbClr val="0066CC"/>
                </a:solidFill>
                <a:latin typeface="Pretendard SemiBold"/>
                <a:cs typeface="Pretendard SemiBold"/>
              </a:rPr>
              <a:t>소스코드 링크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05800" y="2171700"/>
            <a:ext cx="540258" cy="20955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305800" y="2171700"/>
            <a:ext cx="540258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900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"/>
                <a:cs typeface="Pretendard"/>
              </a:rPr>
              <a:t>GitHub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05800" y="2552700"/>
            <a:ext cx="3048000" cy="533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2137"/>
              </a:lnSpc>
              <a:spcAft>
                <a:spcPts val="0"/>
              </a:spcAft>
            </a:pPr>
            <a:r>
              <a:rPr sz="1425" b="0" kern="0" spc="0">
                <a:solidFill>
                  <a:srgbClr val="7A7A7A"/>
                </a:solidFill>
                <a:latin typeface="Pretendard SemiBold"/>
                <a:cs typeface="Pretendard SemiBold"/>
              </a:rPr>
              <a:t>확정 후 삽입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305800" y="3162300"/>
            <a:ext cx="30480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305800" y="3276600"/>
            <a:ext cx="3048000" cy="419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96"/>
              </a:lnSpc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github.com/&lt;사용자이름&gt;/2026ESWContest_free_&lt;팀명&gt;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077200" y="4114800"/>
            <a:ext cx="3505200" cy="2209800"/>
          </a:xfrm>
          <a:prstGeom prst="roundRect">
            <a:avLst>
              <a:gd name="adj" fmla="val 2586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305800" y="4362450"/>
            <a:ext cx="3048000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sz="900" b="0" kern="0" spc="72">
                <a:solidFill>
                  <a:srgbClr val="0066CC"/>
                </a:solidFill>
                <a:latin typeface="Pretendard SemiBold"/>
                <a:cs typeface="Pretendard SemiBold"/>
              </a:rPr>
              <a:t>시연 동영상 링크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305800" y="4610100"/>
            <a:ext cx="603123" cy="209550"/>
          </a:xfrm>
          <a:prstGeom prst="roundRect">
            <a:avLst>
              <a:gd name="adj" fmla="val 13636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305800" y="4610100"/>
            <a:ext cx="603123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900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"/>
                <a:cs typeface="Pretendard"/>
              </a:rPr>
              <a:t>YouTube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05800" y="4991100"/>
            <a:ext cx="3048000" cy="533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2137"/>
              </a:lnSpc>
              <a:spcAft>
                <a:spcPts val="0"/>
              </a:spcAft>
            </a:pPr>
            <a:r>
              <a:rPr sz="1425" b="0" kern="0" spc="0">
                <a:solidFill>
                  <a:srgbClr val="7A7A7A"/>
                </a:solidFill>
                <a:latin typeface="Pretendard SemiBold"/>
                <a:cs typeface="Pretendard SemiBold"/>
              </a:rPr>
              <a:t>확정 후 삽입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305800" y="5600700"/>
            <a:ext cx="30480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305800" y="5715000"/>
            <a:ext cx="3048000" cy="419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96"/>
              </a:lnSpc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2026ESWContest_자유공모_&lt;팀명&gt;_시연동영상 · 3분 이내 · 720p 이상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600" y="476250"/>
            <a:ext cx="57150" cy="5715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3900" y="419100"/>
            <a:ext cx="10858500" cy="1714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75"/>
              </a:lnSpc>
              <a:spcAft>
                <a:spcPts val="0"/>
              </a:spcAft>
            </a:pPr>
            <a:r>
              <a:rPr sz="975" b="0" kern="0" spc="117">
                <a:solidFill>
                  <a:srgbClr val="333333"/>
                </a:solidFill>
                <a:latin typeface="Pretendard SemiBold"/>
                <a:cs typeface="Pretendard SemiBold"/>
              </a:rPr>
              <a:t>02 · 개발 환경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66750"/>
            <a:ext cx="10972800" cy="4381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3104"/>
              </a:lnSpc>
              <a:spcAft>
                <a:spcPts val="0"/>
              </a:spcAft>
            </a:pPr>
            <a:r>
              <a:rPr sz="2700" b="0" kern="0" spc="-54">
                <a:solidFill>
                  <a:srgbClr val="1D1D1F"/>
                </a:solidFill>
                <a:latin typeface="Pretendard SemiBold"/>
                <a:cs typeface="Pretendard SemiBold"/>
              </a:rPr>
              <a:t>HazardBot — 감지에서 초동 조치까지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52525"/>
            <a:ext cx="10972800" cy="2476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48"/>
              </a:lnSpc>
              <a:spcAft>
                <a:spcPts val="0"/>
              </a:spcAft>
            </a:pPr>
            <a:r>
              <a:rPr sz="1275" b="0" kern="0" spc="-13">
                <a:solidFill>
                  <a:srgbClr val="333333"/>
                </a:solidFill>
                <a:latin typeface="Pretendard"/>
                <a:cs typeface="Pretendard"/>
              </a:rPr>
              <a:t>위험물 취급구역을 순찰하며 정지 지점마다 감지·판정하고, 로봇팔로 직접 제거한다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504950"/>
            <a:ext cx="109728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55892" y="6505766"/>
            <a:ext cx="68580" cy="56578"/>
          </a:xfrm>
          <a:prstGeom prst="roundRect">
            <a:avLst>
              <a:gd name="adj" fmla="val 42424"/>
            </a:avLst>
          </a:prstGeom>
          <a:solidFill>
            <a:srgbClr val="1D1D1F"/>
          </a:solidFill>
          <a:ln w="4286">
            <a:solidFill>
              <a:srgbClr val="1D1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690181" y="6490335"/>
            <a:ext cx="0" cy="15431"/>
          </a:xfrm>
          <a:prstGeom prst="line">
            <a:avLst/>
          </a:prstGeom>
          <a:ln w="6000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84352" y="6481077"/>
            <a:ext cx="11659" cy="11659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1" name="Connector 10"/>
          <p:cNvCxnSpPr/>
          <p:nvPr/>
        </p:nvCxnSpPr>
        <p:spPr>
          <a:xfrm flipV="1">
            <a:off x="721042" y="6502336"/>
            <a:ext cx="27432" cy="17146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742474" y="6496336"/>
            <a:ext cx="12002" cy="12002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3" name="Connector 12"/>
          <p:cNvCxnSpPr/>
          <p:nvPr/>
        </p:nvCxnSpPr>
        <p:spPr>
          <a:xfrm>
            <a:off x="748474" y="6502336"/>
            <a:ext cx="12002" cy="24003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753275" y="6519139"/>
            <a:ext cx="14402" cy="14402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5" name="Connector 14"/>
          <p:cNvCxnSpPr/>
          <p:nvPr/>
        </p:nvCxnSpPr>
        <p:spPr>
          <a:xfrm flipV="1">
            <a:off x="760476" y="6516052"/>
            <a:ext cx="12002" cy="10287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0476" y="6526339"/>
            <a:ext cx="10287" cy="12002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63607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Oval 17"/>
          <p:cNvSpPr/>
          <p:nvPr/>
        </p:nvSpPr>
        <p:spPr>
          <a:xfrm>
            <a:off x="694468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Oval 18"/>
          <p:cNvSpPr/>
          <p:nvPr/>
        </p:nvSpPr>
        <p:spPr>
          <a:xfrm>
            <a:off x="679894" y="6517767"/>
            <a:ext cx="30861" cy="30861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Oval 19"/>
          <p:cNvSpPr/>
          <p:nvPr/>
        </p:nvSpPr>
        <p:spPr>
          <a:xfrm>
            <a:off x="696697" y="6525997"/>
            <a:ext cx="7544" cy="754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57250" y="6438900"/>
            <a:ext cx="4762500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825"/>
              </a:lnSpc>
              <a:spcAft>
                <a:spcPts val="0"/>
              </a:spcAft>
            </a:pPr>
            <a:r>
              <a:rPr sz="825" b="0" kern="0" spc="50">
                <a:solidFill>
                  <a:srgbClr val="7A7A7A"/>
                </a:solidFill>
                <a:latin typeface="Pretendard SemiBold"/>
                <a:cs typeface="Pretendard SemiBold"/>
              </a:rPr>
              <a:t>HazardBot 개발완료보고서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24900" y="6438900"/>
            <a:ext cx="2857500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825"/>
              </a:lnSpc>
              <a:spcAft>
                <a:spcPts val="0"/>
              </a:spcAft>
            </a:pPr>
            <a:r>
              <a:rPr sz="825" b="0" kern="0" spc="50">
                <a:solidFill>
                  <a:srgbClr val="7A7A7A"/>
                </a:solidFill>
                <a:latin typeface="Pretendard SemiBold"/>
                <a:cs typeface="Pretendard SemiBold"/>
              </a:rPr>
              <a:t>05 / 20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1676400"/>
            <a:ext cx="7239000" cy="304800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24" name="Connector 23"/>
          <p:cNvCxnSpPr/>
          <p:nvPr/>
        </p:nvCxnSpPr>
        <p:spPr>
          <a:xfrm>
            <a:off x="2590800" y="3352800"/>
            <a:ext cx="171450" cy="0"/>
          </a:xfrm>
          <a:prstGeom prst="line">
            <a:avLst/>
          </a:prstGeom>
          <a:ln w="14287" cap="rnd">
            <a:solidFill>
              <a:srgbClr val="7A7A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762250" y="2781300"/>
            <a:ext cx="0" cy="1143000"/>
          </a:xfrm>
          <a:prstGeom prst="line">
            <a:avLst/>
          </a:prstGeom>
          <a:ln w="14287" cap="rnd">
            <a:solidFill>
              <a:srgbClr val="7A7A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2762250" y="2781300"/>
            <a:ext cx="104775" cy="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762250" y="3924300"/>
            <a:ext cx="104775" cy="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143500" y="2781300"/>
            <a:ext cx="171450" cy="0"/>
          </a:xfrm>
          <a:prstGeom prst="line">
            <a:avLst/>
          </a:prstGeom>
          <a:ln w="14287" cap="rnd">
            <a:solidFill>
              <a:srgbClr val="7A7A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143500" y="3924300"/>
            <a:ext cx="171450" cy="0"/>
          </a:xfrm>
          <a:prstGeom prst="line">
            <a:avLst/>
          </a:prstGeom>
          <a:ln w="14287" cap="rnd">
            <a:solidFill>
              <a:srgbClr val="7A7A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14950" y="2781300"/>
            <a:ext cx="0" cy="1143000"/>
          </a:xfrm>
          <a:prstGeom prst="line">
            <a:avLst/>
          </a:prstGeom>
          <a:ln w="14287" cap="rnd">
            <a:solidFill>
              <a:srgbClr val="7A7A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5314950" y="2781300"/>
            <a:ext cx="104775" cy="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314950" y="3924300"/>
            <a:ext cx="104775" cy="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914400" y="1981200"/>
            <a:ext cx="1676400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sz="900" b="0" kern="0" spc="72">
                <a:solidFill>
                  <a:srgbClr val="333333"/>
                </a:solidFill>
                <a:latin typeface="Pretendard SemiBold"/>
                <a:cs typeface="Pretendard SemiBold"/>
              </a:rPr>
              <a:t>01 감지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33700" y="1981200"/>
            <a:ext cx="2209800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sz="900" b="0" kern="0" spc="72">
                <a:solidFill>
                  <a:srgbClr val="333333"/>
                </a:solidFill>
                <a:latin typeface="Pretendard SemiBold"/>
                <a:cs typeface="Pretendard SemiBold"/>
              </a:rPr>
              <a:t>02 판정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0" y="1981200"/>
            <a:ext cx="2057400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sz="900" b="0" kern="0" spc="72">
                <a:solidFill>
                  <a:srgbClr val="333333"/>
                </a:solidFill>
                <a:latin typeface="Pretendard SemiBold"/>
                <a:cs typeface="Pretendard SemiBold"/>
              </a:rPr>
              <a:t>03 표시 · 조치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" y="2857500"/>
            <a:ext cx="1676400" cy="990600"/>
          </a:xfrm>
          <a:prstGeom prst="roundRect">
            <a:avLst>
              <a:gd name="adj" fmla="val 5769"/>
            </a:avLst>
          </a:prstGeom>
          <a:solidFill>
            <a:srgbClr val="F5F5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28700" y="2971800"/>
            <a:ext cx="1447800" cy="76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</a:pPr>
            <a:r>
              <a:rPr sz="105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카메라 인식</a:t>
            </a:r>
          </a:p>
          <a:p>
            <a:pPr algn="l">
              <a:lnSpc>
                <a:spcPts val="1350"/>
              </a:lnSpc>
              <a:spcBef>
                <a:spcPts val="300"/>
              </a:spcBef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정지 지점마다 물체 색 확인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933700" y="2286000"/>
            <a:ext cx="2209800" cy="990600"/>
          </a:xfrm>
          <a:prstGeom prst="roundRect">
            <a:avLst>
              <a:gd name="adj" fmla="val 5769"/>
            </a:avLst>
          </a:prstGeom>
          <a:solidFill>
            <a:srgbClr val="F5F5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Oval 38"/>
          <p:cNvSpPr/>
          <p:nvPr/>
        </p:nvSpPr>
        <p:spPr>
          <a:xfrm>
            <a:off x="3048000" y="2505075"/>
            <a:ext cx="95250" cy="95250"/>
          </a:xfrm>
          <a:prstGeom prst="ellipse">
            <a:avLst/>
          </a:prstGeom>
          <a:solidFill>
            <a:srgbClr val="B2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219450" y="2400300"/>
            <a:ext cx="1809750" cy="514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</a:pPr>
            <a:r>
              <a:rPr sz="105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황색 — 산화성 고체</a:t>
            </a:r>
          </a:p>
          <a:p>
            <a:pPr algn="l">
              <a:lnSpc>
                <a:spcPts val="1350"/>
              </a:lnSpc>
              <a:spcBef>
                <a:spcPts val="300"/>
              </a:spcBef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취급구역 내 위치 자체가 위반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219450" y="2971800"/>
            <a:ext cx="742615" cy="190500"/>
          </a:xfrm>
          <a:prstGeom prst="roundRect">
            <a:avLst>
              <a:gd name="adj" fmla="val 15000"/>
            </a:avLst>
          </a:prstGeom>
          <a:solidFill>
            <a:srgbClr val="F1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219450" y="2971800"/>
            <a:ext cx="742615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900"/>
              </a:lnSpc>
              <a:spcAft>
                <a:spcPts val="0"/>
              </a:spcAft>
            </a:pPr>
            <a:r>
              <a:rPr sz="900" b="0" kern="0" spc="72">
                <a:solidFill>
                  <a:srgbClr val="D70015"/>
                </a:solidFill>
                <a:latin typeface="Pretendard SemiBold"/>
                <a:cs typeface="Pretendard SemiBold"/>
              </a:rPr>
              <a:t>즉시 위험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933700" y="3429000"/>
            <a:ext cx="2209800" cy="990600"/>
          </a:xfrm>
          <a:prstGeom prst="roundRect">
            <a:avLst>
              <a:gd name="adj" fmla="val 5769"/>
            </a:avLst>
          </a:prstGeom>
          <a:solidFill>
            <a:srgbClr val="F5F5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Oval 43"/>
          <p:cNvSpPr/>
          <p:nvPr/>
        </p:nvSpPr>
        <p:spPr>
          <a:xfrm>
            <a:off x="3048000" y="3648075"/>
            <a:ext cx="95250" cy="95250"/>
          </a:xfrm>
          <a:prstGeom prst="ellipse">
            <a:avLst/>
          </a:prstGeom>
          <a:solidFill>
            <a:srgbClr val="D700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219450" y="3543300"/>
            <a:ext cx="1809750" cy="5143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</a:pPr>
            <a:r>
              <a:rPr sz="105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적색 — 인화성 액체</a:t>
            </a:r>
          </a:p>
          <a:p>
            <a:pPr algn="l">
              <a:lnSpc>
                <a:spcPts val="1350"/>
              </a:lnSpc>
              <a:spcBef>
                <a:spcPts val="300"/>
              </a:spcBef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MQ-2 가스 3초 정밀검사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19450" y="4114800"/>
            <a:ext cx="832226" cy="190500"/>
          </a:xfrm>
          <a:prstGeom prst="roundRect">
            <a:avLst>
              <a:gd name="adj" fmla="val 15000"/>
            </a:avLst>
          </a:prstGeom>
          <a:solidFill>
            <a:srgbClr val="F1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219450" y="4114800"/>
            <a:ext cx="832226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900"/>
              </a:lnSpc>
              <a:spcAft>
                <a:spcPts val="0"/>
              </a:spcAft>
            </a:pPr>
            <a:r>
              <a:rPr sz="900" b="0" kern="0" spc="72">
                <a:solidFill>
                  <a:srgbClr val="D70015"/>
                </a:solidFill>
                <a:latin typeface="Pretendard SemiBold"/>
                <a:cs typeface="Pretendard SemiBold"/>
              </a:rPr>
              <a:t>검출 → 위험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108826" y="4114800"/>
            <a:ext cx="832226" cy="190500"/>
          </a:xfrm>
          <a:prstGeom prst="roundRect">
            <a:avLst>
              <a:gd name="adj" fmla="val 15000"/>
            </a:avLst>
          </a:prstGeom>
          <a:solidFill>
            <a:srgbClr val="D8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108826" y="4114800"/>
            <a:ext cx="832226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900"/>
              </a:lnSpc>
              <a:spcAft>
                <a:spcPts val="0"/>
              </a:spcAft>
            </a:pPr>
            <a:r>
              <a:rPr sz="900" b="0" kern="0" spc="72">
                <a:solidFill>
                  <a:srgbClr val="248A3D"/>
                </a:solidFill>
                <a:latin typeface="Pretendard SemiBold"/>
                <a:cs typeface="Pretendard SemiBold"/>
              </a:rPr>
              <a:t>없음 → 통과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86400" y="2286000"/>
            <a:ext cx="2057400" cy="990600"/>
          </a:xfrm>
          <a:prstGeom prst="roundRect">
            <a:avLst>
              <a:gd name="adj" fmla="val 5769"/>
            </a:avLst>
          </a:prstGeom>
          <a:solidFill>
            <a:srgbClr val="F5F5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600700" y="2400300"/>
            <a:ext cx="1828800" cy="76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</a:pPr>
            <a:r>
              <a:rPr sz="105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대시보드 실시간 표시</a:t>
            </a:r>
          </a:p>
          <a:p>
            <a:pPr algn="l">
              <a:lnSpc>
                <a:spcPts val="1350"/>
              </a:lnSpc>
              <a:spcBef>
                <a:spcPts val="300"/>
              </a:spcBef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상태 · 센서 수치 · 판정 문장 로그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486400" y="3429000"/>
            <a:ext cx="2057400" cy="990600"/>
          </a:xfrm>
          <a:prstGeom prst="roundRect">
            <a:avLst>
              <a:gd name="adj" fmla="val 5769"/>
            </a:avLst>
          </a:prstGeom>
          <a:solidFill>
            <a:srgbClr val="EBF3FB"/>
          </a:solidFill>
          <a:ln w="14287">
            <a:solidFill>
              <a:srgbClr val="007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600700" y="3543300"/>
            <a:ext cx="1828800" cy="76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</a:pPr>
            <a:r>
              <a:rPr sz="105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로봇팔 초동 조치</a:t>
            </a:r>
          </a:p>
          <a:p>
            <a:pPr algn="l">
              <a:lnSpc>
                <a:spcPts val="1350"/>
              </a:lnSpc>
              <a:spcBef>
                <a:spcPts val="300"/>
              </a:spcBef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파지 → 이동 → 격리함 → 뚜껑 닫기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077200" y="1676400"/>
            <a:ext cx="3505200" cy="304800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305800" y="1905000"/>
            <a:ext cx="3048000" cy="1428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sz="900" b="0" kern="0" spc="72">
                <a:solidFill>
                  <a:srgbClr val="333333"/>
                </a:solidFill>
                <a:latin typeface="Pretendard SemiBold"/>
                <a:cs typeface="Pretendard SemiBold"/>
              </a:rPr>
              <a:t>하드웨어 구성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05800" y="2133600"/>
            <a:ext cx="3048000" cy="58340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575"/>
              </a:lnSpc>
              <a:spcAft>
                <a:spcPts val="0"/>
              </a:spcAft>
            </a:pPr>
            <a:r>
              <a:rPr sz="105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RPi 5</a:t>
            </a:r>
          </a:p>
          <a:p>
            <a:pPr algn="l">
              <a:lnSpc>
                <a:spcPts val="1350"/>
              </a:lnSpc>
              <a:spcBef>
                <a:spcPts val="225"/>
              </a:spcBef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ROS2 오케스트레이션 · 카메라 인식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305800" y="2717006"/>
            <a:ext cx="30480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305800" y="2726531"/>
            <a:ext cx="3048000" cy="58340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575"/>
              </a:lnSpc>
              <a:spcAft>
                <a:spcPts val="0"/>
              </a:spcAft>
            </a:pPr>
            <a:r>
              <a:rPr sz="105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ESP_Drive</a:t>
            </a:r>
          </a:p>
          <a:p>
            <a:pPr algn="l">
              <a:lnSpc>
                <a:spcPts val="1350"/>
              </a:lnSpc>
              <a:spcBef>
                <a:spcPts val="225"/>
              </a:spcBef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TB6612FNG 모터 드라이버 · 안전 우선순위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305800" y="3309938"/>
            <a:ext cx="30480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305800" y="3319462"/>
            <a:ext cx="3048000" cy="58340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575"/>
              </a:lnSpc>
              <a:spcAft>
                <a:spcPts val="0"/>
              </a:spcAft>
            </a:pPr>
            <a:r>
              <a:rPr sz="105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ESP_Env</a:t>
            </a:r>
          </a:p>
          <a:p>
            <a:pPr algn="l">
              <a:lnSpc>
                <a:spcPts val="1350"/>
              </a:lnSpc>
              <a:spcBef>
                <a:spcPts val="225"/>
              </a:spcBef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MQ-2 가스 · 화염 센서 3초 샘플링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305800" y="3902869"/>
            <a:ext cx="30480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8305800" y="3912394"/>
            <a:ext cx="3048000" cy="58340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575"/>
              </a:lnSpc>
              <a:spcAft>
                <a:spcPts val="0"/>
              </a:spcAft>
            </a:pPr>
            <a:r>
              <a:rPr sz="105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SO-101 로봇팔</a:t>
            </a:r>
          </a:p>
          <a:p>
            <a:pPr algn="l">
              <a:lnSpc>
                <a:spcPts val="1350"/>
              </a:lnSpc>
              <a:spcBef>
                <a:spcPts val="225"/>
              </a:spcBef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ACT 정책 · RTX 4060 GPU 추론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09600" y="4953000"/>
            <a:ext cx="10972800" cy="1371600"/>
          </a:xfrm>
          <a:prstGeom prst="roundRect">
            <a:avLst>
              <a:gd name="adj" fmla="val 4166"/>
            </a:avLst>
          </a:prstGeom>
          <a:solidFill>
            <a:srgbClr val="FAFAFC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838200" y="5227320"/>
            <a:ext cx="2393156" cy="1428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sz="900" b="0" kern="0" spc="72">
                <a:solidFill>
                  <a:srgbClr val="333333"/>
                </a:solidFill>
                <a:latin typeface="Pretendard SemiBold"/>
                <a:cs typeface="Pretendard SemiBold"/>
              </a:rPr>
              <a:t>ACT 파지 성공률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8200" y="5421630"/>
            <a:ext cx="2393156" cy="419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</a:pPr>
            <a:r>
              <a:rPr sz="3300" b="1" kern="0" spc="-66">
                <a:solidFill>
                  <a:srgbClr val="0066CC"/>
                </a:solidFill>
                <a:latin typeface="Pretendard"/>
                <a:cs typeface="Pretendard"/>
              </a:rPr>
              <a:t>86.7%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8200" y="5878830"/>
            <a:ext cx="2393156" cy="342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실물 30회 검증 · 근거리 100%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459956" y="5181600"/>
            <a:ext cx="9525" cy="91440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3698081" y="5227320"/>
            <a:ext cx="2164556" cy="1428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sz="900" b="0" kern="0" spc="72">
                <a:solidFill>
                  <a:srgbClr val="333333"/>
                </a:solidFill>
                <a:latin typeface="Pretendard SemiBold"/>
                <a:cs typeface="Pretendard SemiBold"/>
              </a:rPr>
              <a:t>가스 정밀검사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98081" y="5421630"/>
            <a:ext cx="2164556" cy="419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</a:pPr>
            <a:r>
              <a:rPr sz="3300" b="1" kern="0" spc="-66">
                <a:solidFill>
                  <a:srgbClr val="0066CC"/>
                </a:solidFill>
                <a:latin typeface="Pretendard"/>
                <a:cs typeface="Pretendard"/>
              </a:rPr>
              <a:t>3초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98081" y="5878830"/>
            <a:ext cx="2164556" cy="342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MQ-2 샘플링 · 5초 워치독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091238" y="5181600"/>
            <a:ext cx="9525" cy="91440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6329362" y="5227320"/>
            <a:ext cx="2164556" cy="1428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sz="900" b="0" kern="0" spc="72">
                <a:solidFill>
                  <a:srgbClr val="333333"/>
                </a:solidFill>
                <a:latin typeface="Pretendard SemiBold"/>
                <a:cs typeface="Pretendard SemiBold"/>
              </a:rPr>
              <a:t>ACT 학습 데이터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329362" y="5421630"/>
            <a:ext cx="2164556" cy="419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</a:pPr>
            <a:r>
              <a:rPr sz="3300" b="1" kern="0" spc="-66">
                <a:solidFill>
                  <a:srgbClr val="0066CC"/>
                </a:solidFill>
                <a:latin typeface="Pretendard"/>
                <a:cs typeface="Pretendard"/>
              </a:rPr>
              <a:t>100회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29362" y="5878830"/>
            <a:ext cx="2164556" cy="342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리더암 직접 시연 · 모방학습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722519" y="5181600"/>
            <a:ext cx="9525" cy="91440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8960644" y="5227320"/>
            <a:ext cx="2393156" cy="1428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sz="900" b="0" kern="0" spc="72" dirty="0" err="1">
                <a:solidFill>
                  <a:srgbClr val="333333"/>
                </a:solidFill>
                <a:latin typeface="Pretendard SemiBold"/>
                <a:cs typeface="Pretendard SemiBold"/>
              </a:rPr>
              <a:t>판정</a:t>
            </a:r>
            <a:r>
              <a:rPr sz="900" b="0" kern="0" spc="72" dirty="0">
                <a:solidFill>
                  <a:srgbClr val="333333"/>
                </a:solidFill>
                <a:latin typeface="Pretendard SemiBold"/>
                <a:cs typeface="Pretendard SemiBold"/>
              </a:rPr>
              <a:t> </a:t>
            </a:r>
            <a:r>
              <a:rPr sz="900" b="0" kern="0" spc="72" dirty="0" err="1">
                <a:solidFill>
                  <a:srgbClr val="333333"/>
                </a:solidFill>
                <a:latin typeface="Pretendard SemiBold"/>
                <a:cs typeface="Pretendard SemiBold"/>
              </a:rPr>
              <a:t>로직</a:t>
            </a:r>
            <a:r>
              <a:rPr sz="900" b="0" kern="0" spc="72" dirty="0">
                <a:solidFill>
                  <a:srgbClr val="333333"/>
                </a:solidFill>
                <a:latin typeface="Pretendard SemiBold"/>
                <a:cs typeface="Pretendard SemiBold"/>
              </a:rPr>
              <a:t> </a:t>
            </a:r>
            <a:r>
              <a:rPr sz="900" b="0" kern="0" spc="72" dirty="0" err="1">
                <a:solidFill>
                  <a:srgbClr val="333333"/>
                </a:solidFill>
                <a:latin typeface="Pretendard SemiBold"/>
                <a:cs typeface="Pretendard SemiBold"/>
              </a:rPr>
              <a:t>실물</a:t>
            </a:r>
            <a:r>
              <a:rPr sz="900" b="0" kern="0" spc="72" dirty="0">
                <a:solidFill>
                  <a:srgbClr val="333333"/>
                </a:solidFill>
                <a:latin typeface="Pretendard SemiBold"/>
                <a:cs typeface="Pretendard SemiBold"/>
              </a:rPr>
              <a:t> </a:t>
            </a:r>
            <a:r>
              <a:rPr sz="900" b="0" kern="0" spc="72" dirty="0" err="1">
                <a:solidFill>
                  <a:srgbClr val="333333"/>
                </a:solidFill>
                <a:latin typeface="Pretendard SemiBold"/>
                <a:cs typeface="Pretendard SemiBold"/>
              </a:rPr>
              <a:t>확인</a:t>
            </a:r>
            <a:endParaRPr sz="900" b="0" kern="0" spc="72" dirty="0">
              <a:solidFill>
                <a:srgbClr val="333333"/>
              </a:solidFill>
              <a:latin typeface="Pretendard SemiBold"/>
              <a:cs typeface="Pretendard SemiBold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8960644" y="5421630"/>
            <a:ext cx="2393156" cy="419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</a:pPr>
            <a:r>
              <a:rPr lang="en-US" sz="3300" b="1" kern="0" spc="-66" dirty="0">
                <a:solidFill>
                  <a:srgbClr val="0066CC"/>
                </a:solidFill>
                <a:latin typeface="Pretendard"/>
                <a:cs typeface="Pretendard"/>
              </a:rPr>
              <a:t>10</a:t>
            </a:r>
            <a:r>
              <a:rPr sz="3300" b="1" kern="0" spc="-66" dirty="0">
                <a:solidFill>
                  <a:srgbClr val="0066CC"/>
                </a:solidFill>
                <a:latin typeface="Pretendard"/>
                <a:cs typeface="Pretendard"/>
              </a:rPr>
              <a:t>회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960644" y="5878830"/>
            <a:ext cx="2393156" cy="342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3케이스 전부 정상 동작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600" y="476250"/>
            <a:ext cx="57150" cy="5715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3900" y="419100"/>
            <a:ext cx="10858500" cy="1714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75"/>
              </a:lnSpc>
              <a:spcAft>
                <a:spcPts val="0"/>
              </a:spcAft>
            </a:pPr>
            <a:r>
              <a:rPr sz="975" b="0" kern="0" spc="117">
                <a:solidFill>
                  <a:srgbClr val="333333"/>
                </a:solidFill>
                <a:latin typeface="Pretendard SemiBold"/>
                <a:cs typeface="Pretendard SemiBold"/>
              </a:rPr>
              <a:t>02 · 개발 환경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66750"/>
            <a:ext cx="10972800" cy="4381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3104"/>
              </a:lnSpc>
              <a:spcAft>
                <a:spcPts val="0"/>
              </a:spcAft>
            </a:pPr>
            <a:r>
              <a:rPr sz="2700" b="0" kern="0" spc="-54">
                <a:solidFill>
                  <a:srgbClr val="1D1D1F"/>
                </a:solidFill>
                <a:latin typeface="Pretendard SemiBold"/>
                <a:cs typeface="Pretendard SemiBold"/>
              </a:rPr>
              <a:t>네 개의 하드웨어 단위와 세 개의 전력 레일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52525"/>
            <a:ext cx="10972800" cy="2476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48"/>
              </a:lnSpc>
              <a:spcAft>
                <a:spcPts val="0"/>
              </a:spcAft>
            </a:pPr>
            <a:r>
              <a:rPr sz="1275" b="0" kern="0" spc="-13">
                <a:solidFill>
                  <a:srgbClr val="333333"/>
                </a:solidFill>
                <a:latin typeface="Pretendard"/>
                <a:cs typeface="Pretendard"/>
              </a:rPr>
              <a:t>RPi 5가 전체 흐름을 조율하고 두 개의 ESP32와 로봇팔이 주행·센싱·조치를 맡는다 — 전원은 배터리 하나에서 세 갈래로 나뉜다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504950"/>
            <a:ext cx="109728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55892" y="6505766"/>
            <a:ext cx="68580" cy="56578"/>
          </a:xfrm>
          <a:prstGeom prst="roundRect">
            <a:avLst>
              <a:gd name="adj" fmla="val 42424"/>
            </a:avLst>
          </a:prstGeom>
          <a:solidFill>
            <a:srgbClr val="1D1D1F"/>
          </a:solidFill>
          <a:ln w="4286">
            <a:solidFill>
              <a:srgbClr val="1D1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690181" y="6490335"/>
            <a:ext cx="0" cy="15431"/>
          </a:xfrm>
          <a:prstGeom prst="line">
            <a:avLst/>
          </a:prstGeom>
          <a:ln w="6000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84352" y="6481077"/>
            <a:ext cx="11659" cy="11659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1" name="Connector 10"/>
          <p:cNvCxnSpPr/>
          <p:nvPr/>
        </p:nvCxnSpPr>
        <p:spPr>
          <a:xfrm flipV="1">
            <a:off x="721042" y="6502336"/>
            <a:ext cx="27432" cy="17146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742474" y="6496336"/>
            <a:ext cx="12002" cy="12002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3" name="Connector 12"/>
          <p:cNvCxnSpPr/>
          <p:nvPr/>
        </p:nvCxnSpPr>
        <p:spPr>
          <a:xfrm>
            <a:off x="748474" y="6502336"/>
            <a:ext cx="12002" cy="24003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753275" y="6519139"/>
            <a:ext cx="14402" cy="14402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5" name="Connector 14"/>
          <p:cNvCxnSpPr/>
          <p:nvPr/>
        </p:nvCxnSpPr>
        <p:spPr>
          <a:xfrm flipV="1">
            <a:off x="760476" y="6516052"/>
            <a:ext cx="12002" cy="10287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0476" y="6526339"/>
            <a:ext cx="10287" cy="12002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63607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Oval 17"/>
          <p:cNvSpPr/>
          <p:nvPr/>
        </p:nvSpPr>
        <p:spPr>
          <a:xfrm>
            <a:off x="694468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Oval 18"/>
          <p:cNvSpPr/>
          <p:nvPr/>
        </p:nvSpPr>
        <p:spPr>
          <a:xfrm>
            <a:off x="679894" y="6517767"/>
            <a:ext cx="30861" cy="30861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Oval 19"/>
          <p:cNvSpPr/>
          <p:nvPr/>
        </p:nvSpPr>
        <p:spPr>
          <a:xfrm>
            <a:off x="696697" y="6525997"/>
            <a:ext cx="7544" cy="754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57250" y="6438900"/>
            <a:ext cx="4762500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825"/>
              </a:lnSpc>
              <a:spcAft>
                <a:spcPts val="0"/>
              </a:spcAft>
            </a:pPr>
            <a:r>
              <a:rPr sz="825" b="0" kern="0" spc="50">
                <a:solidFill>
                  <a:srgbClr val="7A7A7A"/>
                </a:solidFill>
                <a:latin typeface="Pretendard SemiBold"/>
                <a:cs typeface="Pretendard SemiBold"/>
              </a:rPr>
              <a:t>HazardBot 개발완료보고서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24900" y="6438900"/>
            <a:ext cx="2857500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825"/>
              </a:lnSpc>
              <a:spcAft>
                <a:spcPts val="0"/>
              </a:spcAft>
            </a:pPr>
            <a:r>
              <a:rPr sz="825" b="0" kern="0" spc="50">
                <a:solidFill>
                  <a:srgbClr val="7A7A7A"/>
                </a:solidFill>
                <a:latin typeface="Pretendard SemiBold"/>
                <a:cs typeface="Pretendard SemiBold"/>
              </a:rPr>
              <a:t>06 / 20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1676400"/>
            <a:ext cx="2571750" cy="2400300"/>
          </a:xfrm>
          <a:prstGeom prst="roundRect">
            <a:avLst>
              <a:gd name="adj" fmla="val 2380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8200" y="1905000"/>
            <a:ext cx="2114550" cy="1428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sz="900" b="0" kern="0" spc="72">
                <a:solidFill>
                  <a:srgbClr val="333333"/>
                </a:solidFill>
                <a:latin typeface="Pretendard SemiBold"/>
                <a:cs typeface="Pretendard SemiBold"/>
              </a:rPr>
              <a:t>오케스트레이션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200" y="2162175"/>
            <a:ext cx="211455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923"/>
              </a:lnSpc>
              <a:spcAft>
                <a:spcPts val="0"/>
              </a:spcAft>
            </a:pPr>
            <a:r>
              <a:rPr sz="1425" b="0" kern="0" spc="-21">
                <a:solidFill>
                  <a:srgbClr val="1D1D1F"/>
                </a:solidFill>
                <a:latin typeface="Pretendard SemiBold"/>
                <a:cs typeface="Pretendard SemiBold"/>
              </a:rPr>
              <a:t>RPi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2562225"/>
            <a:ext cx="2114550" cy="42227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ROS2 노드 조율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판정부터 조치까지 관리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8200" y="2984500"/>
            <a:ext cx="211455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38200" y="2994025"/>
            <a:ext cx="2114550" cy="42227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카메라 물체 인식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색상 · 방위각 산출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8200" y="3416300"/>
            <a:ext cx="211455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38200" y="3425825"/>
            <a:ext cx="2114550" cy="42227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대시보드 웹서버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hazardbot.local:8080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09950" y="1676400"/>
            <a:ext cx="2571750" cy="2400300"/>
          </a:xfrm>
          <a:prstGeom prst="roundRect">
            <a:avLst>
              <a:gd name="adj" fmla="val 2380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638550" y="1905000"/>
            <a:ext cx="2114550" cy="1428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sz="900" b="0" kern="0" spc="72">
                <a:solidFill>
                  <a:srgbClr val="333333"/>
                </a:solidFill>
                <a:latin typeface="Pretendard SemiBold"/>
                <a:cs typeface="Pretendard SemiBold"/>
              </a:rPr>
              <a:t>주행 · 안전 판단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38550" y="2162175"/>
            <a:ext cx="211455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923"/>
              </a:lnSpc>
              <a:spcAft>
                <a:spcPts val="0"/>
              </a:spcAft>
            </a:pPr>
            <a:r>
              <a:rPr sz="1425" b="0" kern="0" spc="-21">
                <a:solidFill>
                  <a:srgbClr val="1D1D1F"/>
                </a:solidFill>
                <a:latin typeface="Pretendard SemiBold"/>
                <a:cs typeface="Pretendard SemiBold"/>
              </a:rPr>
              <a:t>ESP_Drive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38550" y="2562225"/>
            <a:ext cx="2114550" cy="42227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TB6612FNG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듀얼 H-브리지 모터 제어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38550" y="2984500"/>
            <a:ext cx="211455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638550" y="2994025"/>
            <a:ext cx="2114550" cy="42227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안전 우선순위 판단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위험 순위대로 정지 처리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38550" y="3416300"/>
            <a:ext cx="211455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638550" y="3425825"/>
            <a:ext cx="2114550" cy="42227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라인 · 거리 센싱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TCRT5000 · VL53L1X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0300" y="1676400"/>
            <a:ext cx="2571750" cy="2400300"/>
          </a:xfrm>
          <a:prstGeom prst="roundRect">
            <a:avLst>
              <a:gd name="adj" fmla="val 2380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438900" y="1905000"/>
            <a:ext cx="2114550" cy="1428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sz="900" b="0" kern="0" spc="72">
                <a:solidFill>
                  <a:srgbClr val="333333"/>
                </a:solidFill>
                <a:latin typeface="Pretendard SemiBold"/>
                <a:cs typeface="Pretendard SemiBold"/>
              </a:rPr>
              <a:t>가스 · 화염 센싱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38900" y="2162175"/>
            <a:ext cx="211455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923"/>
              </a:lnSpc>
              <a:spcAft>
                <a:spcPts val="0"/>
              </a:spcAft>
            </a:pPr>
            <a:r>
              <a:rPr sz="1425" b="0" kern="0" spc="-21">
                <a:solidFill>
                  <a:srgbClr val="1D1D1F"/>
                </a:solidFill>
                <a:latin typeface="Pretendard SemiBold"/>
                <a:cs typeface="Pretendard SemiBold"/>
              </a:rPr>
              <a:t>ESP_Env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38900" y="2562225"/>
            <a:ext cx="2114550" cy="42227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MQ-2 가스센서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원시값 샘플링 · 화염 병행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38900" y="2984500"/>
            <a:ext cx="211455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438900" y="2994025"/>
            <a:ext cx="2114550" cy="42227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3초 정밀검사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요청 시 집중 샘플링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38900" y="3416300"/>
            <a:ext cx="211455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438900" y="3425825"/>
            <a:ext cx="2114550" cy="42227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판정 결과 전달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DETECTED · CLEAR · ERROR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010650" y="1676400"/>
            <a:ext cx="2571750" cy="2400300"/>
          </a:xfrm>
          <a:prstGeom prst="roundRect">
            <a:avLst>
              <a:gd name="adj" fmla="val 2380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239250" y="1905000"/>
            <a:ext cx="2114550" cy="1428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sz="900" b="0" kern="0" spc="72">
                <a:solidFill>
                  <a:srgbClr val="333333"/>
                </a:solidFill>
                <a:latin typeface="Pretendard SemiBold"/>
                <a:cs typeface="Pretendard SemiBold"/>
              </a:rPr>
              <a:t>초동 조치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250" y="2162175"/>
            <a:ext cx="211455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923"/>
              </a:lnSpc>
              <a:spcAft>
                <a:spcPts val="0"/>
              </a:spcAft>
            </a:pPr>
            <a:r>
              <a:rPr sz="1425" b="0" kern="0" spc="-21">
                <a:solidFill>
                  <a:srgbClr val="1D1D1F"/>
                </a:solidFill>
                <a:latin typeface="Pretendard SemiBold"/>
                <a:cs typeface="Pretendard SemiBold"/>
              </a:rPr>
              <a:t>SO-101 로봇팔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9250" y="2562225"/>
            <a:ext cx="2114550" cy="42227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리더 - 팔로워 구조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시연을 관절값으로 수집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239250" y="2984500"/>
            <a:ext cx="211455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239250" y="2994025"/>
            <a:ext cx="2114550" cy="42227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ACT 정책 제어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학습된 정책으로 파지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239250" y="3416300"/>
            <a:ext cx="211455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9239250" y="3425825"/>
            <a:ext cx="2114550" cy="42227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노트북 GPU 추론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RTX 4060 · COM3 직결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09600" y="4305300"/>
            <a:ext cx="10972800" cy="2019300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914400" y="4533900"/>
            <a:ext cx="6667500" cy="17907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sz="900" b="0" kern="0" spc="72">
                <a:solidFill>
                  <a:srgbClr val="333333"/>
                </a:solidFill>
                <a:latin typeface="Pretendard SemiBold"/>
                <a:cs typeface="Pretendard SemiBold"/>
              </a:rPr>
              <a:t>전력 계통 — 3S LiPo 11.1V · 2200mAh 에서 세 개 레일로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14400" y="4819650"/>
            <a:ext cx="1600200" cy="685800"/>
          </a:xfrm>
          <a:prstGeom prst="roundRect">
            <a:avLst>
              <a:gd name="adj" fmla="val 8333"/>
            </a:avLst>
          </a:prstGeom>
          <a:solidFill>
            <a:srgbClr val="F5F5F7"/>
          </a:solidFill>
          <a:ln w="14287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990600" y="4895850"/>
            <a:ext cx="1447800" cy="5334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ts val="1413"/>
              </a:lnSpc>
              <a:spcAft>
                <a:spcPts val="0"/>
              </a:spcAft>
            </a:pPr>
            <a:r>
              <a:rPr sz="975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3S LiPo 배터리</a:t>
            </a:r>
          </a:p>
          <a:p>
            <a:pPr algn="ctr">
              <a:lnSpc>
                <a:spcPts val="1259"/>
              </a:lnSpc>
              <a:spcBef>
                <a:spcPts val="300"/>
              </a:spcBef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11.1V · 2200mAh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514600" y="5162550"/>
            <a:ext cx="209550" cy="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2743200" y="4972050"/>
            <a:ext cx="1333500" cy="381000"/>
          </a:xfrm>
          <a:prstGeom prst="roundRect">
            <a:avLst>
              <a:gd name="adj" fmla="val 15000"/>
            </a:avLst>
          </a:prstGeom>
          <a:solidFill>
            <a:srgbClr val="F5F5F7"/>
          </a:solidFill>
          <a:ln w="14287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2800350" y="5048250"/>
            <a:ext cx="12192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ts val="1305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XT60 1to3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4076700" y="5162550"/>
            <a:ext cx="190500" cy="0"/>
          </a:xfrm>
          <a:prstGeom prst="line">
            <a:avLst/>
          </a:prstGeom>
          <a:ln w="14287" cap="rnd">
            <a:solidFill>
              <a:srgbClr val="7A7A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4267200" y="4914900"/>
            <a:ext cx="0" cy="876300"/>
          </a:xfrm>
          <a:prstGeom prst="line">
            <a:avLst/>
          </a:prstGeom>
          <a:ln w="14287" cap="rnd">
            <a:solidFill>
              <a:srgbClr val="7A7A7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4267200" y="4914900"/>
            <a:ext cx="171450" cy="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4457700" y="4724400"/>
            <a:ext cx="3048000" cy="381000"/>
          </a:xfrm>
          <a:prstGeom prst="roundRect">
            <a:avLst>
              <a:gd name="adj" fmla="val 15000"/>
            </a:avLst>
          </a:prstGeom>
          <a:solidFill>
            <a:srgbClr val="F5F5F7"/>
          </a:solidFill>
          <a:ln w="14287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572000" y="4800600"/>
            <a:ext cx="28194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305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12V — 팔로워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62500" y="4724400"/>
            <a:ext cx="2667000" cy="381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155"/>
              </a:lnSpc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로봇팔 서보 6개 전용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505700" y="4914900"/>
            <a:ext cx="171450" cy="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7696200" y="4724400"/>
            <a:ext cx="3581400" cy="381000"/>
          </a:xfrm>
          <a:prstGeom prst="roundRect">
            <a:avLst>
              <a:gd name="adj" fmla="val 15000"/>
            </a:avLst>
          </a:prstGeom>
          <a:solidFill>
            <a:srgbClr val="F5F5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7848600" y="4724400"/>
            <a:ext cx="3276600" cy="381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"/>
                <a:cs typeface="Pretendard"/>
              </a:rPr>
              <a:t>SO-101 팔로워 암 · 6축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4267200" y="5353050"/>
            <a:ext cx="171450" cy="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ounded Rectangle 71"/>
          <p:cNvSpPr/>
          <p:nvPr/>
        </p:nvSpPr>
        <p:spPr>
          <a:xfrm>
            <a:off x="4457700" y="5162550"/>
            <a:ext cx="3048000" cy="381000"/>
          </a:xfrm>
          <a:prstGeom prst="roundRect">
            <a:avLst>
              <a:gd name="adj" fmla="val 15000"/>
            </a:avLst>
          </a:prstGeom>
          <a:solidFill>
            <a:srgbClr val="EBF3FB"/>
          </a:solidFill>
          <a:ln w="14287">
            <a:solidFill>
              <a:srgbClr val="007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4572000" y="5238750"/>
            <a:ext cx="28194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305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5V_RPi — XL4016 단독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762500" y="5162550"/>
            <a:ext cx="2667000" cy="381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155"/>
              </a:lnSpc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RPi 5 전용 레일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7505700" y="5353050"/>
            <a:ext cx="171450" cy="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ounded Rectangle 75"/>
          <p:cNvSpPr/>
          <p:nvPr/>
        </p:nvSpPr>
        <p:spPr>
          <a:xfrm>
            <a:off x="7696200" y="5162550"/>
            <a:ext cx="3581400" cy="381000"/>
          </a:xfrm>
          <a:prstGeom prst="roundRect">
            <a:avLst>
              <a:gd name="adj" fmla="val 15000"/>
            </a:avLst>
          </a:prstGeom>
          <a:solidFill>
            <a:srgbClr val="F5F5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7848600" y="5162550"/>
            <a:ext cx="3276600" cy="381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"/>
                <a:cs typeface="Pretendard"/>
              </a:rPr>
              <a:t>RPi 5 · ROS2 · 카메라 · 대시보드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4267200" y="5791200"/>
            <a:ext cx="171450" cy="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ounded Rectangle 78"/>
          <p:cNvSpPr/>
          <p:nvPr/>
        </p:nvSpPr>
        <p:spPr>
          <a:xfrm>
            <a:off x="4457700" y="5600700"/>
            <a:ext cx="3048000" cy="381000"/>
          </a:xfrm>
          <a:prstGeom prst="roundRect">
            <a:avLst>
              <a:gd name="adj" fmla="val 15000"/>
            </a:avLst>
          </a:prstGeom>
          <a:solidFill>
            <a:srgbClr val="F5F5F7"/>
          </a:solidFill>
          <a:ln w="14287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4572000" y="5676900"/>
            <a:ext cx="2819400" cy="228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305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12V 주행 + 5V_ESP — XL4015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762500" y="5600700"/>
            <a:ext cx="2667000" cy="381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155"/>
              </a:lnSpc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주행 및 센서 계통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7505700" y="5791200"/>
            <a:ext cx="171450" cy="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ounded Rectangle 82"/>
          <p:cNvSpPr/>
          <p:nvPr/>
        </p:nvSpPr>
        <p:spPr>
          <a:xfrm>
            <a:off x="7696200" y="5600700"/>
            <a:ext cx="3581400" cy="381000"/>
          </a:xfrm>
          <a:prstGeom prst="roundRect">
            <a:avLst>
              <a:gd name="adj" fmla="val 15000"/>
            </a:avLst>
          </a:prstGeom>
          <a:solidFill>
            <a:srgbClr val="F5F5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7848600" y="5600700"/>
            <a:ext cx="3276600" cy="381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"/>
                <a:cs typeface="Pretendard"/>
              </a:rPr>
              <a:t>TB6612 · ESP_Drive · ESP_Env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14400" y="6076950"/>
            <a:ext cx="10363200" cy="16573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825" b="0" kern="0" spc="0">
                <a:solidFill>
                  <a:srgbClr val="7A7A7A"/>
                </a:solidFill>
                <a:latin typeface="Pretendard"/>
                <a:cs typeface="Pretendard"/>
              </a:rPr>
              <a:t>MQ-2 는 히터가 상시 330mA를 끌어 DRIVE 5V 를 흔들기 때문에 ESP_Env 5V/VIN 에서 따로 급전한다 · ESP 보드 전원선은 진동 이탈을 막으려 VCC/GND 직납땜 (16p)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600" y="476250"/>
            <a:ext cx="57150" cy="5715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3900" y="419100"/>
            <a:ext cx="10858500" cy="1714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75"/>
              </a:lnSpc>
              <a:spcAft>
                <a:spcPts val="0"/>
              </a:spcAft>
            </a:pPr>
            <a:r>
              <a:rPr sz="975" b="0" kern="0" spc="117">
                <a:solidFill>
                  <a:srgbClr val="333333"/>
                </a:solidFill>
                <a:latin typeface="Pretendard SemiBold"/>
                <a:cs typeface="Pretendard SemiBold"/>
              </a:rPr>
              <a:t>02 · 개발 환경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66750"/>
            <a:ext cx="10972800" cy="4381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3104"/>
              </a:lnSpc>
              <a:spcAft>
                <a:spcPts val="0"/>
              </a:spcAft>
            </a:pPr>
            <a:r>
              <a:rPr sz="2700" b="0" kern="0" spc="-54">
                <a:solidFill>
                  <a:srgbClr val="1D1D1F"/>
                </a:solidFill>
                <a:latin typeface="Pretendard SemiBold"/>
                <a:cs typeface="Pretendard SemiBold"/>
              </a:rPr>
              <a:t>개발 환경과 활용한 오픈소스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52525"/>
            <a:ext cx="10972800" cy="2476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48"/>
              </a:lnSpc>
              <a:spcAft>
                <a:spcPts val="0"/>
              </a:spcAft>
            </a:pPr>
            <a:r>
              <a:rPr sz="1275" b="0" kern="0" spc="-13">
                <a:solidFill>
                  <a:srgbClr val="333333"/>
                </a:solidFill>
                <a:latin typeface="Pretendard"/>
                <a:cs typeface="Pretendard"/>
              </a:rPr>
              <a:t>규정 제10조 ③에 따라, 기존 소프트웨어의 출처와 우리가 바꾸거나 더한 것을 함께 밝힌다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504950"/>
            <a:ext cx="109728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55892" y="6505766"/>
            <a:ext cx="68580" cy="56578"/>
          </a:xfrm>
          <a:prstGeom prst="roundRect">
            <a:avLst>
              <a:gd name="adj" fmla="val 42424"/>
            </a:avLst>
          </a:prstGeom>
          <a:solidFill>
            <a:srgbClr val="1D1D1F"/>
          </a:solidFill>
          <a:ln w="4286">
            <a:solidFill>
              <a:srgbClr val="1D1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690181" y="6490335"/>
            <a:ext cx="0" cy="15431"/>
          </a:xfrm>
          <a:prstGeom prst="line">
            <a:avLst/>
          </a:prstGeom>
          <a:ln w="6000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84352" y="6481077"/>
            <a:ext cx="11659" cy="11659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1" name="Connector 10"/>
          <p:cNvCxnSpPr/>
          <p:nvPr/>
        </p:nvCxnSpPr>
        <p:spPr>
          <a:xfrm flipV="1">
            <a:off x="721042" y="6502336"/>
            <a:ext cx="27432" cy="17146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742474" y="6496336"/>
            <a:ext cx="12002" cy="12002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3" name="Connector 12"/>
          <p:cNvCxnSpPr/>
          <p:nvPr/>
        </p:nvCxnSpPr>
        <p:spPr>
          <a:xfrm>
            <a:off x="748474" y="6502336"/>
            <a:ext cx="12002" cy="24003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753275" y="6519139"/>
            <a:ext cx="14402" cy="14402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5" name="Connector 14"/>
          <p:cNvCxnSpPr/>
          <p:nvPr/>
        </p:nvCxnSpPr>
        <p:spPr>
          <a:xfrm flipV="1">
            <a:off x="760476" y="6516052"/>
            <a:ext cx="12002" cy="10287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0476" y="6526339"/>
            <a:ext cx="10287" cy="12002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63607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Oval 17"/>
          <p:cNvSpPr/>
          <p:nvPr/>
        </p:nvSpPr>
        <p:spPr>
          <a:xfrm>
            <a:off x="694468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Oval 18"/>
          <p:cNvSpPr/>
          <p:nvPr/>
        </p:nvSpPr>
        <p:spPr>
          <a:xfrm>
            <a:off x="679894" y="6517767"/>
            <a:ext cx="30861" cy="30861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Oval 19"/>
          <p:cNvSpPr/>
          <p:nvPr/>
        </p:nvSpPr>
        <p:spPr>
          <a:xfrm>
            <a:off x="696697" y="6525997"/>
            <a:ext cx="7544" cy="754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57250" y="6438900"/>
            <a:ext cx="4762500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825"/>
              </a:lnSpc>
              <a:spcAft>
                <a:spcPts val="0"/>
              </a:spcAft>
            </a:pPr>
            <a:r>
              <a:rPr sz="825" b="0" kern="0" spc="50">
                <a:solidFill>
                  <a:srgbClr val="7A7A7A"/>
                </a:solidFill>
                <a:latin typeface="Pretendard SemiBold"/>
                <a:cs typeface="Pretendard SemiBold"/>
              </a:rPr>
              <a:t>HazardBot 개발완료보고서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24900" y="6438900"/>
            <a:ext cx="2857500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825"/>
              </a:lnSpc>
              <a:spcAft>
                <a:spcPts val="0"/>
              </a:spcAft>
            </a:pPr>
            <a:r>
              <a:rPr sz="825" b="0" kern="0" spc="50">
                <a:solidFill>
                  <a:srgbClr val="7A7A7A"/>
                </a:solidFill>
                <a:latin typeface="Pretendard SemiBold"/>
                <a:cs typeface="Pretendard SemiBold"/>
              </a:rPr>
              <a:t>07 / 20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1676400"/>
            <a:ext cx="10972800" cy="182880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1905000"/>
            <a:ext cx="6667500" cy="17907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sz="900" b="0" kern="0" spc="72">
                <a:solidFill>
                  <a:srgbClr val="333333"/>
                </a:solidFill>
                <a:latin typeface="Pretendard SemiBold"/>
                <a:cs typeface="Pretendard SemiBold"/>
              </a:rPr>
              <a:t>개발 환경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2076450"/>
            <a:ext cx="1104900" cy="3429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중앙 제어기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95500" y="2076450"/>
            <a:ext cx="3886200" cy="3429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"/>
                <a:cs typeface="Pretendard"/>
              </a:rPr>
              <a:t>Raspberry Pi 5 · Ubuntu 24.04 LTS</a:t>
            </a:r>
          </a:p>
          <a:p>
            <a:pPr algn="l">
              <a:lnSpc>
                <a:spcPts val="1155"/>
              </a:lnSpc>
              <a:spcBef>
                <a:spcPts val="150"/>
              </a:spcBef>
              <a:spcAft>
                <a:spcPts val="0"/>
              </a:spcAft>
            </a:pPr>
            <a:r>
              <a:rPr sz="825" b="0" kern="0" spc="0">
                <a:solidFill>
                  <a:srgbClr val="7A7A7A"/>
                </a:solidFill>
                <a:latin typeface="Pretendard"/>
                <a:cs typeface="Pretendard"/>
              </a:rPr>
              <a:t>ROS 2 Jazzy · Python 3.12 (rclpy)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0300" y="2076450"/>
            <a:ext cx="1104900" cy="3429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학습 · 추론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91400" y="2076450"/>
            <a:ext cx="3886200" cy="3429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"/>
                <a:cs typeface="Pretendard"/>
              </a:rPr>
              <a:t>Windows 11 노트북 · RTX 4060 (8GB)</a:t>
            </a:r>
          </a:p>
          <a:p>
            <a:pPr algn="l">
              <a:lnSpc>
                <a:spcPts val="1155"/>
              </a:lnSpc>
              <a:spcBef>
                <a:spcPts val="150"/>
              </a:spcBef>
              <a:spcAft>
                <a:spcPts val="0"/>
              </a:spcAft>
            </a:pPr>
            <a:r>
              <a:rPr sz="825" b="0" kern="0" spc="0">
                <a:solidFill>
                  <a:srgbClr val="7A7A7A"/>
                </a:solidFill>
                <a:latin typeface="Pretendard"/>
                <a:cs typeface="Pretendard"/>
              </a:rPr>
              <a:t>miniconda 환경 lerobot · Python 3.10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2409825"/>
            <a:ext cx="50673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14400" y="2419350"/>
            <a:ext cx="1104900" cy="3429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로봇팔 스택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95500" y="2419350"/>
            <a:ext cx="3886200" cy="3429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"/>
                <a:cs typeface="Pretendard"/>
              </a:rPr>
              <a:t>LeRobot 0.4.4 · PyTorch (CUDA)</a:t>
            </a:r>
          </a:p>
          <a:p>
            <a:pPr algn="l">
              <a:lnSpc>
                <a:spcPts val="1155"/>
              </a:lnSpc>
              <a:spcBef>
                <a:spcPts val="150"/>
              </a:spcBef>
              <a:spcAft>
                <a:spcPts val="0"/>
              </a:spcAft>
            </a:pPr>
            <a:r>
              <a:rPr sz="825" b="0" kern="0" spc="0">
                <a:solidFill>
                  <a:srgbClr val="7A7A7A"/>
                </a:solidFill>
                <a:latin typeface="Pretendard"/>
                <a:cs typeface="Pretendard"/>
              </a:rPr>
              <a:t>SCServo 라이브러리 · CP210x USB 시리얼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0300" y="2409825"/>
            <a:ext cx="50673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210300" y="2419350"/>
            <a:ext cx="1104900" cy="3429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임베디드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1400" y="2419350"/>
            <a:ext cx="3886200" cy="3429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"/>
                <a:cs typeface="Pretendard"/>
              </a:rPr>
              <a:t>ESP32 × 2 · Arduino 스케치(.ino)</a:t>
            </a:r>
          </a:p>
          <a:p>
            <a:pPr algn="l">
              <a:lnSpc>
                <a:spcPts val="1155"/>
              </a:lnSpc>
              <a:spcBef>
                <a:spcPts val="150"/>
              </a:spcBef>
              <a:spcAft>
                <a:spcPts val="0"/>
              </a:spcAft>
            </a:pPr>
            <a:r>
              <a:rPr sz="825" b="0" kern="0" spc="0">
                <a:solidFill>
                  <a:srgbClr val="7A7A7A"/>
                </a:solidFill>
                <a:latin typeface="Pretendard"/>
                <a:cs typeface="Pretendard"/>
              </a:rPr>
              <a:t>OTA 업로드 · TB6612FNG · MQ-2 · VL53L1X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2752725"/>
            <a:ext cx="50673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14400" y="2762250"/>
            <a:ext cx="1104900" cy="3429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비전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95500" y="2762250"/>
            <a:ext cx="3886200" cy="3429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"/>
                <a:cs typeface="Pretendard"/>
              </a:rPr>
              <a:t>libcamera · OpenCV · cv_bridge</a:t>
            </a:r>
          </a:p>
          <a:p>
            <a:pPr algn="l">
              <a:lnSpc>
                <a:spcPts val="1155"/>
              </a:lnSpc>
              <a:spcBef>
                <a:spcPts val="150"/>
              </a:spcBef>
              <a:spcAft>
                <a:spcPts val="0"/>
              </a:spcAft>
            </a:pPr>
            <a:r>
              <a:rPr sz="825" b="0" kern="0" spc="0">
                <a:solidFill>
                  <a:srgbClr val="7A7A7A"/>
                </a:solidFill>
                <a:latin typeface="Pretendard"/>
                <a:cs typeface="Pretendard"/>
              </a:rPr>
              <a:t>정지 지점 색상 · 방위각 산출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0300" y="2752725"/>
            <a:ext cx="50673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210300" y="2762250"/>
            <a:ext cx="1104900" cy="3429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대시보드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91400" y="2762250"/>
            <a:ext cx="3886200" cy="3429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"/>
                <a:cs typeface="Pretendard"/>
              </a:rPr>
              <a:t>Flask · Flask-SocketIO</a:t>
            </a:r>
          </a:p>
          <a:p>
            <a:pPr algn="l">
              <a:lnSpc>
                <a:spcPts val="1155"/>
              </a:lnSpc>
              <a:spcBef>
                <a:spcPts val="150"/>
              </a:spcBef>
              <a:spcAft>
                <a:spcPts val="0"/>
              </a:spcAft>
            </a:pPr>
            <a:r>
              <a:rPr sz="825" b="0" kern="0" spc="0">
                <a:solidFill>
                  <a:srgbClr val="7A7A7A"/>
                </a:solidFill>
                <a:latin typeface="Pretendard"/>
                <a:cs typeface="Pretendard"/>
              </a:rPr>
              <a:t>RPi 호스팅 · hazardbot.local:8080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" y="3095625"/>
            <a:ext cx="50673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14400" y="3105150"/>
            <a:ext cx="1104900" cy="3429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형상관리 · CI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95500" y="3105150"/>
            <a:ext cx="3886200" cy="3429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"/>
                <a:cs typeface="Pretendard"/>
              </a:rPr>
              <a:t>GitHub · GitHub Actions 2종</a:t>
            </a:r>
          </a:p>
          <a:p>
            <a:pPr algn="l">
              <a:lnSpc>
                <a:spcPts val="1155"/>
              </a:lnSpc>
              <a:spcBef>
                <a:spcPts val="150"/>
              </a:spcBef>
              <a:spcAft>
                <a:spcPts val="0"/>
              </a:spcAft>
            </a:pPr>
            <a:r>
              <a:rPr sz="825" b="0" kern="0" spc="0">
                <a:solidFill>
                  <a:srgbClr val="7A7A7A"/>
                </a:solidFill>
                <a:latin typeface="Pretendard"/>
                <a:cs typeface="Pretendard"/>
              </a:rPr>
              <a:t>Arduino 컴파일 / colcon build (Jazzy)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0300" y="3095625"/>
            <a:ext cx="50673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210300" y="3105150"/>
            <a:ext cx="1104900" cy="3429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3D 제작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91400" y="3105150"/>
            <a:ext cx="3886200" cy="3429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"/>
                <a:cs typeface="Pretendard"/>
              </a:rPr>
              <a:t>STEP · STL · 3mf 자체 모델링</a:t>
            </a:r>
          </a:p>
          <a:p>
            <a:pPr algn="l">
              <a:lnSpc>
                <a:spcPts val="1155"/>
              </a:lnSpc>
              <a:spcBef>
                <a:spcPts val="150"/>
              </a:spcBef>
              <a:spcAft>
                <a:spcPts val="0"/>
              </a:spcAft>
            </a:pPr>
            <a:r>
              <a:rPr sz="825" b="0" kern="0" spc="0">
                <a:solidFill>
                  <a:srgbClr val="7A7A7A"/>
                </a:solidFill>
                <a:latin typeface="Pretendard"/>
                <a:cs typeface="Pretendard"/>
              </a:rPr>
              <a:t>PLA 출력 — 섀시 어댑터 · 카메라 프레임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9600" y="3733800"/>
            <a:ext cx="10972800" cy="2362200"/>
          </a:xfrm>
          <a:prstGeom prst="roundRect">
            <a:avLst>
              <a:gd name="adj" fmla="val 2419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14400" y="3962400"/>
            <a:ext cx="8572500" cy="17907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sz="900" b="0" kern="0" spc="72">
                <a:solidFill>
                  <a:srgbClr val="333333"/>
                </a:solidFill>
                <a:latin typeface="Pretendard SemiBold"/>
                <a:cs typeface="Pretendard SemiBold"/>
              </a:rPr>
              <a:t>활용한 오픈소스 — 출처 · 라이선스 · 우리가 바꾸거나 더한 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4229100"/>
            <a:ext cx="2286000" cy="1428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989"/>
              </a:lnSpc>
              <a:spcAft>
                <a:spcPts val="0"/>
              </a:spcAft>
            </a:pPr>
            <a:r>
              <a:rPr sz="825" b="0" kern="0" spc="50">
                <a:solidFill>
                  <a:srgbClr val="7A7A7A"/>
                </a:solidFill>
                <a:latin typeface="Pretendard SemiBold"/>
                <a:cs typeface="Pretendard SemiBold"/>
              </a:rPr>
              <a:t>오픈소스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14700" y="4229100"/>
            <a:ext cx="1104900" cy="1428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989"/>
              </a:lnSpc>
              <a:spcAft>
                <a:spcPts val="0"/>
              </a:spcAft>
            </a:pPr>
            <a:r>
              <a:rPr sz="825" b="0" kern="0" spc="50">
                <a:solidFill>
                  <a:srgbClr val="7A7A7A"/>
                </a:solidFill>
                <a:latin typeface="Pretendard SemiBold"/>
                <a:cs typeface="Pretendard SemiBold"/>
              </a:rPr>
              <a:t>라이선스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33900" y="4229100"/>
            <a:ext cx="6743700" cy="1428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989"/>
              </a:lnSpc>
              <a:spcAft>
                <a:spcPts val="0"/>
              </a:spcAft>
            </a:pPr>
            <a:r>
              <a:rPr sz="825" b="0" kern="0" spc="50">
                <a:solidFill>
                  <a:srgbClr val="7A7A7A"/>
                </a:solidFill>
                <a:latin typeface="Pretendard SemiBold"/>
                <a:cs typeface="Pretendard SemiBold"/>
              </a:rPr>
              <a:t>개선점 · 추가한 것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14400" y="4438650"/>
            <a:ext cx="103632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914400" y="4495800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ROS 2 Jazzy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314700" y="4495800"/>
            <a:ext cx="1104900" cy="3200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825" b="0" kern="0" spc="0">
                <a:solidFill>
                  <a:srgbClr val="7A7A7A"/>
                </a:solidFill>
                <a:latin typeface="Pretendard"/>
                <a:cs typeface="Pretendard"/>
              </a:rPr>
              <a:t>Apache-2.0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33900" y="4495800"/>
            <a:ext cx="6743700" cy="3200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196"/>
              </a:lnSpc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미션 통합 레이어로 자체 패키지 8종을 새로 작성했다.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14400" y="4811078"/>
            <a:ext cx="103632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914400" y="4815840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LeRobot 0.4.4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14700" y="4815840"/>
            <a:ext cx="1104900" cy="3200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825" b="0" kern="0" spc="0">
                <a:solidFill>
                  <a:srgbClr val="7A7A7A"/>
                </a:solidFill>
                <a:latin typeface="Pretendard"/>
                <a:cs typeface="Pretendard"/>
              </a:rPr>
              <a:t>Apache-2.0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33900" y="4815840"/>
            <a:ext cx="6743700" cy="3200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196"/>
              </a:lnSpc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표준 record 는 에피소드 사이 리더암 조작을 요구해 무인 롤아웃이 안 된다. 「에피소드 1회 = 프로세스 1회」 패치 러너로 재구성하고, HuggingFace 자동 업로드 기본값을 차단했다.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14400" y="5131118"/>
            <a:ext cx="103632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914400" y="5135880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ACT (Action Chunking Transformer)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314700" y="5135880"/>
            <a:ext cx="1104900" cy="3200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825" b="0" kern="0" spc="0">
                <a:solidFill>
                  <a:srgbClr val="7A7A7A"/>
                </a:solidFill>
                <a:latin typeface="Pretendard"/>
                <a:cs typeface="Pretendard"/>
              </a:rPr>
              <a:t>논문 구현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533900" y="5135880"/>
            <a:ext cx="6743700" cy="3200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196"/>
              </a:lnSpc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파지 → 격리함 투입 → 뚜껑 닫기를 단일 에피소드 태스크로 재정의해 100 에피소드를 자체 수집·학습했다.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14400" y="5451158"/>
            <a:ext cx="103632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914400" y="5455920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SO-ARM101 · lerobot-calibrate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314700" y="5455920"/>
            <a:ext cx="1104900" cy="3200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825" b="0" kern="0" spc="0">
                <a:solidFill>
                  <a:srgbClr val="7A7A7A"/>
                </a:solidFill>
                <a:latin typeface="Pretendard"/>
                <a:cs typeface="Pretendard"/>
              </a:rPr>
              <a:t>Apache-2.0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33900" y="5455920"/>
            <a:ext cx="6743700" cy="3200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196"/>
              </a:lnSpc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원본이 테이블 클램프 설계라 2WD 섀시 어댑터를 v2까지 자체 모델링했고, 표준 캘리브레이션이 못 잡는 축을 위해 전용 도구를 직접 만들었다.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14400" y="5771198"/>
            <a:ext cx="103632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914400" y="5775960"/>
            <a:ext cx="2286000" cy="3200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Flask · Flask-SocketIO · OpenCV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314700" y="5775960"/>
            <a:ext cx="1104900" cy="32004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825" b="0" kern="0" spc="0">
                <a:solidFill>
                  <a:srgbClr val="7A7A7A"/>
                </a:solidFill>
                <a:latin typeface="Pretendard"/>
                <a:cs typeface="Pretendard"/>
              </a:rPr>
              <a:t>BSD · Apache-2.0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533900" y="5775960"/>
            <a:ext cx="6743700" cy="3200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196"/>
              </a:lnSpc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실시간 판정 대시보드를 새로 구현했다.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" y="6172200"/>
            <a:ext cx="10363200" cy="16573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825" b="0" kern="0" spc="0">
                <a:solidFill>
                  <a:srgbClr val="7A7A7A"/>
                </a:solidFill>
                <a:latin typeface="Pretendard"/>
                <a:cs typeface="Pretendard"/>
              </a:rPr>
              <a:t>본 보고서 서체는 Pretendard (SIL OFL 1.1), 이미지는 전부 자체 촬영·자체 제작이다.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600" y="476250"/>
            <a:ext cx="57150" cy="5715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3900" y="419100"/>
            <a:ext cx="10858500" cy="1714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75"/>
              </a:lnSpc>
              <a:spcAft>
                <a:spcPts val="0"/>
              </a:spcAft>
            </a:pPr>
            <a:r>
              <a:rPr sz="975" b="0" kern="0" spc="117">
                <a:solidFill>
                  <a:srgbClr val="333333"/>
                </a:solidFill>
                <a:latin typeface="Pretendard SemiBold"/>
                <a:cs typeface="Pretendard SemiBold"/>
              </a:rPr>
              <a:t>02 · 개발 환경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66750"/>
            <a:ext cx="10972800" cy="4381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3104"/>
              </a:lnSpc>
              <a:spcAft>
                <a:spcPts val="0"/>
              </a:spcAft>
            </a:pPr>
            <a:r>
              <a:rPr sz="2700" b="0" kern="0" spc="-54">
                <a:solidFill>
                  <a:srgbClr val="1D1D1F"/>
                </a:solidFill>
                <a:latin typeface="Pretendard SemiBold"/>
                <a:cs typeface="Pretendard SemiBold"/>
              </a:rPr>
              <a:t>ROS2 노드가 판정과 조치를 이어 붙인다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52525"/>
            <a:ext cx="10972800" cy="2476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48"/>
              </a:lnSpc>
              <a:spcAft>
                <a:spcPts val="0"/>
              </a:spcAft>
            </a:pPr>
            <a:r>
              <a:rPr sz="1275" b="0" kern="0" spc="-13">
                <a:solidFill>
                  <a:srgbClr val="333333"/>
                </a:solidFill>
                <a:latin typeface="Pretendard"/>
                <a:cs typeface="Pretendard"/>
              </a:rPr>
              <a:t>인식 · 센싱 · 주행 노드가 판정 노드로 모이고, 오케스트레이터가 표시와 조치로 내보낸다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504950"/>
            <a:ext cx="109728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55892" y="6505766"/>
            <a:ext cx="68580" cy="56578"/>
          </a:xfrm>
          <a:prstGeom prst="roundRect">
            <a:avLst>
              <a:gd name="adj" fmla="val 42424"/>
            </a:avLst>
          </a:prstGeom>
          <a:solidFill>
            <a:srgbClr val="1D1D1F"/>
          </a:solidFill>
          <a:ln w="4286">
            <a:solidFill>
              <a:srgbClr val="1D1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690181" y="6490335"/>
            <a:ext cx="0" cy="15431"/>
          </a:xfrm>
          <a:prstGeom prst="line">
            <a:avLst/>
          </a:prstGeom>
          <a:ln w="6000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84352" y="6481077"/>
            <a:ext cx="11659" cy="11659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1" name="Connector 10"/>
          <p:cNvCxnSpPr/>
          <p:nvPr/>
        </p:nvCxnSpPr>
        <p:spPr>
          <a:xfrm flipV="1">
            <a:off x="721042" y="6502336"/>
            <a:ext cx="27432" cy="17146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742474" y="6496336"/>
            <a:ext cx="12002" cy="12002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3" name="Connector 12"/>
          <p:cNvCxnSpPr/>
          <p:nvPr/>
        </p:nvCxnSpPr>
        <p:spPr>
          <a:xfrm>
            <a:off x="748474" y="6502336"/>
            <a:ext cx="12002" cy="24003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753275" y="6519139"/>
            <a:ext cx="14402" cy="14402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5" name="Connector 14"/>
          <p:cNvCxnSpPr/>
          <p:nvPr/>
        </p:nvCxnSpPr>
        <p:spPr>
          <a:xfrm flipV="1">
            <a:off x="760476" y="6516052"/>
            <a:ext cx="12002" cy="10287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0476" y="6526339"/>
            <a:ext cx="10287" cy="12002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63607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Oval 17"/>
          <p:cNvSpPr/>
          <p:nvPr/>
        </p:nvSpPr>
        <p:spPr>
          <a:xfrm>
            <a:off x="694468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Oval 18"/>
          <p:cNvSpPr/>
          <p:nvPr/>
        </p:nvSpPr>
        <p:spPr>
          <a:xfrm>
            <a:off x="679894" y="6517767"/>
            <a:ext cx="30861" cy="30861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Oval 19"/>
          <p:cNvSpPr/>
          <p:nvPr/>
        </p:nvSpPr>
        <p:spPr>
          <a:xfrm>
            <a:off x="696697" y="6525997"/>
            <a:ext cx="7544" cy="754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57250" y="6438900"/>
            <a:ext cx="4762500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825"/>
              </a:lnSpc>
              <a:spcAft>
                <a:spcPts val="0"/>
              </a:spcAft>
            </a:pPr>
            <a:r>
              <a:rPr sz="825" b="0" kern="0" spc="50">
                <a:solidFill>
                  <a:srgbClr val="7A7A7A"/>
                </a:solidFill>
                <a:latin typeface="Pretendard SemiBold"/>
                <a:cs typeface="Pretendard SemiBold"/>
              </a:rPr>
              <a:t>HazardBot 개발완료보고서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24900" y="6438900"/>
            <a:ext cx="2857500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825"/>
              </a:lnSpc>
              <a:spcAft>
                <a:spcPts val="0"/>
              </a:spcAft>
            </a:pPr>
            <a:r>
              <a:rPr sz="825" b="0" kern="0" spc="50">
                <a:solidFill>
                  <a:srgbClr val="7A7A7A"/>
                </a:solidFill>
                <a:latin typeface="Pretendard SemiBold"/>
                <a:cs typeface="Pretendard SemiBold"/>
              </a:rPr>
              <a:t>08 / 20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1676400"/>
            <a:ext cx="7239000" cy="4648200"/>
          </a:xfrm>
          <a:prstGeom prst="roundRect">
            <a:avLst>
              <a:gd name="adj" fmla="val 1229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914400" y="1981200"/>
            <a:ext cx="2057400" cy="533400"/>
          </a:xfrm>
          <a:prstGeom prst="roundRect">
            <a:avLst>
              <a:gd name="adj" fmla="val 10714"/>
            </a:avLst>
          </a:prstGeom>
          <a:solidFill>
            <a:srgbClr val="F5F5F7"/>
          </a:solidFill>
          <a:ln w="14287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90600" y="2057400"/>
            <a:ext cx="19050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ts val="1413"/>
              </a:lnSpc>
              <a:spcAft>
                <a:spcPts val="0"/>
              </a:spcAft>
            </a:pPr>
            <a:r>
              <a:rPr sz="975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vision_node</a:t>
            </a:r>
          </a:p>
          <a:p>
            <a:pPr algn="ctr">
              <a:lnSpc>
                <a:spcPts val="1259"/>
              </a:lnSpc>
              <a:spcBef>
                <a:spcPts val="300"/>
              </a:spcBef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카메라 물체 인식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00400" y="1981200"/>
            <a:ext cx="2057400" cy="533400"/>
          </a:xfrm>
          <a:prstGeom prst="roundRect">
            <a:avLst>
              <a:gd name="adj" fmla="val 10714"/>
            </a:avLst>
          </a:prstGeom>
          <a:solidFill>
            <a:srgbClr val="F5F5F7"/>
          </a:solidFill>
          <a:ln w="14287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276600" y="2057400"/>
            <a:ext cx="19050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ts val="1413"/>
              </a:lnSpc>
              <a:spcAft>
                <a:spcPts val="0"/>
              </a:spcAft>
            </a:pPr>
            <a:r>
              <a:rPr sz="975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sensor_bridge_node</a:t>
            </a:r>
          </a:p>
          <a:p>
            <a:pPr algn="ctr">
              <a:lnSpc>
                <a:spcPts val="1259"/>
              </a:lnSpc>
              <a:spcBef>
                <a:spcPts val="300"/>
              </a:spcBef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ENV 보드 중계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0" y="1981200"/>
            <a:ext cx="2057400" cy="533400"/>
          </a:xfrm>
          <a:prstGeom prst="roundRect">
            <a:avLst>
              <a:gd name="adj" fmla="val 10714"/>
            </a:avLst>
          </a:prstGeom>
          <a:solidFill>
            <a:srgbClr val="F5F5F7"/>
          </a:solidFill>
          <a:ln w="14287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562600" y="2057400"/>
            <a:ext cx="19050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ts val="1413"/>
              </a:lnSpc>
              <a:spcAft>
                <a:spcPts val="0"/>
              </a:spcAft>
            </a:pPr>
            <a:r>
              <a:rPr sz="975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amr_bridge_node</a:t>
            </a:r>
          </a:p>
          <a:p>
            <a:pPr algn="ctr">
              <a:lnSpc>
                <a:spcPts val="1259"/>
              </a:lnSpc>
              <a:spcBef>
                <a:spcPts val="300"/>
              </a:spcBef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DRIVE 보드 중계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" y="3124200"/>
            <a:ext cx="6629400" cy="533400"/>
          </a:xfrm>
          <a:prstGeom prst="roundRect">
            <a:avLst>
              <a:gd name="adj" fmla="val 10714"/>
            </a:avLst>
          </a:prstGeom>
          <a:solidFill>
            <a:srgbClr val="F5F5F7"/>
          </a:solidFill>
          <a:ln w="14287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28700" y="3200400"/>
            <a:ext cx="64008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ts val="1413"/>
              </a:lnSpc>
              <a:spcAft>
                <a:spcPts val="0"/>
              </a:spcAft>
            </a:pPr>
            <a:r>
              <a:rPr sz="975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hazard_detector_node</a:t>
            </a:r>
          </a:p>
          <a:p>
            <a:pPr algn="ctr">
              <a:lnSpc>
                <a:spcPts val="1259"/>
              </a:lnSpc>
              <a:spcBef>
                <a:spcPts val="300"/>
              </a:spcBef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색상 1차 분류 + 가스 결과로 위험 판정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4400" y="4267200"/>
            <a:ext cx="6629400" cy="533400"/>
          </a:xfrm>
          <a:prstGeom prst="roundRect">
            <a:avLst>
              <a:gd name="adj" fmla="val 10714"/>
            </a:avLst>
          </a:prstGeom>
          <a:solidFill>
            <a:srgbClr val="EBF3FB"/>
          </a:solidFill>
          <a:ln w="14287">
            <a:solidFill>
              <a:srgbClr val="007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28700" y="4343400"/>
            <a:ext cx="64008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ts val="1413"/>
              </a:lnSpc>
              <a:spcAft>
                <a:spcPts val="0"/>
              </a:spcAft>
            </a:pPr>
            <a:r>
              <a:rPr sz="975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mission_orchestrator</a:t>
            </a:r>
          </a:p>
          <a:p>
            <a:pPr algn="ctr">
              <a:lnSpc>
                <a:spcPts val="1259"/>
              </a:lnSpc>
              <a:spcBef>
                <a:spcPts val="300"/>
              </a:spcBef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판정 결과에 따라 조치를 요청하고 상태를 관리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4400" y="5410200"/>
            <a:ext cx="3200400" cy="533400"/>
          </a:xfrm>
          <a:prstGeom prst="roundRect">
            <a:avLst>
              <a:gd name="adj" fmla="val 10714"/>
            </a:avLst>
          </a:prstGeom>
          <a:solidFill>
            <a:srgbClr val="F5F5F7"/>
          </a:solidFill>
          <a:ln w="14287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90600" y="5486400"/>
            <a:ext cx="30480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ts val="1413"/>
              </a:lnSpc>
              <a:spcAft>
                <a:spcPts val="0"/>
              </a:spcAft>
            </a:pPr>
            <a:r>
              <a:rPr sz="975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dashboard_node</a:t>
            </a:r>
          </a:p>
          <a:p>
            <a:pPr algn="ctr">
              <a:lnSpc>
                <a:spcPts val="1259"/>
              </a:lnSpc>
              <a:spcBef>
                <a:spcPts val="300"/>
              </a:spcBef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실시간 판정 화면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43400" y="5410200"/>
            <a:ext cx="3200400" cy="533400"/>
          </a:xfrm>
          <a:prstGeom prst="roundRect">
            <a:avLst>
              <a:gd name="adj" fmla="val 10714"/>
            </a:avLst>
          </a:prstGeom>
          <a:solidFill>
            <a:srgbClr val="F5F5F7"/>
          </a:solidFill>
          <a:ln w="14287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419600" y="5486400"/>
            <a:ext cx="3048000" cy="381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ts val="1413"/>
              </a:lnSpc>
              <a:spcAft>
                <a:spcPts val="0"/>
              </a:spcAft>
            </a:pPr>
            <a:r>
              <a:rPr sz="975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arm_act_node</a:t>
            </a:r>
          </a:p>
          <a:p>
            <a:pPr algn="ctr">
              <a:lnSpc>
                <a:spcPts val="1259"/>
              </a:lnSpc>
              <a:spcBef>
                <a:spcPts val="300"/>
              </a:spcBef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ACT 정책 실행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371600" y="2514600"/>
            <a:ext cx="0" cy="59055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447800" y="2724150"/>
            <a:ext cx="1428750" cy="16573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825" b="0" kern="0" spc="0">
                <a:solidFill>
                  <a:srgbClr val="7A7A7A"/>
                </a:solidFill>
                <a:latin typeface="Pretendard"/>
                <a:cs typeface="Pretendard"/>
              </a:rPr>
              <a:t>/vision/detected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3657600" y="2514600"/>
            <a:ext cx="0" cy="59055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3733800" y="2724150"/>
            <a:ext cx="1428750" cy="16573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825" b="0" kern="0" spc="0">
                <a:solidFill>
                  <a:srgbClr val="7A7A7A"/>
                </a:solidFill>
                <a:latin typeface="Pretendard"/>
                <a:cs typeface="Pretendard"/>
              </a:rPr>
              <a:t>/env/gas_result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943600" y="2514600"/>
            <a:ext cx="0" cy="59055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6019800" y="2724150"/>
            <a:ext cx="1428750" cy="16573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825" b="0" kern="0" spc="0">
                <a:solidFill>
                  <a:srgbClr val="7A7A7A"/>
                </a:solidFill>
                <a:latin typeface="Pretendard"/>
                <a:cs typeface="Pretendard"/>
              </a:rPr>
              <a:t>/amr/object_near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3657600" y="3657600"/>
            <a:ext cx="0" cy="59055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3733800" y="3867150"/>
            <a:ext cx="1524000" cy="16573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825" b="0" kern="0" spc="0">
                <a:solidFill>
                  <a:srgbClr val="7A7A7A"/>
                </a:solidFill>
                <a:latin typeface="Pretendard"/>
                <a:cs typeface="Pretendard"/>
              </a:rPr>
              <a:t>/hazard/detected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2514600" y="4800600"/>
            <a:ext cx="0" cy="59055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2590800" y="5010150"/>
            <a:ext cx="1428750" cy="16573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825" b="0" kern="0" spc="0">
                <a:solidFill>
                  <a:srgbClr val="7A7A7A"/>
                </a:solidFill>
                <a:latin typeface="Pretendard"/>
                <a:cs typeface="Pretendard"/>
              </a:rPr>
              <a:t>판정 · 상태 갱신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105400" y="4800600"/>
            <a:ext cx="0" cy="59055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181600" y="4876800"/>
            <a:ext cx="1524000" cy="16573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825" b="0" kern="0" spc="0">
                <a:solidFill>
                  <a:srgbClr val="7A7A7A"/>
                </a:solidFill>
                <a:latin typeface="Pretendard"/>
                <a:cs typeface="Pretendard"/>
              </a:rPr>
              <a:t>/arm/grip_request</a:t>
            </a:r>
          </a:p>
        </p:txBody>
      </p:sp>
      <p:cxnSp>
        <p:nvCxnSpPr>
          <p:cNvPr id="50" name="Connector 49"/>
          <p:cNvCxnSpPr/>
          <p:nvPr/>
        </p:nvCxnSpPr>
        <p:spPr>
          <a:xfrm flipV="1">
            <a:off x="6819900" y="4819650"/>
            <a:ext cx="0" cy="57150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219700" y="5124450"/>
            <a:ext cx="1524000" cy="16573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ts val="1155"/>
              </a:lnSpc>
              <a:spcAft>
                <a:spcPts val="0"/>
              </a:spcAft>
            </a:pPr>
            <a:r>
              <a:rPr sz="825" b="0" kern="0" spc="0">
                <a:solidFill>
                  <a:srgbClr val="7A7A7A"/>
                </a:solidFill>
                <a:latin typeface="Pretendard"/>
                <a:cs typeface="Pretendard"/>
              </a:rPr>
              <a:t>/arm/act_result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077200" y="1676400"/>
            <a:ext cx="3505200" cy="2209800"/>
          </a:xfrm>
          <a:prstGeom prst="roundRect">
            <a:avLst>
              <a:gd name="adj" fmla="val 2586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305800" y="1905000"/>
            <a:ext cx="3048000" cy="1428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sz="900" b="0" kern="0" spc="72">
                <a:solidFill>
                  <a:srgbClr val="333333"/>
                </a:solidFill>
                <a:latin typeface="Pretendard SemiBold"/>
                <a:cs typeface="Pretendard SemiBold"/>
              </a:rPr>
              <a:t>판정 계통 토픽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05800" y="2162175"/>
            <a:ext cx="3048000" cy="3667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/vision/detected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인식한 물체의 색상 · 방위각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05800" y="2528888"/>
            <a:ext cx="30480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305800" y="2538412"/>
            <a:ext cx="3048000" cy="3667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/hazard/gas_check_request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적색일 때 가스 정밀검사 요청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305800" y="2905125"/>
            <a:ext cx="30480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305800" y="2914650"/>
            <a:ext cx="3048000" cy="3667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/env/gas_result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DETECTED · CLEAR · ERROR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305800" y="3281362"/>
            <a:ext cx="30480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8305800" y="3290888"/>
            <a:ext cx="3048000" cy="3667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/hazard/detected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최종 위험 판정과 판정 문장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077200" y="4114800"/>
            <a:ext cx="3505200" cy="2209800"/>
          </a:xfrm>
          <a:prstGeom prst="roundRect">
            <a:avLst>
              <a:gd name="adj" fmla="val 2586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8305800" y="4343400"/>
            <a:ext cx="3048000" cy="1428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sz="900" b="0" kern="0" spc="72">
                <a:solidFill>
                  <a:srgbClr val="333333"/>
                </a:solidFill>
                <a:latin typeface="Pretendard SemiBold"/>
                <a:cs typeface="Pretendard SemiBold"/>
              </a:rPr>
              <a:t>조치 · 상태 계통 토픽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05800" y="4600575"/>
            <a:ext cx="3048000" cy="3667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/amr/object_near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정지 지점에서 물체 근접 감지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305800" y="4967288"/>
            <a:ext cx="30480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8305800" y="4976812"/>
            <a:ext cx="3048000" cy="3667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/amr/stop_index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현재 정지 지점 번호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305800" y="5343525"/>
            <a:ext cx="30480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8305800" y="5353050"/>
            <a:ext cx="3048000" cy="3667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/arm/grip_request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로봇팔 초동 조치 요청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305800" y="5719762"/>
            <a:ext cx="30480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8305800" y="5729288"/>
            <a:ext cx="3048000" cy="3667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/arm/act_result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정책 실행 결과 회신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600" y="476250"/>
            <a:ext cx="57150" cy="5715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3900" y="419100"/>
            <a:ext cx="10858500" cy="1714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75"/>
              </a:lnSpc>
              <a:spcAft>
                <a:spcPts val="0"/>
              </a:spcAft>
            </a:pPr>
            <a:r>
              <a:rPr sz="975" b="0" kern="0" spc="117">
                <a:solidFill>
                  <a:srgbClr val="333333"/>
                </a:solidFill>
                <a:latin typeface="Pretendard SemiBold"/>
                <a:cs typeface="Pretendard SemiBold"/>
              </a:rPr>
              <a:t>02 · 개발 환경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66750"/>
            <a:ext cx="10972800" cy="4381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3104"/>
              </a:lnSpc>
              <a:spcAft>
                <a:spcPts val="0"/>
              </a:spcAft>
            </a:pPr>
            <a:r>
              <a:rPr sz="2700" b="0" kern="0" spc="-54">
                <a:solidFill>
                  <a:srgbClr val="1D1D1F"/>
                </a:solidFill>
                <a:latin typeface="Pretendard SemiBold"/>
                <a:cs typeface="Pretendard SemiBold"/>
              </a:rPr>
              <a:t>파일 구성 · 주요 함수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52525"/>
            <a:ext cx="10972800" cy="2476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48"/>
              </a:lnSpc>
              <a:spcAft>
                <a:spcPts val="0"/>
              </a:spcAft>
            </a:pPr>
            <a:r>
              <a:rPr sz="1275" b="0" kern="0" spc="-13">
                <a:solidFill>
                  <a:srgbClr val="333333"/>
                </a:solidFill>
                <a:latin typeface="Pretendard"/>
                <a:cs typeface="Pretendard"/>
              </a:rPr>
              <a:t>저장소 디렉터리 구조와 노드별 핵심 함수의 역할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504950"/>
            <a:ext cx="109728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55892" y="6505766"/>
            <a:ext cx="68580" cy="56578"/>
          </a:xfrm>
          <a:prstGeom prst="roundRect">
            <a:avLst>
              <a:gd name="adj" fmla="val 42424"/>
            </a:avLst>
          </a:prstGeom>
          <a:solidFill>
            <a:srgbClr val="1D1D1F"/>
          </a:solidFill>
          <a:ln w="4286">
            <a:solidFill>
              <a:srgbClr val="1D1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690181" y="6490335"/>
            <a:ext cx="0" cy="15431"/>
          </a:xfrm>
          <a:prstGeom prst="line">
            <a:avLst/>
          </a:prstGeom>
          <a:ln w="6000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84352" y="6481077"/>
            <a:ext cx="11659" cy="11659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1" name="Connector 10"/>
          <p:cNvCxnSpPr/>
          <p:nvPr/>
        </p:nvCxnSpPr>
        <p:spPr>
          <a:xfrm flipV="1">
            <a:off x="721042" y="6502336"/>
            <a:ext cx="27432" cy="17146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742474" y="6496336"/>
            <a:ext cx="12002" cy="12002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3" name="Connector 12"/>
          <p:cNvCxnSpPr/>
          <p:nvPr/>
        </p:nvCxnSpPr>
        <p:spPr>
          <a:xfrm>
            <a:off x="748474" y="6502336"/>
            <a:ext cx="12002" cy="24003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753275" y="6519139"/>
            <a:ext cx="14402" cy="14402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5" name="Connector 14"/>
          <p:cNvCxnSpPr/>
          <p:nvPr/>
        </p:nvCxnSpPr>
        <p:spPr>
          <a:xfrm flipV="1">
            <a:off x="760476" y="6516052"/>
            <a:ext cx="12002" cy="10287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0476" y="6526339"/>
            <a:ext cx="10287" cy="12002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63607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Oval 17"/>
          <p:cNvSpPr/>
          <p:nvPr/>
        </p:nvSpPr>
        <p:spPr>
          <a:xfrm>
            <a:off x="694468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Oval 18"/>
          <p:cNvSpPr/>
          <p:nvPr/>
        </p:nvSpPr>
        <p:spPr>
          <a:xfrm>
            <a:off x="679894" y="6517767"/>
            <a:ext cx="30861" cy="30861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Oval 19"/>
          <p:cNvSpPr/>
          <p:nvPr/>
        </p:nvSpPr>
        <p:spPr>
          <a:xfrm>
            <a:off x="696697" y="6525997"/>
            <a:ext cx="7544" cy="754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57250" y="6438900"/>
            <a:ext cx="4762500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825"/>
              </a:lnSpc>
              <a:spcAft>
                <a:spcPts val="0"/>
              </a:spcAft>
            </a:pPr>
            <a:r>
              <a:rPr sz="825" b="0" kern="0" spc="50">
                <a:solidFill>
                  <a:srgbClr val="7A7A7A"/>
                </a:solidFill>
                <a:latin typeface="Pretendard SemiBold"/>
                <a:cs typeface="Pretendard SemiBold"/>
              </a:rPr>
              <a:t>HazardBot 개발완료보고서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24900" y="6438900"/>
            <a:ext cx="2857500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825"/>
              </a:lnSpc>
              <a:spcAft>
                <a:spcPts val="0"/>
              </a:spcAft>
            </a:pPr>
            <a:r>
              <a:rPr sz="825" b="0" kern="0" spc="50">
                <a:solidFill>
                  <a:srgbClr val="7A7A7A"/>
                </a:solidFill>
                <a:latin typeface="Pretendard SemiBold"/>
                <a:cs typeface="Pretendard SemiBold"/>
              </a:rPr>
              <a:t>09 / 20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1676400"/>
            <a:ext cx="5372100" cy="4648200"/>
          </a:xfrm>
          <a:prstGeom prst="roundRect">
            <a:avLst>
              <a:gd name="adj" fmla="val 1229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1905000"/>
            <a:ext cx="4914900" cy="17907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sz="900" b="0" kern="0" spc="72">
                <a:solidFill>
                  <a:srgbClr val="333333"/>
                </a:solidFill>
                <a:latin typeface="Pretendard SemiBold"/>
                <a:cs typeface="Pretendard SemiBold"/>
              </a:rPr>
              <a:t>저장소 구조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0300" y="1676400"/>
            <a:ext cx="5372100" cy="4648200"/>
          </a:xfrm>
          <a:prstGeom prst="roundRect">
            <a:avLst>
              <a:gd name="adj" fmla="val 1229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15100" y="1905000"/>
            <a:ext cx="4914900" cy="17907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sz="900" b="0" kern="0" spc="72">
                <a:solidFill>
                  <a:srgbClr val="333333"/>
                </a:solidFill>
                <a:latin typeface="Pretendard SemiBold"/>
                <a:cs typeface="Pretendard SemiBold"/>
              </a:rPr>
              <a:t>주요 함수 · 역할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752600" y="3314700"/>
            <a:ext cx="8686800" cy="1219200"/>
          </a:xfrm>
          <a:prstGeom prst="roundRect">
            <a:avLst>
              <a:gd name="adj" fmla="val 4687"/>
            </a:avLst>
          </a:prstGeom>
          <a:solidFill>
            <a:srgbClr val="EB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752600" y="3371850"/>
            <a:ext cx="28575" cy="11049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009775" y="3543300"/>
            <a:ext cx="8201025" cy="762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923"/>
              </a:lnSpc>
              <a:spcAft>
                <a:spcPts val="0"/>
              </a:spcAft>
            </a:pPr>
            <a:r>
              <a:rPr sz="1425" b="0" kern="0" spc="-21">
                <a:solidFill>
                  <a:srgbClr val="0066CC"/>
                </a:solidFill>
                <a:latin typeface="Pretendard SemiBold"/>
                <a:cs typeface="Pretendard SemiBold"/>
              </a:rPr>
              <a:t>소스코드 최종 커밋 후 작성</a:t>
            </a:r>
          </a:p>
          <a:p>
            <a:pPr algn="l">
              <a:lnSpc>
                <a:spcPts val="1350"/>
              </a:lnSpc>
              <a:spcBef>
                <a:spcPts val="450"/>
              </a:spcBef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심사위원이 GitHub 저장소를 열어 대조하는 페이지다. 커밋이 끝난 실제 트리와 함수로 채운다.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600" y="476250"/>
            <a:ext cx="57150" cy="5715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3900" y="419100"/>
            <a:ext cx="10858500" cy="1714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75"/>
              </a:lnSpc>
              <a:spcAft>
                <a:spcPts val="0"/>
              </a:spcAft>
            </a:pPr>
            <a:r>
              <a:rPr sz="975" b="0" kern="0" spc="117">
                <a:solidFill>
                  <a:srgbClr val="333333"/>
                </a:solidFill>
                <a:latin typeface="Pretendard SemiBold"/>
                <a:cs typeface="Pretendard SemiBold"/>
              </a:rPr>
              <a:t>03 · 개발 프로그램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66750"/>
            <a:ext cx="10972800" cy="4381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3104"/>
              </a:lnSpc>
              <a:spcAft>
                <a:spcPts val="0"/>
              </a:spcAft>
            </a:pPr>
            <a:r>
              <a:rPr sz="2700" b="0" kern="0" spc="-54">
                <a:solidFill>
                  <a:srgbClr val="1D1D1F"/>
                </a:solidFill>
                <a:latin typeface="Pretendard SemiBold"/>
                <a:cs typeface="Pretendard SemiBold"/>
              </a:rPr>
              <a:t>색으로 나누고, 필요할 때만 가스로 확인한다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52525"/>
            <a:ext cx="10972800" cy="2476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48"/>
              </a:lnSpc>
              <a:spcAft>
                <a:spcPts val="0"/>
              </a:spcAft>
            </a:pPr>
            <a:r>
              <a:rPr sz="1275" b="0" kern="0" spc="-13">
                <a:solidFill>
                  <a:srgbClr val="333333"/>
                </a:solidFill>
                <a:latin typeface="Pretendard"/>
                <a:cs typeface="Pretendard"/>
              </a:rPr>
              <a:t>고체는 놓여 있는 것만으로 위반, 액체는 새어 나올 때만 위험 — 물질의 성질을 규칙으로 옮겼다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504950"/>
            <a:ext cx="109728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55892" y="6505766"/>
            <a:ext cx="68580" cy="56578"/>
          </a:xfrm>
          <a:prstGeom prst="roundRect">
            <a:avLst>
              <a:gd name="adj" fmla="val 42424"/>
            </a:avLst>
          </a:prstGeom>
          <a:solidFill>
            <a:srgbClr val="1D1D1F"/>
          </a:solidFill>
          <a:ln w="4286">
            <a:solidFill>
              <a:srgbClr val="1D1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690181" y="6490335"/>
            <a:ext cx="0" cy="15431"/>
          </a:xfrm>
          <a:prstGeom prst="line">
            <a:avLst/>
          </a:prstGeom>
          <a:ln w="6000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84352" y="6481077"/>
            <a:ext cx="11659" cy="11659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1" name="Connector 10"/>
          <p:cNvCxnSpPr/>
          <p:nvPr/>
        </p:nvCxnSpPr>
        <p:spPr>
          <a:xfrm flipV="1">
            <a:off x="721042" y="6502336"/>
            <a:ext cx="27432" cy="17146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742474" y="6496336"/>
            <a:ext cx="12002" cy="12002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3" name="Connector 12"/>
          <p:cNvCxnSpPr/>
          <p:nvPr/>
        </p:nvCxnSpPr>
        <p:spPr>
          <a:xfrm>
            <a:off x="748474" y="6502336"/>
            <a:ext cx="12002" cy="24003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753275" y="6519139"/>
            <a:ext cx="14402" cy="14402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5" name="Connector 14"/>
          <p:cNvCxnSpPr/>
          <p:nvPr/>
        </p:nvCxnSpPr>
        <p:spPr>
          <a:xfrm flipV="1">
            <a:off x="760476" y="6516052"/>
            <a:ext cx="12002" cy="10287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0476" y="6526339"/>
            <a:ext cx="10287" cy="12002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63607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Oval 17"/>
          <p:cNvSpPr/>
          <p:nvPr/>
        </p:nvSpPr>
        <p:spPr>
          <a:xfrm>
            <a:off x="694468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Oval 18"/>
          <p:cNvSpPr/>
          <p:nvPr/>
        </p:nvSpPr>
        <p:spPr>
          <a:xfrm>
            <a:off x="679894" y="6517767"/>
            <a:ext cx="30861" cy="30861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Oval 19"/>
          <p:cNvSpPr/>
          <p:nvPr/>
        </p:nvSpPr>
        <p:spPr>
          <a:xfrm>
            <a:off x="696697" y="6525997"/>
            <a:ext cx="7544" cy="754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57250" y="6438900"/>
            <a:ext cx="4762500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825"/>
              </a:lnSpc>
              <a:spcAft>
                <a:spcPts val="0"/>
              </a:spcAft>
            </a:pPr>
            <a:r>
              <a:rPr sz="825" b="0" kern="0" spc="50">
                <a:solidFill>
                  <a:srgbClr val="7A7A7A"/>
                </a:solidFill>
                <a:latin typeface="Pretendard SemiBold"/>
                <a:cs typeface="Pretendard SemiBold"/>
              </a:rPr>
              <a:t>HazardBot 개발완료보고서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24900" y="6438900"/>
            <a:ext cx="2857500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825"/>
              </a:lnSpc>
              <a:spcAft>
                <a:spcPts val="0"/>
              </a:spcAft>
            </a:pPr>
            <a:r>
              <a:rPr sz="825" b="0" kern="0" spc="50">
                <a:solidFill>
                  <a:srgbClr val="7A7A7A"/>
                </a:solidFill>
                <a:latin typeface="Pretendard SemiBold"/>
                <a:cs typeface="Pretendard SemiBold"/>
              </a:rPr>
              <a:t>10 / 20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1676400"/>
            <a:ext cx="10972800" cy="1905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914400" y="2247900"/>
            <a:ext cx="2390775" cy="762000"/>
          </a:xfrm>
          <a:prstGeom prst="roundRect">
            <a:avLst>
              <a:gd name="adj" fmla="val 7500"/>
            </a:avLst>
          </a:prstGeom>
          <a:solidFill>
            <a:srgbClr val="F5F5F7"/>
          </a:solidFill>
          <a:ln w="14287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28700" y="2324100"/>
            <a:ext cx="2162175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522"/>
              </a:lnSpc>
              <a:spcAft>
                <a:spcPts val="0"/>
              </a:spcAft>
            </a:pPr>
            <a:r>
              <a:rPr sz="105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정지 지점 도착</a:t>
            </a:r>
          </a:p>
          <a:p>
            <a:pPr algn="l">
              <a:lnSpc>
                <a:spcPts val="1259"/>
              </a:lnSpc>
              <a:spcBef>
                <a:spcPts val="300"/>
              </a:spcBef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순찰 중 지정된 지점에 정지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352800" y="2628900"/>
            <a:ext cx="171450" cy="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571875" y="2247900"/>
            <a:ext cx="2390775" cy="762000"/>
          </a:xfrm>
          <a:prstGeom prst="roundRect">
            <a:avLst>
              <a:gd name="adj" fmla="val 7500"/>
            </a:avLst>
          </a:prstGeom>
          <a:solidFill>
            <a:srgbClr val="F5F5F7"/>
          </a:solidFill>
          <a:ln w="14287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686175" y="2324100"/>
            <a:ext cx="2162175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522"/>
              </a:lnSpc>
              <a:spcAft>
                <a:spcPts val="0"/>
              </a:spcAft>
            </a:pPr>
            <a:r>
              <a:rPr sz="105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카메라 색상 확인</a:t>
            </a:r>
          </a:p>
          <a:p>
            <a:pPr algn="l">
              <a:lnSpc>
                <a:spcPts val="1259"/>
              </a:lnSpc>
              <a:spcBef>
                <a:spcPts val="300"/>
              </a:spcBef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물체의 색과 방위각을 산출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10275" y="2628900"/>
            <a:ext cx="171450" cy="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229350" y="2247900"/>
            <a:ext cx="2390775" cy="762000"/>
          </a:xfrm>
          <a:prstGeom prst="roundRect">
            <a:avLst>
              <a:gd name="adj" fmla="val 7500"/>
            </a:avLst>
          </a:prstGeom>
          <a:solidFill>
            <a:srgbClr val="F5F5F7"/>
          </a:solidFill>
          <a:ln w="14287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43650" y="2324100"/>
            <a:ext cx="2162175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522"/>
              </a:lnSpc>
              <a:spcAft>
                <a:spcPts val="0"/>
              </a:spcAft>
            </a:pPr>
            <a:r>
              <a:rPr sz="105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색상별 규칙 적용</a:t>
            </a:r>
          </a:p>
          <a:p>
            <a:pPr algn="l">
              <a:lnSpc>
                <a:spcPts val="1259"/>
              </a:lnSpc>
              <a:spcBef>
                <a:spcPts val="300"/>
              </a:spcBef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황색은 즉시, 적색은 가스 검사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667750" y="2628900"/>
            <a:ext cx="171450" cy="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886825" y="2247900"/>
            <a:ext cx="2390775" cy="762000"/>
          </a:xfrm>
          <a:prstGeom prst="roundRect">
            <a:avLst>
              <a:gd name="adj" fmla="val 7500"/>
            </a:avLst>
          </a:prstGeom>
          <a:solidFill>
            <a:srgbClr val="F5F5F7"/>
          </a:solidFill>
          <a:ln w="14287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001125" y="2324100"/>
            <a:ext cx="2162175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522"/>
              </a:lnSpc>
              <a:spcAft>
                <a:spcPts val="0"/>
              </a:spcAft>
            </a:pPr>
            <a:r>
              <a:rPr sz="105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판정 문장 출력</a:t>
            </a:r>
          </a:p>
          <a:p>
            <a:pPr algn="l">
              <a:lnSpc>
                <a:spcPts val="1259"/>
              </a:lnSpc>
              <a:spcBef>
                <a:spcPts val="300"/>
              </a:spcBef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대시보드에 결과를 그대로 표시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9600" y="3810000"/>
            <a:ext cx="3505200" cy="2514600"/>
          </a:xfrm>
          <a:prstGeom prst="roundRect">
            <a:avLst>
              <a:gd name="adj" fmla="val 2272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838200" y="4038600"/>
            <a:ext cx="742615" cy="190500"/>
          </a:xfrm>
          <a:prstGeom prst="roundRect">
            <a:avLst>
              <a:gd name="adj" fmla="val 15000"/>
            </a:avLst>
          </a:prstGeom>
          <a:solidFill>
            <a:srgbClr val="F4E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38200" y="4038600"/>
            <a:ext cx="742615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900"/>
              </a:lnSpc>
              <a:spcAft>
                <a:spcPts val="0"/>
              </a:spcAft>
            </a:pPr>
            <a:r>
              <a:rPr sz="900" b="0" kern="0" spc="72">
                <a:solidFill>
                  <a:srgbClr val="B25000"/>
                </a:solidFill>
                <a:latin typeface="Pretendard SemiBold"/>
                <a:cs typeface="Pretendard SemiBold"/>
              </a:rPr>
              <a:t>즉시 위험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4381500"/>
            <a:ext cx="3048000" cy="2476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23"/>
              </a:lnSpc>
              <a:spcAft>
                <a:spcPts val="0"/>
              </a:spcAft>
            </a:pPr>
            <a:r>
              <a:rPr sz="1425" b="0" kern="0" spc="-21">
                <a:solidFill>
                  <a:srgbClr val="1D1D1F"/>
                </a:solidFill>
                <a:latin typeface="Pretendard SemiBold"/>
                <a:cs typeface="Pretendard SemiBold"/>
              </a:rPr>
              <a:t>황색 산화성 고체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8200" y="4762500"/>
            <a:ext cx="19050" cy="495300"/>
          </a:xfrm>
          <a:prstGeom prst="rect">
            <a:avLst/>
          </a:prstGeom>
          <a:solidFill>
            <a:srgbClr val="B2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71550" y="4762500"/>
            <a:ext cx="2914650" cy="4953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</a:pPr>
            <a:r>
              <a:rPr sz="105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황색 산화성 고체 감지 — 취급구역 내 위치 자체가 위반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8200" y="5410200"/>
            <a:ext cx="30480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고체는 가스를 내뿜지 않는다. 그 자리에 있다는 사실만으로 규정 위반이므로 추가 검사 없이 곧바로 위험으로 판정한다.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43400" y="3810000"/>
            <a:ext cx="3505200" cy="2514600"/>
          </a:xfrm>
          <a:prstGeom prst="roundRect">
            <a:avLst>
              <a:gd name="adj" fmla="val 2272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4572000" y="4038600"/>
            <a:ext cx="446532" cy="190500"/>
          </a:xfrm>
          <a:prstGeom prst="roundRect">
            <a:avLst>
              <a:gd name="adj" fmla="val 15000"/>
            </a:avLst>
          </a:prstGeom>
          <a:solidFill>
            <a:srgbClr val="F9DB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572000" y="4038600"/>
            <a:ext cx="446532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900"/>
              </a:lnSpc>
              <a:spcAft>
                <a:spcPts val="0"/>
              </a:spcAft>
            </a:pPr>
            <a:r>
              <a:rPr sz="900" b="0" kern="0" spc="72">
                <a:solidFill>
                  <a:srgbClr val="D70015"/>
                </a:solidFill>
                <a:latin typeface="Pretendard SemiBold"/>
                <a:cs typeface="Pretendard SemiBold"/>
              </a:rPr>
              <a:t>위험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4381500"/>
            <a:ext cx="3048000" cy="2476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23"/>
              </a:lnSpc>
              <a:spcAft>
                <a:spcPts val="0"/>
              </a:spcAft>
            </a:pPr>
            <a:r>
              <a:rPr sz="1425" b="0" kern="0" spc="-21">
                <a:solidFill>
                  <a:srgbClr val="1D1D1F"/>
                </a:solidFill>
                <a:latin typeface="Pretendard SemiBold"/>
                <a:cs typeface="Pretendard SemiBold"/>
              </a:rPr>
              <a:t>적색 · 가스 검출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0" y="4762500"/>
            <a:ext cx="19050" cy="495300"/>
          </a:xfrm>
          <a:prstGeom prst="rect">
            <a:avLst/>
          </a:prstGeom>
          <a:solidFill>
            <a:srgbClr val="D700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705350" y="4762500"/>
            <a:ext cx="2914650" cy="4953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</a:pPr>
            <a:r>
              <a:rPr sz="105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적색 물질 — 가스 감지. 격납 파손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0" y="5410200"/>
            <a:ext cx="30480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인화성 액체는 새어 나올 때 위험해진다. MQ-2가 가스를 검출하면 격납이 깨진 것으로 보고 위험으로 판정한다.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77200" y="3810000"/>
            <a:ext cx="3505200" cy="2514600"/>
          </a:xfrm>
          <a:prstGeom prst="roundRect">
            <a:avLst>
              <a:gd name="adj" fmla="val 2272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" name="Rounded Rectangle 49"/>
          <p:cNvSpPr/>
          <p:nvPr/>
        </p:nvSpPr>
        <p:spPr>
          <a:xfrm>
            <a:off x="8305800" y="4038600"/>
            <a:ext cx="446532" cy="190500"/>
          </a:xfrm>
          <a:prstGeom prst="roundRect">
            <a:avLst>
              <a:gd name="adj" fmla="val 15000"/>
            </a:avLst>
          </a:prstGeom>
          <a:solidFill>
            <a:srgbClr val="E0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305800" y="4038600"/>
            <a:ext cx="446532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900"/>
              </a:lnSpc>
              <a:spcAft>
                <a:spcPts val="0"/>
              </a:spcAft>
            </a:pPr>
            <a:r>
              <a:rPr sz="900" b="0" kern="0" spc="72">
                <a:solidFill>
                  <a:srgbClr val="248A3D"/>
                </a:solidFill>
                <a:latin typeface="Pretendard SemiBold"/>
                <a:cs typeface="Pretendard SemiBold"/>
              </a:rPr>
              <a:t>통과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05800" y="4381500"/>
            <a:ext cx="3048000" cy="2476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23"/>
              </a:lnSpc>
              <a:spcAft>
                <a:spcPts val="0"/>
              </a:spcAft>
            </a:pPr>
            <a:r>
              <a:rPr sz="1425" b="0" kern="0" spc="-21">
                <a:solidFill>
                  <a:srgbClr val="1D1D1F"/>
                </a:solidFill>
                <a:latin typeface="Pretendard SemiBold"/>
                <a:cs typeface="Pretendard SemiBold"/>
              </a:rPr>
              <a:t>적색 · 가스 없음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305800" y="4762500"/>
            <a:ext cx="19050" cy="495300"/>
          </a:xfrm>
          <a:prstGeom prst="rect">
            <a:avLst/>
          </a:prstGeom>
          <a:solidFill>
            <a:srgbClr val="24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439150" y="4762500"/>
            <a:ext cx="2914650" cy="4953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</a:pPr>
            <a:r>
              <a:rPr sz="105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적색 물질 — 가스 없음. 격납 유지, 통과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05800" y="5410200"/>
            <a:ext cx="30480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같은 적색이어도 가스가 없으면 격납이 유지된 상태다. 정상으로 판정하고 순찰을 이어간다.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600" y="476250"/>
            <a:ext cx="57150" cy="5715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3900" y="419100"/>
            <a:ext cx="10858500" cy="1714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75"/>
              </a:lnSpc>
              <a:spcAft>
                <a:spcPts val="0"/>
              </a:spcAft>
            </a:pPr>
            <a:r>
              <a:rPr sz="975" b="0" kern="0" spc="117">
                <a:solidFill>
                  <a:srgbClr val="333333"/>
                </a:solidFill>
                <a:latin typeface="Pretendard SemiBold"/>
                <a:cs typeface="Pretendard SemiBold"/>
              </a:rPr>
              <a:t>03 · 개발 프로그램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66750"/>
            <a:ext cx="10972800" cy="4381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3104"/>
              </a:lnSpc>
              <a:spcAft>
                <a:spcPts val="0"/>
              </a:spcAft>
            </a:pPr>
            <a:r>
              <a:rPr sz="2700" b="0" kern="0" spc="-54">
                <a:solidFill>
                  <a:srgbClr val="1D1D1F"/>
                </a:solidFill>
                <a:latin typeface="Pretendard SemiBold"/>
                <a:cs typeface="Pretendard SemiBold"/>
              </a:rPr>
              <a:t>적색 물질은 3초 정밀검사를 거친다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52525"/>
            <a:ext cx="10972800" cy="2476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48"/>
              </a:lnSpc>
              <a:spcAft>
                <a:spcPts val="0"/>
              </a:spcAft>
            </a:pPr>
            <a:r>
              <a:rPr sz="1275" b="0" kern="0" spc="-13">
                <a:solidFill>
                  <a:srgbClr val="333333"/>
                </a:solidFill>
                <a:latin typeface="Pretendard"/>
                <a:cs typeface="Pretendard"/>
              </a:rPr>
              <a:t>판정 노드가 검사를 요청하면 ENV 보드가 MQ-2를 3초간 샘플링하고, 5초 워치독이 응답 지연을 막는다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504950"/>
            <a:ext cx="109728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55892" y="6505766"/>
            <a:ext cx="68580" cy="56578"/>
          </a:xfrm>
          <a:prstGeom prst="roundRect">
            <a:avLst>
              <a:gd name="adj" fmla="val 42424"/>
            </a:avLst>
          </a:prstGeom>
          <a:solidFill>
            <a:srgbClr val="1D1D1F"/>
          </a:solidFill>
          <a:ln w="4286">
            <a:solidFill>
              <a:srgbClr val="1D1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690181" y="6490335"/>
            <a:ext cx="0" cy="15431"/>
          </a:xfrm>
          <a:prstGeom prst="line">
            <a:avLst/>
          </a:prstGeom>
          <a:ln w="6000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84352" y="6481077"/>
            <a:ext cx="11659" cy="11659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1" name="Connector 10"/>
          <p:cNvCxnSpPr/>
          <p:nvPr/>
        </p:nvCxnSpPr>
        <p:spPr>
          <a:xfrm flipV="1">
            <a:off x="721042" y="6502336"/>
            <a:ext cx="27432" cy="17146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742474" y="6496336"/>
            <a:ext cx="12002" cy="12002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3" name="Connector 12"/>
          <p:cNvCxnSpPr/>
          <p:nvPr/>
        </p:nvCxnSpPr>
        <p:spPr>
          <a:xfrm>
            <a:off x="748474" y="6502336"/>
            <a:ext cx="12002" cy="24003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753275" y="6519139"/>
            <a:ext cx="14402" cy="14402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5" name="Connector 14"/>
          <p:cNvCxnSpPr/>
          <p:nvPr/>
        </p:nvCxnSpPr>
        <p:spPr>
          <a:xfrm flipV="1">
            <a:off x="760476" y="6516052"/>
            <a:ext cx="12002" cy="10287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0476" y="6526339"/>
            <a:ext cx="10287" cy="12002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63607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Oval 17"/>
          <p:cNvSpPr/>
          <p:nvPr/>
        </p:nvSpPr>
        <p:spPr>
          <a:xfrm>
            <a:off x="694468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Oval 18"/>
          <p:cNvSpPr/>
          <p:nvPr/>
        </p:nvSpPr>
        <p:spPr>
          <a:xfrm>
            <a:off x="679894" y="6517767"/>
            <a:ext cx="30861" cy="30861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Oval 19"/>
          <p:cNvSpPr/>
          <p:nvPr/>
        </p:nvSpPr>
        <p:spPr>
          <a:xfrm>
            <a:off x="696697" y="6525997"/>
            <a:ext cx="7544" cy="754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57250" y="6438900"/>
            <a:ext cx="4762500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825"/>
              </a:lnSpc>
              <a:spcAft>
                <a:spcPts val="0"/>
              </a:spcAft>
            </a:pPr>
            <a:r>
              <a:rPr sz="825" b="0" kern="0" spc="50">
                <a:solidFill>
                  <a:srgbClr val="7A7A7A"/>
                </a:solidFill>
                <a:latin typeface="Pretendard SemiBold"/>
                <a:cs typeface="Pretendard SemiBold"/>
              </a:rPr>
              <a:t>HazardBot 개발완료보고서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24900" y="6438900"/>
            <a:ext cx="2857500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825"/>
              </a:lnSpc>
              <a:spcAft>
                <a:spcPts val="0"/>
              </a:spcAft>
            </a:pPr>
            <a:r>
              <a:rPr sz="825" b="0" kern="0" spc="50">
                <a:solidFill>
                  <a:srgbClr val="7A7A7A"/>
                </a:solidFill>
                <a:latin typeface="Pretendard SemiBold"/>
                <a:cs typeface="Pretendard SemiBold"/>
              </a:rPr>
              <a:t>11 / 20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1676400"/>
            <a:ext cx="10972800" cy="304800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914400" y="1981200"/>
            <a:ext cx="2447925" cy="762000"/>
          </a:xfrm>
          <a:prstGeom prst="roundRect">
            <a:avLst>
              <a:gd name="adj" fmla="val 7500"/>
            </a:avLst>
          </a:prstGeom>
          <a:solidFill>
            <a:srgbClr val="F5F5F7"/>
          </a:solidFill>
          <a:ln w="14287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28700" y="2057400"/>
            <a:ext cx="2219325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522"/>
              </a:lnSpc>
              <a:spcAft>
                <a:spcPts val="0"/>
              </a:spcAft>
            </a:pPr>
            <a:r>
              <a:rPr sz="105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적색 판정</a:t>
            </a:r>
          </a:p>
          <a:p>
            <a:pPr algn="l">
              <a:lnSpc>
                <a:spcPts val="1259"/>
              </a:lnSpc>
              <a:spcBef>
                <a:spcPts val="300"/>
              </a:spcBef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카메라가 적색 물체를 확인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390900" y="2362200"/>
            <a:ext cx="133350" cy="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552825" y="1981200"/>
            <a:ext cx="2447925" cy="762000"/>
          </a:xfrm>
          <a:prstGeom prst="roundRect">
            <a:avLst>
              <a:gd name="adj" fmla="val 7500"/>
            </a:avLst>
          </a:prstGeom>
          <a:solidFill>
            <a:srgbClr val="F5F5F7"/>
          </a:solidFill>
          <a:ln w="14287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667125" y="2057400"/>
            <a:ext cx="2219325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522"/>
              </a:lnSpc>
              <a:spcAft>
                <a:spcPts val="0"/>
              </a:spcAft>
            </a:pPr>
            <a:r>
              <a:rPr sz="105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검사 요청 발행</a:t>
            </a:r>
          </a:p>
          <a:p>
            <a:pPr algn="l">
              <a:lnSpc>
                <a:spcPts val="1259"/>
              </a:lnSpc>
              <a:spcBef>
                <a:spcPts val="300"/>
              </a:spcBef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/hazard/gas_check_request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29325" y="2362200"/>
            <a:ext cx="133350" cy="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191250" y="1981200"/>
            <a:ext cx="2447925" cy="762000"/>
          </a:xfrm>
          <a:prstGeom prst="roundRect">
            <a:avLst>
              <a:gd name="adj" fmla="val 7500"/>
            </a:avLst>
          </a:prstGeom>
          <a:solidFill>
            <a:srgbClr val="EBF3FB"/>
          </a:solidFill>
          <a:ln w="14287">
            <a:solidFill>
              <a:srgbClr val="007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05550" y="2057400"/>
            <a:ext cx="2219325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522"/>
              </a:lnSpc>
              <a:spcAft>
                <a:spcPts val="0"/>
              </a:spcAft>
            </a:pPr>
            <a:r>
              <a:rPr sz="105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MQ-2 3초 샘플링</a:t>
            </a:r>
          </a:p>
          <a:p>
            <a:pPr algn="l">
              <a:lnSpc>
                <a:spcPts val="1259"/>
              </a:lnSpc>
              <a:spcBef>
                <a:spcPts val="300"/>
              </a:spcBef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GAS_INSPECTION_DURATION_MS = 3000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667750" y="2362200"/>
            <a:ext cx="133350" cy="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829675" y="1981200"/>
            <a:ext cx="2447925" cy="762000"/>
          </a:xfrm>
          <a:prstGeom prst="roundRect">
            <a:avLst>
              <a:gd name="adj" fmla="val 7500"/>
            </a:avLst>
          </a:prstGeom>
          <a:solidFill>
            <a:srgbClr val="F5F5F7"/>
          </a:solidFill>
          <a:ln w="14287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43975" y="2057400"/>
            <a:ext cx="2219325" cy="609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522"/>
              </a:lnSpc>
              <a:spcAft>
                <a:spcPts val="0"/>
              </a:spcAft>
            </a:pPr>
            <a:r>
              <a:rPr sz="105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결과 응답</a:t>
            </a:r>
          </a:p>
          <a:p>
            <a:pPr algn="l">
              <a:lnSpc>
                <a:spcPts val="1259"/>
              </a:lnSpc>
              <a:spcBef>
                <a:spcPts val="300"/>
              </a:spcBef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/env/gas_result 로 회신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2876550"/>
            <a:ext cx="3810000" cy="17907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sz="900" b="0" kern="0" spc="72">
                <a:solidFill>
                  <a:srgbClr val="333333"/>
                </a:solidFill>
                <a:latin typeface="Pretendard SemiBold"/>
                <a:cs typeface="Pretendard SemiBold"/>
              </a:rPr>
              <a:t>결과 유형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" y="3124200"/>
            <a:ext cx="3302000" cy="1295400"/>
          </a:xfrm>
          <a:prstGeom prst="roundRect">
            <a:avLst>
              <a:gd name="adj" fmla="val 4411"/>
            </a:avLst>
          </a:prstGeom>
          <a:solidFill>
            <a:srgbClr val="F5F5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1104900" y="3333750"/>
            <a:ext cx="910316" cy="190500"/>
          </a:xfrm>
          <a:prstGeom prst="roundRect">
            <a:avLst>
              <a:gd name="adj" fmla="val 15000"/>
            </a:avLst>
          </a:prstGeom>
          <a:solidFill>
            <a:srgbClr val="F1D3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104900" y="3333750"/>
            <a:ext cx="910316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900"/>
              </a:lnSpc>
              <a:spcAft>
                <a:spcPts val="0"/>
              </a:spcAft>
            </a:pPr>
            <a:r>
              <a:rPr sz="900" b="0" kern="0" spc="72">
                <a:solidFill>
                  <a:srgbClr val="D70015"/>
                </a:solidFill>
                <a:latin typeface="Pretendard SemiBold"/>
                <a:cs typeface="Pretendard SemiBold"/>
              </a:rPr>
              <a:t>DETECTED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4900" y="3600450"/>
            <a:ext cx="29210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575"/>
              </a:lnSpc>
              <a:spcAft>
                <a:spcPts val="0"/>
              </a:spcAft>
            </a:pPr>
            <a:r>
              <a:rPr sz="105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가스 검출 — 위험</a:t>
            </a:r>
          </a:p>
          <a:p>
            <a:pPr algn="l">
              <a:lnSpc>
                <a:spcPts val="1350"/>
              </a:lnSpc>
              <a:spcBef>
                <a:spcPts val="300"/>
              </a:spcBef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격납이 깨진 것으로 보고 위험으로 판정한다. 초동 조치 대상이 된다.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445000" y="3124200"/>
            <a:ext cx="3302000" cy="1295400"/>
          </a:xfrm>
          <a:prstGeom prst="roundRect">
            <a:avLst>
              <a:gd name="adj" fmla="val 4411"/>
            </a:avLst>
          </a:prstGeom>
          <a:solidFill>
            <a:srgbClr val="F5F5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4635500" y="3333750"/>
            <a:ext cx="640385" cy="190500"/>
          </a:xfrm>
          <a:prstGeom prst="roundRect">
            <a:avLst>
              <a:gd name="adj" fmla="val 15000"/>
            </a:avLst>
          </a:prstGeom>
          <a:solidFill>
            <a:srgbClr val="D8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635500" y="3333750"/>
            <a:ext cx="640385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900"/>
              </a:lnSpc>
              <a:spcAft>
                <a:spcPts val="0"/>
              </a:spcAft>
            </a:pPr>
            <a:r>
              <a:rPr sz="900" b="0" kern="0" spc="72">
                <a:solidFill>
                  <a:srgbClr val="248A3D"/>
                </a:solidFill>
                <a:latin typeface="Pretendard SemiBold"/>
                <a:cs typeface="Pretendard SemiBold"/>
              </a:rPr>
              <a:t>CLEAR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35500" y="3600450"/>
            <a:ext cx="29210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575"/>
              </a:lnSpc>
              <a:spcAft>
                <a:spcPts val="0"/>
              </a:spcAft>
            </a:pPr>
            <a:r>
              <a:rPr sz="105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가스 없음 — 통과</a:t>
            </a:r>
          </a:p>
          <a:p>
            <a:pPr algn="l">
              <a:lnSpc>
                <a:spcPts val="1350"/>
              </a:lnSpc>
              <a:spcBef>
                <a:spcPts val="300"/>
              </a:spcBef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격납이 유지된 상태로 보고 정상 판정 후 순찰을 이어간다.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975600" y="3124200"/>
            <a:ext cx="3302000" cy="1295400"/>
          </a:xfrm>
          <a:prstGeom prst="roundRect">
            <a:avLst>
              <a:gd name="adj" fmla="val 4411"/>
            </a:avLst>
          </a:prstGeom>
          <a:solidFill>
            <a:srgbClr val="F5F5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8166100" y="3333750"/>
            <a:ext cx="521970" cy="1905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166100" y="3333750"/>
            <a:ext cx="521970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900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"/>
                <a:cs typeface="Pretendard"/>
              </a:rPr>
              <a:t>ERROR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66100" y="3600450"/>
            <a:ext cx="2921000" cy="6667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575"/>
              </a:lnSpc>
              <a:spcAft>
                <a:spcPts val="0"/>
              </a:spcAft>
            </a:pPr>
            <a:r>
              <a:rPr sz="105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센서 오류 · 응답 없음</a:t>
            </a:r>
          </a:p>
          <a:p>
            <a:pPr algn="l">
              <a:lnSpc>
                <a:spcPts val="1350"/>
              </a:lnSpc>
              <a:spcBef>
                <a:spcPts val="300"/>
              </a:spcBef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5초 워치독(GAS_CHECK_TIMEOUT_S = 5.0)이 걸리면 오류로 처리한다. 위험도 정상도 아닌 세 번째 결과다.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09600" y="4953000"/>
            <a:ext cx="10972800" cy="1371600"/>
          </a:xfrm>
          <a:prstGeom prst="roundRect">
            <a:avLst>
              <a:gd name="adj" fmla="val 4166"/>
            </a:avLst>
          </a:prstGeom>
          <a:solidFill>
            <a:srgbClr val="FAFAFC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38200" y="5227320"/>
            <a:ext cx="3270250" cy="1428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sz="900" b="0" kern="0" spc="72">
                <a:solidFill>
                  <a:srgbClr val="333333"/>
                </a:solidFill>
                <a:latin typeface="Pretendard SemiBold"/>
                <a:cs typeface="Pretendard SemiBold"/>
              </a:rPr>
              <a:t>샘플링 시간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5421630"/>
            <a:ext cx="3270250" cy="419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</a:pPr>
            <a:r>
              <a:rPr sz="3300" b="1" kern="0" spc="-66">
                <a:solidFill>
                  <a:srgbClr val="0066CC"/>
                </a:solidFill>
                <a:latin typeface="Pretendard"/>
                <a:cs typeface="Pretendard"/>
              </a:rPr>
              <a:t>3초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8200" y="5878830"/>
            <a:ext cx="3270250" cy="342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GAS_INSPECTION_DURATION_MS = 3000 — 액체가 새는지 확인하기에 필요한 최소 구간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37050" y="5181600"/>
            <a:ext cx="9525" cy="91440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575175" y="5227320"/>
            <a:ext cx="3041650" cy="1428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sz="900" b="0" kern="0" spc="72">
                <a:solidFill>
                  <a:srgbClr val="333333"/>
                </a:solidFill>
                <a:latin typeface="Pretendard SemiBold"/>
                <a:cs typeface="Pretendard SemiBold"/>
              </a:rPr>
              <a:t>응답 워치독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5175" y="5421630"/>
            <a:ext cx="3041650" cy="419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</a:pPr>
            <a:r>
              <a:rPr sz="3300" b="1" kern="0" spc="-66">
                <a:solidFill>
                  <a:srgbClr val="0066CC"/>
                </a:solidFill>
                <a:latin typeface="Pretendard"/>
                <a:cs typeface="Pretendard"/>
              </a:rPr>
              <a:t>5초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5175" y="5878830"/>
            <a:ext cx="3041650" cy="342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GAS_CHECK_TIMEOUT_S = 5.0 — 응답이 늦어도 판정 흐름이 멈추지 않는다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845425" y="5181600"/>
            <a:ext cx="9525" cy="91440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083550" y="5227320"/>
            <a:ext cx="3270250" cy="1428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sz="900" b="0" kern="0" spc="72">
                <a:solidFill>
                  <a:srgbClr val="333333"/>
                </a:solidFill>
                <a:latin typeface="Pretendard SemiBold"/>
                <a:cs typeface="Pretendard SemiBold"/>
              </a:rPr>
              <a:t>결과 유형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83550" y="5421630"/>
            <a:ext cx="3270250" cy="419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</a:pPr>
            <a:r>
              <a:rPr sz="3300" b="1" kern="0" spc="-66">
                <a:solidFill>
                  <a:srgbClr val="0066CC"/>
                </a:solidFill>
                <a:latin typeface="Pretendard"/>
                <a:cs typeface="Pretendard"/>
              </a:rPr>
              <a:t>3가지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83550" y="5878830"/>
            <a:ext cx="3270250" cy="342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DETECTED · CLEAR · ERROR — 오류도 판정 결과로 명시해 놓친 검사를 남기지 않는다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600" y="476250"/>
            <a:ext cx="57150" cy="5715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3900" y="419100"/>
            <a:ext cx="10858500" cy="1714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75"/>
              </a:lnSpc>
              <a:spcAft>
                <a:spcPts val="0"/>
              </a:spcAft>
            </a:pPr>
            <a:r>
              <a:rPr sz="975" b="0" kern="0" spc="117">
                <a:solidFill>
                  <a:srgbClr val="333333"/>
                </a:solidFill>
                <a:latin typeface="Pretendard SemiBold"/>
                <a:cs typeface="Pretendard SemiBold"/>
              </a:rPr>
              <a:t>03 · 개발 프로그램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66750"/>
            <a:ext cx="10972800" cy="4381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3104"/>
              </a:lnSpc>
              <a:spcAft>
                <a:spcPts val="0"/>
              </a:spcAft>
            </a:pPr>
            <a:r>
              <a:rPr sz="2700" b="0" kern="0" spc="-54">
                <a:solidFill>
                  <a:srgbClr val="1D1D1F"/>
                </a:solidFill>
                <a:latin typeface="Pretendard SemiBold"/>
                <a:cs typeface="Pretendard SemiBold"/>
              </a:rPr>
              <a:t>사람의 시연 100회를 정책으로 학습했다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52525"/>
            <a:ext cx="10972800" cy="2476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48"/>
              </a:lnSpc>
              <a:spcAft>
                <a:spcPts val="0"/>
              </a:spcAft>
            </a:pPr>
            <a:r>
              <a:rPr sz="1275" b="0" kern="0" spc="-13">
                <a:solidFill>
                  <a:srgbClr val="333333"/>
                </a:solidFill>
                <a:latin typeface="Pretendard"/>
                <a:cs typeface="Pretendard"/>
              </a:rPr>
              <a:t>리더암으로 직접 보여준 동작을 ACT(Action Chunking Transformer)로 모방학습했다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504950"/>
            <a:ext cx="109728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55892" y="6505766"/>
            <a:ext cx="68580" cy="56578"/>
          </a:xfrm>
          <a:prstGeom prst="roundRect">
            <a:avLst>
              <a:gd name="adj" fmla="val 42424"/>
            </a:avLst>
          </a:prstGeom>
          <a:solidFill>
            <a:srgbClr val="1D1D1F"/>
          </a:solidFill>
          <a:ln w="4286">
            <a:solidFill>
              <a:srgbClr val="1D1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690181" y="6490335"/>
            <a:ext cx="0" cy="15431"/>
          </a:xfrm>
          <a:prstGeom prst="line">
            <a:avLst/>
          </a:prstGeom>
          <a:ln w="6000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84352" y="6481077"/>
            <a:ext cx="11659" cy="11659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1" name="Connector 10"/>
          <p:cNvCxnSpPr/>
          <p:nvPr/>
        </p:nvCxnSpPr>
        <p:spPr>
          <a:xfrm flipV="1">
            <a:off x="721042" y="6502336"/>
            <a:ext cx="27432" cy="17146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742474" y="6496336"/>
            <a:ext cx="12002" cy="12002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3" name="Connector 12"/>
          <p:cNvCxnSpPr/>
          <p:nvPr/>
        </p:nvCxnSpPr>
        <p:spPr>
          <a:xfrm>
            <a:off x="748474" y="6502336"/>
            <a:ext cx="12002" cy="24003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753275" y="6519139"/>
            <a:ext cx="14402" cy="14402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5" name="Connector 14"/>
          <p:cNvCxnSpPr/>
          <p:nvPr/>
        </p:nvCxnSpPr>
        <p:spPr>
          <a:xfrm flipV="1">
            <a:off x="760476" y="6516052"/>
            <a:ext cx="12002" cy="10287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0476" y="6526339"/>
            <a:ext cx="10287" cy="12002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63607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Oval 17"/>
          <p:cNvSpPr/>
          <p:nvPr/>
        </p:nvSpPr>
        <p:spPr>
          <a:xfrm>
            <a:off x="694468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Oval 18"/>
          <p:cNvSpPr/>
          <p:nvPr/>
        </p:nvSpPr>
        <p:spPr>
          <a:xfrm>
            <a:off x="679894" y="6517767"/>
            <a:ext cx="30861" cy="30861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Oval 19"/>
          <p:cNvSpPr/>
          <p:nvPr/>
        </p:nvSpPr>
        <p:spPr>
          <a:xfrm>
            <a:off x="696697" y="6525997"/>
            <a:ext cx="7544" cy="754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57250" y="6438900"/>
            <a:ext cx="4762500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825"/>
              </a:lnSpc>
              <a:spcAft>
                <a:spcPts val="0"/>
              </a:spcAft>
            </a:pPr>
            <a:r>
              <a:rPr sz="825" b="0" kern="0" spc="50">
                <a:solidFill>
                  <a:srgbClr val="7A7A7A"/>
                </a:solidFill>
                <a:latin typeface="Pretendard SemiBold"/>
                <a:cs typeface="Pretendard SemiBold"/>
              </a:rPr>
              <a:t>HazardBot 개발완료보고서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24900" y="6438900"/>
            <a:ext cx="2857500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825"/>
              </a:lnSpc>
              <a:spcAft>
                <a:spcPts val="0"/>
              </a:spcAft>
            </a:pPr>
            <a:r>
              <a:rPr sz="825" b="0" kern="0" spc="50">
                <a:solidFill>
                  <a:srgbClr val="7A7A7A"/>
                </a:solidFill>
                <a:latin typeface="Pretendard SemiBold"/>
                <a:cs typeface="Pretendard SemiBold"/>
              </a:rPr>
              <a:t>12 / 20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1676400"/>
            <a:ext cx="5372100" cy="3505200"/>
          </a:xfrm>
          <a:prstGeom prst="roundRect">
            <a:avLst>
              <a:gd name="adj" fmla="val 1630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4" name="Picture 23" descr="act_coll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300" y="1790700"/>
            <a:ext cx="4838700" cy="272415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76300" y="4552950"/>
            <a:ext cx="4838700" cy="533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시연 데이터를 쌓는 중 — 리더암은 사람 손에 있다</a:t>
            </a:r>
          </a:p>
          <a:p>
            <a:pPr algn="l">
              <a:lnSpc>
                <a:spcPts val="1237"/>
              </a:lnSpc>
              <a:spcBef>
                <a:spcPts val="300"/>
              </a:spcBef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두 손으로 잡은 흰색 팔이 리더암, 섀시 위 팔이 팔로워암이다. 사람이 움직인 그대로 팔로워가 따라가고, 그때의 관절값이 학습 데이터가 된다. 노트북 화면에 뜬 것은 학습에 쓰는 손목 카메라 뷰다.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0300" y="1676400"/>
            <a:ext cx="5372100" cy="3505200"/>
          </a:xfrm>
          <a:prstGeom prst="roundRect">
            <a:avLst>
              <a:gd name="adj" fmla="val 1630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15100" y="1905000"/>
            <a:ext cx="4914900" cy="17907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sz="900" b="0" kern="0" spc="72">
                <a:solidFill>
                  <a:srgbClr val="333333"/>
                </a:solidFill>
                <a:latin typeface="Pretendard SemiBold"/>
                <a:cs typeface="Pretendard SemiBold"/>
              </a:rPr>
              <a:t>수집에서 롤아웃까지 3단계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15100" y="2209800"/>
            <a:ext cx="4914900" cy="9334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575"/>
              </a:lnSpc>
              <a:spcAft>
                <a:spcPts val="0"/>
              </a:spcAft>
            </a:pPr>
            <a:r>
              <a:rPr sz="105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01 · 시연 데이터 수집</a:t>
            </a:r>
          </a:p>
          <a:p>
            <a:pPr algn="l">
              <a:lnSpc>
                <a:spcPts val="1350"/>
              </a:lnSpc>
              <a:spcBef>
                <a:spcPts val="225"/>
              </a:spcBef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리더-팔로워 구조라 사람이 보여준 궤적이 그대로 관절값으로 남는다. 적색 50 · 황색 50, 다섯 위치에 각 10회씩 배분해 100 에피소드를 모았다.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15100" y="3143250"/>
            <a:ext cx="49149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15100" y="3152775"/>
            <a:ext cx="4914900" cy="9334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575"/>
              </a:lnSpc>
              <a:spcAft>
                <a:spcPts val="0"/>
              </a:spcAft>
            </a:pPr>
            <a:r>
              <a:rPr sz="105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02 · ACT 정책 학습</a:t>
            </a:r>
          </a:p>
          <a:p>
            <a:pPr algn="l">
              <a:lnSpc>
                <a:spcPts val="1350"/>
              </a:lnSpc>
              <a:spcBef>
                <a:spcPts val="225"/>
              </a:spcBef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한 스텝씩이 아니라 여러 스텝을 한 덩어리(청크)로 예측하는 ACT 로 학습한다. 중간에 멈추면 실패하는 파지 작업에 적합하다.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15100" y="4086225"/>
            <a:ext cx="49149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515100" y="4095750"/>
            <a:ext cx="4914900" cy="9334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575"/>
              </a:lnSpc>
              <a:spcAft>
                <a:spcPts val="0"/>
              </a:spcAft>
            </a:pPr>
            <a:r>
              <a:rPr sz="105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03 · 정책 롤아웃</a:t>
            </a:r>
          </a:p>
          <a:p>
            <a:pPr algn="l">
              <a:lnSpc>
                <a:spcPts val="1350"/>
              </a:lnSpc>
              <a:spcBef>
                <a:spcPts val="225"/>
              </a:spcBef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학습된 정책이 카메라 관측을 받아 다음 청크를 내놓고 팔로워가 실행한다. 이 경로로 실물 30회를 측정했다.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9600" y="5410200"/>
            <a:ext cx="10972800" cy="914400"/>
          </a:xfrm>
          <a:prstGeom prst="roundRect">
            <a:avLst>
              <a:gd name="adj" fmla="val 6250"/>
            </a:avLst>
          </a:prstGeom>
          <a:solidFill>
            <a:srgbClr val="FAFAFC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38200" y="5600700"/>
            <a:ext cx="2393156" cy="1428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sz="900" b="0" kern="0" spc="72">
                <a:solidFill>
                  <a:srgbClr val="333333"/>
                </a:solidFill>
                <a:latin typeface="Pretendard SemiBold"/>
                <a:cs typeface="Pretendard SemiBold"/>
              </a:rPr>
              <a:t>시연 데이터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200" y="5791200"/>
            <a:ext cx="2393156" cy="3429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</a:pPr>
            <a:r>
              <a:rPr sz="2400" b="1" kern="0" spc="-48">
                <a:solidFill>
                  <a:srgbClr val="0066CC"/>
                </a:solidFill>
                <a:latin typeface="Pretendard"/>
                <a:cs typeface="Pretendard"/>
              </a:rPr>
              <a:t>100 에피소드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59956" y="5638800"/>
            <a:ext cx="9525" cy="45720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698081" y="5600700"/>
            <a:ext cx="2164556" cy="1428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sz="900" b="0" kern="0" spc="72">
                <a:solidFill>
                  <a:srgbClr val="333333"/>
                </a:solidFill>
                <a:latin typeface="Pretendard SemiBold"/>
                <a:cs typeface="Pretendard SemiBold"/>
              </a:rPr>
              <a:t>색상 배분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98081" y="5791200"/>
            <a:ext cx="2164556" cy="3429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</a:pPr>
            <a:r>
              <a:rPr sz="2400" b="1" kern="0" spc="-48">
                <a:solidFill>
                  <a:srgbClr val="0066CC"/>
                </a:solidFill>
                <a:latin typeface="Pretendard"/>
                <a:cs typeface="Pretendard"/>
              </a:rPr>
              <a:t>적 50 · 황 50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91238" y="5638800"/>
            <a:ext cx="9525" cy="45720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329362" y="5600700"/>
            <a:ext cx="2164556" cy="1428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sz="900" b="0" kern="0" spc="72">
                <a:solidFill>
                  <a:srgbClr val="333333"/>
                </a:solidFill>
                <a:latin typeface="Pretendard SemiBold"/>
                <a:cs typeface="Pretendard SemiBold"/>
              </a:rPr>
              <a:t>학습량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29362" y="5791200"/>
            <a:ext cx="2164556" cy="3429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</a:pPr>
            <a:r>
              <a:rPr sz="2400" b="1" kern="0" spc="-48">
                <a:solidFill>
                  <a:srgbClr val="0066CC"/>
                </a:solidFill>
                <a:latin typeface="Pretendard"/>
                <a:cs typeface="Pretendard"/>
              </a:rPr>
              <a:t>100,000 스텝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722519" y="5638800"/>
            <a:ext cx="9525" cy="45720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960644" y="5600700"/>
            <a:ext cx="2393156" cy="1428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sz="900" b="0" kern="0" spc="72">
                <a:solidFill>
                  <a:srgbClr val="333333"/>
                </a:solidFill>
                <a:latin typeface="Pretendard SemiBold"/>
                <a:cs typeface="Pretendard SemiBold"/>
              </a:rPr>
              <a:t>학습 시간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60644" y="5791200"/>
            <a:ext cx="2393156" cy="3429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400"/>
              </a:lnSpc>
              <a:spcAft>
                <a:spcPts val="0"/>
              </a:spcAft>
            </a:pPr>
            <a:r>
              <a:rPr sz="2400" b="1" kern="0" spc="-48">
                <a:solidFill>
                  <a:srgbClr val="0066CC"/>
                </a:solidFill>
                <a:latin typeface="Pretendard"/>
                <a:cs typeface="Pretendard"/>
              </a:rPr>
              <a:t>4시간 47분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600" y="476250"/>
            <a:ext cx="57150" cy="5715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3900" y="419100"/>
            <a:ext cx="10858500" cy="1714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75"/>
              </a:lnSpc>
              <a:spcAft>
                <a:spcPts val="0"/>
              </a:spcAft>
            </a:pPr>
            <a:r>
              <a:rPr sz="975" b="0" kern="0" spc="117">
                <a:solidFill>
                  <a:srgbClr val="333333"/>
                </a:solidFill>
                <a:latin typeface="Pretendard SemiBold"/>
                <a:cs typeface="Pretendard SemiBold"/>
              </a:rPr>
              <a:t>03 · 개발 프로그램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66750"/>
            <a:ext cx="10972800" cy="4381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3104"/>
              </a:lnSpc>
              <a:spcAft>
                <a:spcPts val="0"/>
              </a:spcAft>
            </a:pPr>
            <a:r>
              <a:rPr sz="2700" b="0" kern="0" spc="-54">
                <a:solidFill>
                  <a:srgbClr val="1D1D1F"/>
                </a:solidFill>
                <a:latin typeface="Pretendard SemiBold"/>
                <a:cs typeface="Pretendard SemiBold"/>
              </a:rPr>
              <a:t>집어서 넣고 뚜껑까지, 한 번에 수행한다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52525"/>
            <a:ext cx="10972800" cy="2476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48"/>
              </a:lnSpc>
              <a:spcAft>
                <a:spcPts val="0"/>
              </a:spcAft>
            </a:pPr>
            <a:r>
              <a:rPr sz="1275" b="0" kern="0" spc="-13">
                <a:solidFill>
                  <a:srgbClr val="333333"/>
                </a:solidFill>
                <a:latin typeface="Pretendard"/>
                <a:cs typeface="Pretendard"/>
              </a:rPr>
              <a:t>네 단계를 하나의 에피소드로 학습해 중간 개입 없이 이어서 실행한다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504950"/>
            <a:ext cx="109728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55892" y="6505766"/>
            <a:ext cx="68580" cy="56578"/>
          </a:xfrm>
          <a:prstGeom prst="roundRect">
            <a:avLst>
              <a:gd name="adj" fmla="val 42424"/>
            </a:avLst>
          </a:prstGeom>
          <a:solidFill>
            <a:srgbClr val="1D1D1F"/>
          </a:solidFill>
          <a:ln w="4286">
            <a:solidFill>
              <a:srgbClr val="1D1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690181" y="6490335"/>
            <a:ext cx="0" cy="15431"/>
          </a:xfrm>
          <a:prstGeom prst="line">
            <a:avLst/>
          </a:prstGeom>
          <a:ln w="6000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84352" y="6481077"/>
            <a:ext cx="11659" cy="11659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1" name="Connector 10"/>
          <p:cNvCxnSpPr/>
          <p:nvPr/>
        </p:nvCxnSpPr>
        <p:spPr>
          <a:xfrm flipV="1">
            <a:off x="721042" y="6502336"/>
            <a:ext cx="27432" cy="17146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742474" y="6496336"/>
            <a:ext cx="12002" cy="12002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3" name="Connector 12"/>
          <p:cNvCxnSpPr/>
          <p:nvPr/>
        </p:nvCxnSpPr>
        <p:spPr>
          <a:xfrm>
            <a:off x="748474" y="6502336"/>
            <a:ext cx="12002" cy="24003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753275" y="6519139"/>
            <a:ext cx="14402" cy="14402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5" name="Connector 14"/>
          <p:cNvCxnSpPr/>
          <p:nvPr/>
        </p:nvCxnSpPr>
        <p:spPr>
          <a:xfrm flipV="1">
            <a:off x="760476" y="6516052"/>
            <a:ext cx="12002" cy="10287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0476" y="6526339"/>
            <a:ext cx="10287" cy="12002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63607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Oval 17"/>
          <p:cNvSpPr/>
          <p:nvPr/>
        </p:nvSpPr>
        <p:spPr>
          <a:xfrm>
            <a:off x="694468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Oval 18"/>
          <p:cNvSpPr/>
          <p:nvPr/>
        </p:nvSpPr>
        <p:spPr>
          <a:xfrm>
            <a:off x="679894" y="6517767"/>
            <a:ext cx="30861" cy="30861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Oval 19"/>
          <p:cNvSpPr/>
          <p:nvPr/>
        </p:nvSpPr>
        <p:spPr>
          <a:xfrm>
            <a:off x="696697" y="6525997"/>
            <a:ext cx="7544" cy="754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57250" y="6438900"/>
            <a:ext cx="4762500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825"/>
              </a:lnSpc>
              <a:spcAft>
                <a:spcPts val="0"/>
              </a:spcAft>
            </a:pPr>
            <a:r>
              <a:rPr sz="825" b="0" kern="0" spc="50">
                <a:solidFill>
                  <a:srgbClr val="7A7A7A"/>
                </a:solidFill>
                <a:latin typeface="Pretendard SemiBold"/>
                <a:cs typeface="Pretendard SemiBold"/>
              </a:rPr>
              <a:t>HazardBot 개발완료보고서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24900" y="6438900"/>
            <a:ext cx="2857500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825"/>
              </a:lnSpc>
              <a:spcAft>
                <a:spcPts val="0"/>
              </a:spcAft>
            </a:pPr>
            <a:r>
              <a:rPr sz="825" b="0" kern="0" spc="50">
                <a:solidFill>
                  <a:srgbClr val="7A7A7A"/>
                </a:solidFill>
                <a:latin typeface="Pretendard SemiBold"/>
                <a:cs typeface="Pretendard SemiBold"/>
              </a:rPr>
              <a:t>13 / 20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1676400"/>
            <a:ext cx="3505200" cy="4648200"/>
          </a:xfrm>
          <a:prstGeom prst="roundRect">
            <a:avLst>
              <a:gd name="adj" fmla="val 1630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8200" y="1905000"/>
            <a:ext cx="3048000" cy="1428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sz="900" b="0" kern="0" spc="72">
                <a:solidFill>
                  <a:srgbClr val="333333"/>
                </a:solidFill>
                <a:latin typeface="Pretendard SemiBold"/>
                <a:cs typeface="Pretendard SemiBold"/>
              </a:rPr>
              <a:t>단일 에피소드 태스크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200" y="2162175"/>
            <a:ext cx="3048000" cy="88201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575"/>
              </a:lnSpc>
              <a:spcAft>
                <a:spcPts val="0"/>
              </a:spcAft>
            </a:pPr>
            <a:r>
              <a:rPr sz="105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01 · 위험물 파지</a:t>
            </a:r>
          </a:p>
          <a:p>
            <a:pPr algn="l">
              <a:lnSpc>
                <a:spcPts val="1350"/>
              </a:lnSpc>
              <a:spcBef>
                <a:spcPts val="225"/>
              </a:spcBef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정지 지점에 놓인 물체를 집는다. 파지가 실패하면 이후 단계가 모두 무의미해지는 가장 어려운 구간이다.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8200" y="3044190"/>
            <a:ext cx="30480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38200" y="3053715"/>
            <a:ext cx="3048000" cy="71056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575"/>
              </a:lnSpc>
              <a:spcAft>
                <a:spcPts val="0"/>
              </a:spcAft>
            </a:pPr>
            <a:r>
              <a:rPr sz="105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02 · 이동</a:t>
            </a:r>
          </a:p>
          <a:p>
            <a:pPr algn="l">
              <a:lnSpc>
                <a:spcPts val="1350"/>
              </a:lnSpc>
              <a:spcBef>
                <a:spcPts val="225"/>
              </a:spcBef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집은 상태를 유지한 채 격리함 위치까지 팔을 옮긴다.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8200" y="3764280"/>
            <a:ext cx="30480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38200" y="3773805"/>
            <a:ext cx="3048000" cy="71056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575"/>
              </a:lnSpc>
              <a:spcAft>
                <a:spcPts val="0"/>
              </a:spcAft>
            </a:pPr>
            <a:r>
              <a:rPr sz="105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03 · 격리함 투입</a:t>
            </a:r>
          </a:p>
          <a:p>
            <a:pPr algn="l">
              <a:lnSpc>
                <a:spcPts val="1350"/>
              </a:lnSpc>
              <a:spcBef>
                <a:spcPts val="225"/>
              </a:spcBef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격리함 안으로 물체를 넣고 그리퍼를 연다.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8200" y="4484370"/>
            <a:ext cx="30480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38200" y="4493895"/>
            <a:ext cx="3048000" cy="71056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575"/>
              </a:lnSpc>
              <a:spcAft>
                <a:spcPts val="0"/>
              </a:spcAft>
            </a:pPr>
            <a:r>
              <a:rPr sz="105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04 · 뚜껑 닫기</a:t>
            </a:r>
          </a:p>
          <a:p>
            <a:pPr algn="l">
              <a:lnSpc>
                <a:spcPts val="1350"/>
              </a:lnSpc>
              <a:spcBef>
                <a:spcPts val="225"/>
              </a:spcBef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격리함 뚜껑을 덮어 취급구역에서 격리를 완료한다.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8200" y="5204460"/>
            <a:ext cx="30480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8200" y="5213985"/>
            <a:ext cx="3048000" cy="88201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575"/>
              </a:lnSpc>
              <a:spcAft>
                <a:spcPts val="0"/>
              </a:spcAft>
            </a:pPr>
            <a:r>
              <a:rPr sz="105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05 · 홈 복귀</a:t>
            </a:r>
          </a:p>
          <a:p>
            <a:pPr algn="l">
              <a:lnSpc>
                <a:spcPts val="1350"/>
              </a:lnSpc>
              <a:spcBef>
                <a:spcPts val="225"/>
              </a:spcBef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3초 선형 보간으로 부드럽게 홈 포지션으로 돌아가 다음 지점에 대비한다.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1676400"/>
            <a:ext cx="7239000" cy="4648200"/>
          </a:xfrm>
          <a:prstGeom prst="roundRect">
            <a:avLst>
              <a:gd name="adj" fmla="val 1229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5" name="Picture 34" descr="gri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7700" y="1790700"/>
            <a:ext cx="3448050" cy="19431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457700" y="3790950"/>
            <a:ext cx="3448050" cy="152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96"/>
              </a:lnSpc>
              <a:spcAft>
                <a:spcPts val="0"/>
              </a:spcAft>
            </a:pPr>
            <a:r>
              <a:rPr sz="825" b="0" kern="0" spc="0">
                <a:solidFill>
                  <a:srgbClr val="0066CC"/>
                </a:solidFill>
                <a:latin typeface="Pretendard SemiBold"/>
                <a:cs typeface="Pretendard SemiBold"/>
              </a:rPr>
              <a:t>01  </a:t>
            </a:r>
            <a:r>
              <a:rPr sz="825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위험물 파지</a:t>
            </a: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  —  그리퍼가 적색 원통을 문다</a:t>
            </a:r>
          </a:p>
        </p:txBody>
      </p:sp>
      <p:pic>
        <p:nvPicPr>
          <p:cNvPr id="37" name="Picture 36" descr="gri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0050" y="1790700"/>
            <a:ext cx="3448050" cy="19431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020050" y="3790950"/>
            <a:ext cx="3448050" cy="152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96"/>
              </a:lnSpc>
              <a:spcAft>
                <a:spcPts val="0"/>
              </a:spcAft>
            </a:pPr>
            <a:r>
              <a:rPr sz="825" b="0" kern="0" spc="0">
                <a:solidFill>
                  <a:srgbClr val="0066CC"/>
                </a:solidFill>
                <a:latin typeface="Pretendard SemiBold"/>
                <a:cs typeface="Pretendard SemiBold"/>
              </a:rPr>
              <a:t>02  </a:t>
            </a:r>
            <a:r>
              <a:rPr sz="825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이동</a:t>
            </a: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  —  집은 채로 들어 올려 옮긴다</a:t>
            </a:r>
          </a:p>
        </p:txBody>
      </p:sp>
      <p:pic>
        <p:nvPicPr>
          <p:cNvPr id="39" name="Picture 38" descr="grip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7700" y="4057650"/>
            <a:ext cx="3448050" cy="19431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4457700" y="6057900"/>
            <a:ext cx="3448050" cy="152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96"/>
              </a:lnSpc>
              <a:spcAft>
                <a:spcPts val="0"/>
              </a:spcAft>
            </a:pPr>
            <a:r>
              <a:rPr sz="825" b="0" kern="0" spc="0">
                <a:solidFill>
                  <a:srgbClr val="0066CC"/>
                </a:solidFill>
                <a:latin typeface="Pretendard SemiBold"/>
                <a:cs typeface="Pretendard SemiBold"/>
              </a:rPr>
              <a:t>03  </a:t>
            </a:r>
            <a:r>
              <a:rPr sz="825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격리함 투입</a:t>
            </a: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  —  격리함 안으로 내려놓는다</a:t>
            </a:r>
          </a:p>
        </p:txBody>
      </p:sp>
      <p:pic>
        <p:nvPicPr>
          <p:cNvPr id="41" name="Picture 40" descr="grip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0050" y="4057650"/>
            <a:ext cx="3448050" cy="19431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8020050" y="6057900"/>
            <a:ext cx="3448050" cy="152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96"/>
              </a:lnSpc>
              <a:spcAft>
                <a:spcPts val="0"/>
              </a:spcAft>
            </a:pPr>
            <a:r>
              <a:rPr sz="825" b="0" kern="0" spc="0">
                <a:solidFill>
                  <a:srgbClr val="0066CC"/>
                </a:solidFill>
                <a:latin typeface="Pretendard SemiBold"/>
                <a:cs typeface="Pretendard SemiBold"/>
              </a:rPr>
              <a:t>04  </a:t>
            </a:r>
            <a:r>
              <a:rPr sz="825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뚜껑 닫기</a:t>
            </a: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  —  육각 뚜껑을 덮어 격리 완료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600" y="476250"/>
            <a:ext cx="57150" cy="5715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3900" y="419100"/>
            <a:ext cx="10858500" cy="1714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75"/>
              </a:lnSpc>
              <a:spcAft>
                <a:spcPts val="0"/>
              </a:spcAft>
            </a:pPr>
            <a:r>
              <a:rPr sz="975" b="0" kern="0" spc="117">
                <a:solidFill>
                  <a:srgbClr val="333333"/>
                </a:solidFill>
                <a:latin typeface="Pretendard SemiBold"/>
                <a:cs typeface="Pretendard SemiBold"/>
              </a:rPr>
              <a:t>03 · 개발 프로그램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66750"/>
            <a:ext cx="10972800" cy="4381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3104"/>
              </a:lnSpc>
              <a:spcAft>
                <a:spcPts val="0"/>
              </a:spcAft>
            </a:pPr>
            <a:r>
              <a:rPr sz="2700" b="0" kern="0" spc="-54">
                <a:solidFill>
                  <a:srgbClr val="1D1D1F"/>
                </a:solidFill>
                <a:latin typeface="Pretendard SemiBold"/>
                <a:cs typeface="Pretendard SemiBold"/>
              </a:rPr>
              <a:t>판정에서 조치까지, 그리고 화면에 남는 기록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52525"/>
            <a:ext cx="10972800" cy="2476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48"/>
              </a:lnSpc>
              <a:spcAft>
                <a:spcPts val="0"/>
              </a:spcAft>
            </a:pPr>
            <a:r>
              <a:rPr sz="1275" b="0" kern="0" spc="-13">
                <a:solidFill>
                  <a:srgbClr val="333333"/>
                </a:solidFill>
                <a:latin typeface="Pretendard"/>
                <a:cs typeface="Pretendard"/>
              </a:rPr>
              <a:t>판정 노드가 위험을 알리면 오케스트레이터가 조치를 요청하고, 그 과정이 대시보드에 실시간으로 쌓인다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504950"/>
            <a:ext cx="109728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55892" y="6505766"/>
            <a:ext cx="68580" cy="56578"/>
          </a:xfrm>
          <a:prstGeom prst="roundRect">
            <a:avLst>
              <a:gd name="adj" fmla="val 42424"/>
            </a:avLst>
          </a:prstGeom>
          <a:solidFill>
            <a:srgbClr val="1D1D1F"/>
          </a:solidFill>
          <a:ln w="4286">
            <a:solidFill>
              <a:srgbClr val="1D1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690181" y="6490335"/>
            <a:ext cx="0" cy="15431"/>
          </a:xfrm>
          <a:prstGeom prst="line">
            <a:avLst/>
          </a:prstGeom>
          <a:ln w="6000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84352" y="6481077"/>
            <a:ext cx="11659" cy="11659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1" name="Connector 10"/>
          <p:cNvCxnSpPr/>
          <p:nvPr/>
        </p:nvCxnSpPr>
        <p:spPr>
          <a:xfrm flipV="1">
            <a:off x="721042" y="6502336"/>
            <a:ext cx="27432" cy="17146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742474" y="6496336"/>
            <a:ext cx="12002" cy="12002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3" name="Connector 12"/>
          <p:cNvCxnSpPr/>
          <p:nvPr/>
        </p:nvCxnSpPr>
        <p:spPr>
          <a:xfrm>
            <a:off x="748474" y="6502336"/>
            <a:ext cx="12002" cy="24003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753275" y="6519139"/>
            <a:ext cx="14402" cy="14402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5" name="Connector 14"/>
          <p:cNvCxnSpPr/>
          <p:nvPr/>
        </p:nvCxnSpPr>
        <p:spPr>
          <a:xfrm flipV="1">
            <a:off x="760476" y="6516052"/>
            <a:ext cx="12002" cy="10287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0476" y="6526339"/>
            <a:ext cx="10287" cy="12002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63607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Oval 17"/>
          <p:cNvSpPr/>
          <p:nvPr/>
        </p:nvSpPr>
        <p:spPr>
          <a:xfrm>
            <a:off x="694468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Oval 18"/>
          <p:cNvSpPr/>
          <p:nvPr/>
        </p:nvSpPr>
        <p:spPr>
          <a:xfrm>
            <a:off x="679894" y="6517767"/>
            <a:ext cx="30861" cy="30861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Oval 19"/>
          <p:cNvSpPr/>
          <p:nvPr/>
        </p:nvSpPr>
        <p:spPr>
          <a:xfrm>
            <a:off x="696697" y="6525997"/>
            <a:ext cx="7544" cy="754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57250" y="6438900"/>
            <a:ext cx="4762500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825"/>
              </a:lnSpc>
              <a:spcAft>
                <a:spcPts val="0"/>
              </a:spcAft>
            </a:pPr>
            <a:r>
              <a:rPr sz="825" b="0" kern="0" spc="50">
                <a:solidFill>
                  <a:srgbClr val="7A7A7A"/>
                </a:solidFill>
                <a:latin typeface="Pretendard SemiBold"/>
                <a:cs typeface="Pretendard SemiBold"/>
              </a:rPr>
              <a:t>HazardBot 개발완료보고서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24900" y="6438900"/>
            <a:ext cx="2857500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825"/>
              </a:lnSpc>
              <a:spcAft>
                <a:spcPts val="0"/>
              </a:spcAft>
            </a:pPr>
            <a:r>
              <a:rPr sz="825" b="0" kern="0" spc="50">
                <a:solidFill>
                  <a:srgbClr val="7A7A7A"/>
                </a:solidFill>
                <a:latin typeface="Pretendard SemiBold"/>
                <a:cs typeface="Pretendard SemiBold"/>
              </a:rPr>
              <a:t>14 / 20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1676400"/>
            <a:ext cx="5372100" cy="4648200"/>
          </a:xfrm>
          <a:prstGeom prst="roundRect">
            <a:avLst>
              <a:gd name="adj" fmla="val 1229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1905000"/>
            <a:ext cx="4914900" cy="17907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sz="900" b="0" kern="0" spc="72">
                <a:solidFill>
                  <a:srgbClr val="333333"/>
                </a:solidFill>
                <a:latin typeface="Pretendard SemiBold"/>
                <a:cs typeface="Pretendard SemiBold"/>
              </a:rPr>
              <a:t>ROS2 통합 파이프라인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2247900"/>
            <a:ext cx="4914900" cy="609600"/>
          </a:xfrm>
          <a:prstGeom prst="roundRect">
            <a:avLst>
              <a:gd name="adj" fmla="val 9375"/>
            </a:avLst>
          </a:prstGeom>
          <a:solidFill>
            <a:srgbClr val="F5F5F7"/>
          </a:solidFill>
          <a:ln w="14287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47750" y="2324100"/>
            <a:ext cx="4648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413"/>
              </a:lnSpc>
              <a:spcAft>
                <a:spcPts val="0"/>
              </a:spcAft>
            </a:pPr>
            <a:r>
              <a:rPr sz="975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hazard_detector_node</a:t>
            </a:r>
          </a:p>
          <a:p>
            <a:pPr algn="l">
              <a:lnSpc>
                <a:spcPts val="1259"/>
              </a:lnSpc>
              <a:spcBef>
                <a:spcPts val="300"/>
              </a:spcBef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색상과 가스 결과를 합쳐 최종 위험 판정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371850" y="2857500"/>
            <a:ext cx="0" cy="22860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448050" y="2895600"/>
            <a:ext cx="2095500" cy="16573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825" b="0" kern="0" spc="0">
                <a:solidFill>
                  <a:srgbClr val="7A7A7A"/>
                </a:solidFill>
                <a:latin typeface="Pretendard"/>
                <a:cs typeface="Pretendard"/>
              </a:rPr>
              <a:t>/hazard/detected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" y="3238500"/>
            <a:ext cx="4914900" cy="609600"/>
          </a:xfrm>
          <a:prstGeom prst="roundRect">
            <a:avLst>
              <a:gd name="adj" fmla="val 9375"/>
            </a:avLst>
          </a:prstGeom>
          <a:solidFill>
            <a:srgbClr val="EBF3FB"/>
          </a:solidFill>
          <a:ln w="14287">
            <a:solidFill>
              <a:srgbClr val="0071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47750" y="3314700"/>
            <a:ext cx="4648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413"/>
              </a:lnSpc>
              <a:spcAft>
                <a:spcPts val="0"/>
              </a:spcAft>
            </a:pPr>
            <a:r>
              <a:rPr sz="975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mission_orchestrator</a:t>
            </a:r>
          </a:p>
          <a:p>
            <a:pPr algn="l">
              <a:lnSpc>
                <a:spcPts val="1259"/>
              </a:lnSpc>
              <a:spcBef>
                <a:spcPts val="300"/>
              </a:spcBef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조치 필요 여부 판단 · 전체 상태 관리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371850" y="3848100"/>
            <a:ext cx="0" cy="22860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448050" y="3886200"/>
            <a:ext cx="2095500" cy="16573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825" b="0" kern="0" spc="0">
                <a:solidFill>
                  <a:srgbClr val="7A7A7A"/>
                </a:solidFill>
                <a:latin typeface="Pretendard"/>
                <a:cs typeface="Pretendard"/>
              </a:rPr>
              <a:t>/arm/grip_request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4400" y="4229100"/>
            <a:ext cx="4914900" cy="609600"/>
          </a:xfrm>
          <a:prstGeom prst="roundRect">
            <a:avLst>
              <a:gd name="adj" fmla="val 9375"/>
            </a:avLst>
          </a:prstGeom>
          <a:solidFill>
            <a:srgbClr val="F5F5F7"/>
          </a:solidFill>
          <a:ln w="14287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47750" y="4305300"/>
            <a:ext cx="4648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413"/>
              </a:lnSpc>
              <a:spcAft>
                <a:spcPts val="0"/>
              </a:spcAft>
            </a:pPr>
            <a:r>
              <a:rPr sz="975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arm_act_node</a:t>
            </a:r>
          </a:p>
          <a:p>
            <a:pPr algn="l">
              <a:lnSpc>
                <a:spcPts val="1259"/>
              </a:lnSpc>
              <a:spcBef>
                <a:spcPts val="300"/>
              </a:spcBef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lerobot-rollout 으로 ACT 정책 실행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371850" y="4838700"/>
            <a:ext cx="0" cy="228600"/>
          </a:xfrm>
          <a:prstGeom prst="line">
            <a:avLst/>
          </a:prstGeom>
          <a:ln w="14287" cap="rnd">
            <a:solidFill>
              <a:srgbClr val="7A7A7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448050" y="4876800"/>
            <a:ext cx="2095500" cy="16573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825" b="0" kern="0" spc="0">
                <a:solidFill>
                  <a:srgbClr val="7A7A7A"/>
                </a:solidFill>
                <a:latin typeface="Pretendard"/>
                <a:cs typeface="Pretendard"/>
              </a:rPr>
              <a:t>/arm/act_result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" y="5219700"/>
            <a:ext cx="4914900" cy="609600"/>
          </a:xfrm>
          <a:prstGeom prst="roundRect">
            <a:avLst>
              <a:gd name="adj" fmla="val 9375"/>
            </a:avLst>
          </a:prstGeom>
          <a:solidFill>
            <a:srgbClr val="F5F5F7"/>
          </a:solidFill>
          <a:ln w="14287">
            <a:solidFill>
              <a:srgbClr val="7A7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047750" y="5295900"/>
            <a:ext cx="464820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413"/>
              </a:lnSpc>
              <a:spcAft>
                <a:spcPts val="0"/>
              </a:spcAft>
            </a:pPr>
            <a:r>
              <a:rPr sz="975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결과 회신</a:t>
            </a:r>
          </a:p>
          <a:p>
            <a:pPr algn="l">
              <a:lnSpc>
                <a:spcPts val="1259"/>
              </a:lnSpc>
              <a:spcBef>
                <a:spcPts val="300"/>
              </a:spcBef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성공 · 실패를 오케스트레이터로 되돌린다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0300" y="1676400"/>
            <a:ext cx="5372100" cy="4648200"/>
          </a:xfrm>
          <a:prstGeom prst="roundRect">
            <a:avLst>
              <a:gd name="adj" fmla="val 1229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0" name="Picture 39" descr="dash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8900" y="1790700"/>
            <a:ext cx="4914900" cy="3724275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438900" y="5591175"/>
            <a:ext cx="4914900" cy="6191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RPi 가 호스팅하는 실시간 대시보드 — hazardbot.local:8080</a:t>
            </a:r>
          </a:p>
          <a:p>
            <a:pPr algn="l">
              <a:lnSpc>
                <a:spcPts val="1237"/>
              </a:lnSpc>
              <a:spcBef>
                <a:spcPts val="300"/>
              </a:spcBef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EVENT LOG 한 화면에 세 판정이 다 남아 있다 — 황색 위반, 적색·가스 없음(통과), 적색·가스 감지(격납 파손). HAZARD LEVEL 은 종합 판정이 아니라 가스 지표라 황색 판정 때도 L0 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600" y="476250"/>
            <a:ext cx="57150" cy="5715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3900" y="419100"/>
            <a:ext cx="10858500" cy="1714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75"/>
              </a:lnSpc>
              <a:spcAft>
                <a:spcPts val="0"/>
              </a:spcAft>
            </a:pPr>
            <a:r>
              <a:rPr sz="975" b="0" kern="0" spc="117">
                <a:solidFill>
                  <a:srgbClr val="333333"/>
                </a:solidFill>
                <a:latin typeface="Pretendard SemiBold"/>
                <a:cs typeface="Pretendard SemiBold"/>
              </a:rPr>
              <a:t>03 · 개발 프로그램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66750"/>
            <a:ext cx="10972800" cy="4381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3104"/>
              </a:lnSpc>
              <a:spcAft>
                <a:spcPts val="0"/>
              </a:spcAft>
            </a:pPr>
            <a:r>
              <a:rPr sz="2700" b="0" kern="0" spc="-54">
                <a:solidFill>
                  <a:srgbClr val="1D1D1F"/>
                </a:solidFill>
                <a:latin typeface="Pretendard SemiBold"/>
                <a:cs typeface="Pretendard SemiBold"/>
              </a:rPr>
              <a:t>파지 30회, 판정 3케이스를 실물로 확인했다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52525"/>
            <a:ext cx="10972800" cy="2476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48"/>
              </a:lnSpc>
              <a:spcAft>
                <a:spcPts val="0"/>
              </a:spcAft>
            </a:pPr>
            <a:r>
              <a:rPr sz="1275" b="0" kern="0" spc="-13">
                <a:solidFill>
                  <a:srgbClr val="333333"/>
                </a:solidFill>
                <a:latin typeface="Pretendard"/>
                <a:cs typeface="Pretendard"/>
              </a:rPr>
              <a:t>ACT 파지는 성공률로, 규칙 기반 판정 로직은 케이스별 실물 시연으로 각각 검증했다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504950"/>
            <a:ext cx="109728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55892" y="6505766"/>
            <a:ext cx="68580" cy="56578"/>
          </a:xfrm>
          <a:prstGeom prst="roundRect">
            <a:avLst>
              <a:gd name="adj" fmla="val 42424"/>
            </a:avLst>
          </a:prstGeom>
          <a:solidFill>
            <a:srgbClr val="1D1D1F"/>
          </a:solidFill>
          <a:ln w="4286">
            <a:solidFill>
              <a:srgbClr val="1D1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690181" y="6490335"/>
            <a:ext cx="0" cy="15431"/>
          </a:xfrm>
          <a:prstGeom prst="line">
            <a:avLst/>
          </a:prstGeom>
          <a:ln w="6000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84352" y="6481077"/>
            <a:ext cx="11659" cy="11659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1" name="Connector 10"/>
          <p:cNvCxnSpPr/>
          <p:nvPr/>
        </p:nvCxnSpPr>
        <p:spPr>
          <a:xfrm flipV="1">
            <a:off x="721042" y="6502336"/>
            <a:ext cx="27432" cy="17146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742474" y="6496336"/>
            <a:ext cx="12002" cy="12002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3" name="Connector 12"/>
          <p:cNvCxnSpPr/>
          <p:nvPr/>
        </p:nvCxnSpPr>
        <p:spPr>
          <a:xfrm>
            <a:off x="748474" y="6502336"/>
            <a:ext cx="12002" cy="24003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753275" y="6519139"/>
            <a:ext cx="14402" cy="14402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5" name="Connector 14"/>
          <p:cNvCxnSpPr/>
          <p:nvPr/>
        </p:nvCxnSpPr>
        <p:spPr>
          <a:xfrm flipV="1">
            <a:off x="760476" y="6516052"/>
            <a:ext cx="12002" cy="10287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0476" y="6526339"/>
            <a:ext cx="10287" cy="12002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63607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Oval 17"/>
          <p:cNvSpPr/>
          <p:nvPr/>
        </p:nvSpPr>
        <p:spPr>
          <a:xfrm>
            <a:off x="694468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Oval 18"/>
          <p:cNvSpPr/>
          <p:nvPr/>
        </p:nvSpPr>
        <p:spPr>
          <a:xfrm>
            <a:off x="679894" y="6517767"/>
            <a:ext cx="30861" cy="30861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Oval 19"/>
          <p:cNvSpPr/>
          <p:nvPr/>
        </p:nvSpPr>
        <p:spPr>
          <a:xfrm>
            <a:off x="696697" y="6525997"/>
            <a:ext cx="7544" cy="754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57250" y="6438900"/>
            <a:ext cx="4762500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825"/>
              </a:lnSpc>
              <a:spcAft>
                <a:spcPts val="0"/>
              </a:spcAft>
            </a:pPr>
            <a:r>
              <a:rPr sz="825" b="0" kern="0" spc="50">
                <a:solidFill>
                  <a:srgbClr val="7A7A7A"/>
                </a:solidFill>
                <a:latin typeface="Pretendard SemiBold"/>
                <a:cs typeface="Pretendard SemiBold"/>
              </a:rPr>
              <a:t>HazardBot 개발완료보고서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24900" y="6438900"/>
            <a:ext cx="2857500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825"/>
              </a:lnSpc>
              <a:spcAft>
                <a:spcPts val="0"/>
              </a:spcAft>
            </a:pPr>
            <a:r>
              <a:rPr sz="825" b="0" kern="0" spc="50">
                <a:solidFill>
                  <a:srgbClr val="7A7A7A"/>
                </a:solidFill>
                <a:latin typeface="Pretendard SemiBold"/>
                <a:cs typeface="Pretendard SemiBold"/>
              </a:rPr>
              <a:t>15 / 20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1676400"/>
            <a:ext cx="5372100" cy="304800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1981200"/>
            <a:ext cx="4762500" cy="17907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sz="900" b="0" kern="0" spc="72">
                <a:solidFill>
                  <a:srgbClr val="333333"/>
                </a:solidFill>
                <a:latin typeface="Pretendard SemiBold"/>
                <a:cs typeface="Pretendard SemiBold"/>
              </a:rPr>
              <a:t>정지 위치별 ACT 파지 성공률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2381250"/>
            <a:ext cx="1809750" cy="419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sz="975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근거리 (center · rear)</a:t>
            </a:r>
          </a:p>
          <a:p>
            <a:pPr algn="l">
              <a:lnSpc>
                <a:spcPts val="1196"/>
              </a:lnSpc>
              <a:spcBef>
                <a:spcPts val="225"/>
              </a:spcBef>
              <a:spcAft>
                <a:spcPts val="0"/>
              </a:spcAft>
            </a:pPr>
            <a:r>
              <a:rPr sz="825" b="0" kern="0" spc="0">
                <a:solidFill>
                  <a:srgbClr val="7A7A7A"/>
                </a:solidFill>
                <a:latin typeface="Pretendard"/>
                <a:cs typeface="Pretendard"/>
              </a:rPr>
              <a:t>18회 중 18회 성공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819400" y="2438400"/>
            <a:ext cx="2286000" cy="20955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2819400" y="2438400"/>
            <a:ext cx="2286000" cy="20955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181600" y="2381250"/>
            <a:ext cx="49530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52"/>
              </a:lnSpc>
              <a:spcAft>
                <a:spcPts val="0"/>
              </a:spcAft>
            </a:pPr>
            <a:r>
              <a:rPr sz="1425" b="1" kern="0" spc="-29">
                <a:solidFill>
                  <a:srgbClr val="1D1D1F"/>
                </a:solidFill>
                <a:latin typeface="Pretendard"/>
                <a:cs typeface="Pretendard"/>
              </a:rPr>
              <a:t>100%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086100"/>
            <a:ext cx="1809750" cy="419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sz="975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원거리 (front)</a:t>
            </a:r>
          </a:p>
          <a:p>
            <a:pPr algn="l">
              <a:lnSpc>
                <a:spcPts val="1196"/>
              </a:lnSpc>
              <a:spcBef>
                <a:spcPts val="225"/>
              </a:spcBef>
              <a:spcAft>
                <a:spcPts val="0"/>
              </a:spcAft>
            </a:pPr>
            <a:r>
              <a:rPr sz="825" b="0" kern="0" spc="0">
                <a:solidFill>
                  <a:srgbClr val="7A7A7A"/>
                </a:solidFill>
                <a:latin typeface="Pretendard"/>
                <a:cs typeface="Pretendard"/>
              </a:rPr>
              <a:t>12회 중 8회 성공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19400" y="3143250"/>
            <a:ext cx="2286000" cy="20955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2819400" y="3143250"/>
            <a:ext cx="1524000" cy="209550"/>
          </a:xfrm>
          <a:prstGeom prst="rect">
            <a:avLst/>
          </a:prstGeom>
          <a:solidFill>
            <a:srgbClr val="7A7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181600" y="3086100"/>
            <a:ext cx="49530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52"/>
              </a:lnSpc>
              <a:spcAft>
                <a:spcPts val="0"/>
              </a:spcAft>
            </a:pPr>
            <a:r>
              <a:rPr sz="1425" b="1" kern="0" spc="-29">
                <a:solidFill>
                  <a:srgbClr val="1D1D1F"/>
                </a:solidFill>
                <a:latin typeface="Pretendard"/>
                <a:cs typeface="Pretendard"/>
              </a:rPr>
              <a:t>66.7%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4400" y="3810000"/>
            <a:ext cx="47625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14400" y="3943350"/>
            <a:ext cx="2857500" cy="285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sz="975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전체 30회 평균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10000" y="3924300"/>
            <a:ext cx="1866900" cy="3238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950"/>
              </a:lnSpc>
              <a:spcAft>
                <a:spcPts val="0"/>
              </a:spcAft>
            </a:pPr>
            <a:r>
              <a:rPr sz="1950" b="1" kern="0" spc="-39">
                <a:solidFill>
                  <a:srgbClr val="0066CC"/>
                </a:solidFill>
                <a:latin typeface="Pretendard"/>
                <a:cs typeface="Pretendard"/>
              </a:rPr>
              <a:t>86.7%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4305300"/>
            <a:ext cx="4762500" cy="16573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825" b="0" kern="0" spc="0">
                <a:solidFill>
                  <a:srgbClr val="7A7A7A"/>
                </a:solidFill>
                <a:latin typeface="Pretendard"/>
                <a:cs typeface="Pretendard"/>
              </a:rPr>
              <a:t>rollout_plan.csv — 3세트 × 10회, 위치와 색상을 섞어 측정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10300" y="1676400"/>
            <a:ext cx="5372100" cy="304800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38900" y="1981200"/>
            <a:ext cx="4914900" cy="17907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sz="900" b="0" kern="0" spc="72">
                <a:solidFill>
                  <a:srgbClr val="333333"/>
                </a:solidFill>
                <a:latin typeface="Pretendard SemiBold"/>
                <a:cs typeface="Pretendard SemiBold"/>
              </a:rPr>
              <a:t>판정 로직 실물 확인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2286000"/>
            <a:ext cx="1943100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sz="900" b="0" kern="0" spc="72">
                <a:solidFill>
                  <a:srgbClr val="333333"/>
                </a:solidFill>
                <a:latin typeface="Pretendard SemiBold"/>
                <a:cs typeface="Pretendard SemiBold"/>
              </a:rPr>
              <a:t>케이스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72500" y="2286000"/>
            <a:ext cx="762000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</a:pPr>
            <a:r>
              <a:rPr sz="900" b="0" kern="0" spc="72">
                <a:solidFill>
                  <a:srgbClr val="333333"/>
                </a:solidFill>
                <a:latin typeface="Pretendard SemiBold"/>
                <a:cs typeface="Pretendard SemiBold"/>
              </a:rPr>
              <a:t>시연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86900" y="2286000"/>
            <a:ext cx="1866900" cy="1524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sz="900" b="0" kern="0" spc="72">
                <a:solidFill>
                  <a:srgbClr val="333333"/>
                </a:solidFill>
                <a:latin typeface="Pretendard SemiBold"/>
                <a:cs typeface="Pretendard SemiBold"/>
              </a:rPr>
              <a:t>결과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38900" y="2514600"/>
            <a:ext cx="49149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3" name="Oval 42"/>
          <p:cNvSpPr/>
          <p:nvPr/>
        </p:nvSpPr>
        <p:spPr>
          <a:xfrm>
            <a:off x="6457950" y="2724150"/>
            <a:ext cx="95250" cy="95250"/>
          </a:xfrm>
          <a:prstGeom prst="ellipse">
            <a:avLst/>
          </a:prstGeom>
          <a:solidFill>
            <a:srgbClr val="B2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629400" y="2524125"/>
            <a:ext cx="1943100" cy="4953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sz="975" b="0" kern="0" spc="0">
                <a:solidFill>
                  <a:srgbClr val="1D1D1F"/>
                </a:solidFill>
                <a:latin typeface="Pretendard"/>
                <a:cs typeface="Pretendard"/>
              </a:rPr>
              <a:t>황색 — 산화성 고체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72500" y="2524125"/>
            <a:ext cx="762000" cy="4953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462"/>
              </a:lnSpc>
              <a:spcAft>
                <a:spcPts val="0"/>
              </a:spcAft>
            </a:pPr>
            <a:r>
              <a:rPr sz="975" b="0" kern="0" spc="0">
                <a:solidFill>
                  <a:srgbClr val="1D1D1F"/>
                </a:solidFill>
                <a:latin typeface="Pretendard"/>
                <a:cs typeface="Pretendard"/>
              </a:rPr>
              <a:t>3회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6900" y="2524125"/>
            <a:ext cx="1866900" cy="4953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sz="975" b="0" kern="0" spc="0">
                <a:solidFill>
                  <a:srgbClr val="333333"/>
                </a:solidFill>
                <a:latin typeface="Pretendard"/>
                <a:cs typeface="Pretendard"/>
              </a:rPr>
              <a:t>즉시 위험 판정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38900" y="3019425"/>
            <a:ext cx="49149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" name="Oval 47"/>
          <p:cNvSpPr/>
          <p:nvPr/>
        </p:nvSpPr>
        <p:spPr>
          <a:xfrm>
            <a:off x="6457950" y="3219450"/>
            <a:ext cx="95250" cy="95250"/>
          </a:xfrm>
          <a:prstGeom prst="ellipse">
            <a:avLst/>
          </a:prstGeom>
          <a:solidFill>
            <a:srgbClr val="D700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629400" y="3019425"/>
            <a:ext cx="1943100" cy="4953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sz="975" b="0" kern="0" spc="0">
                <a:solidFill>
                  <a:srgbClr val="1D1D1F"/>
                </a:solidFill>
                <a:latin typeface="Pretendard"/>
                <a:cs typeface="Pretendard"/>
              </a:rPr>
              <a:t>적색 — 가스 검출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72500" y="3019425"/>
            <a:ext cx="762000" cy="4953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462"/>
              </a:lnSpc>
              <a:spcAft>
                <a:spcPts val="0"/>
              </a:spcAft>
            </a:pPr>
            <a:r>
              <a:rPr sz="975" b="0" kern="0" spc="0">
                <a:solidFill>
                  <a:srgbClr val="1D1D1F"/>
                </a:solidFill>
                <a:latin typeface="Pretendard"/>
                <a:cs typeface="Pretendard"/>
              </a:rPr>
              <a:t>3회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86900" y="3019425"/>
            <a:ext cx="1866900" cy="4953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sz="975" b="0" kern="0" spc="0">
                <a:solidFill>
                  <a:srgbClr val="333333"/>
                </a:solidFill>
                <a:latin typeface="Pretendard"/>
                <a:cs typeface="Pretendard"/>
              </a:rPr>
              <a:t>위험 판정 · 격납 파손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38900" y="3514725"/>
            <a:ext cx="49149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3" name="Oval 52"/>
          <p:cNvSpPr/>
          <p:nvPr/>
        </p:nvSpPr>
        <p:spPr>
          <a:xfrm>
            <a:off x="6457950" y="3714750"/>
            <a:ext cx="95250" cy="95250"/>
          </a:xfrm>
          <a:prstGeom prst="ellipse">
            <a:avLst/>
          </a:prstGeom>
          <a:solidFill>
            <a:srgbClr val="24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629400" y="3514725"/>
            <a:ext cx="1943100" cy="4953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sz="975" b="0" kern="0" spc="0">
                <a:solidFill>
                  <a:srgbClr val="1D1D1F"/>
                </a:solidFill>
                <a:latin typeface="Pretendard"/>
                <a:cs typeface="Pretendard"/>
              </a:rPr>
              <a:t>적색 — 가스 없음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72500" y="3514725"/>
            <a:ext cx="762000" cy="4953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462"/>
              </a:lnSpc>
              <a:spcAft>
                <a:spcPts val="0"/>
              </a:spcAft>
            </a:pPr>
            <a:r>
              <a:rPr sz="975" b="0" kern="0" spc="0">
                <a:solidFill>
                  <a:srgbClr val="1D1D1F"/>
                </a:solidFill>
                <a:latin typeface="Pretendard"/>
                <a:cs typeface="Pretendard"/>
              </a:rPr>
              <a:t>1회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486900" y="3514725"/>
            <a:ext cx="1866900" cy="4953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sz="975" b="0" kern="0" spc="0">
                <a:solidFill>
                  <a:srgbClr val="333333"/>
                </a:solidFill>
                <a:latin typeface="Pretendard"/>
                <a:cs typeface="Pretendard"/>
              </a:rPr>
              <a:t>통과 · 격납 유지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38900" y="4152900"/>
            <a:ext cx="4914900" cy="304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825" b="0" kern="0" spc="0">
                <a:solidFill>
                  <a:srgbClr val="7A7A7A"/>
                </a:solidFill>
                <a:latin typeface="Pretendard"/>
                <a:cs typeface="Pretendard"/>
              </a:rPr>
              <a:t>규칙 기반 로직이라 확률적 정확도가 아니라, 케이스별로 실물에서 규칙대로 동작하는지를 확인했다.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09600" y="4953000"/>
            <a:ext cx="10972800" cy="1371600"/>
          </a:xfrm>
          <a:prstGeom prst="roundRect">
            <a:avLst>
              <a:gd name="adj" fmla="val 4166"/>
            </a:avLst>
          </a:prstGeom>
          <a:solidFill>
            <a:srgbClr val="FAFAFC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838200" y="5227320"/>
            <a:ext cx="2393156" cy="1428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sz="900" b="0" kern="0" spc="72">
                <a:solidFill>
                  <a:srgbClr val="333333"/>
                </a:solidFill>
                <a:latin typeface="Pretendard SemiBold"/>
                <a:cs typeface="Pretendard SemiBold"/>
              </a:rPr>
              <a:t>ACT 파지 평균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8200" y="5421630"/>
            <a:ext cx="2393156" cy="419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</a:pPr>
            <a:r>
              <a:rPr sz="3300" b="1" kern="0" spc="-66">
                <a:solidFill>
                  <a:srgbClr val="0066CC"/>
                </a:solidFill>
                <a:latin typeface="Pretendard"/>
                <a:cs typeface="Pretendard"/>
              </a:rPr>
              <a:t>86.7%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8200" y="5878830"/>
            <a:ext cx="2393156" cy="342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실물 30회 · 3세트 × 10회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59956" y="5181600"/>
            <a:ext cx="9525" cy="91440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3698081" y="5227320"/>
            <a:ext cx="2164556" cy="1428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sz="900" b="0" kern="0" spc="72">
                <a:solidFill>
                  <a:srgbClr val="333333"/>
                </a:solidFill>
                <a:latin typeface="Pretendard SemiBold"/>
                <a:cs typeface="Pretendard SemiBold"/>
              </a:rPr>
              <a:t>근거리 위치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98081" y="5421630"/>
            <a:ext cx="2164556" cy="419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</a:pPr>
            <a:r>
              <a:rPr sz="3300" b="1" kern="0" spc="-66">
                <a:solidFill>
                  <a:srgbClr val="0066CC"/>
                </a:solidFill>
                <a:latin typeface="Pretendard"/>
                <a:cs typeface="Pretendard"/>
              </a:rPr>
              <a:t>100%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98081" y="5878830"/>
            <a:ext cx="2164556" cy="342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center · rear 18회 전부 성공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91238" y="5181600"/>
            <a:ext cx="9525" cy="91440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329362" y="5227320"/>
            <a:ext cx="2164556" cy="1428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sz="900" b="0" kern="0" spc="72">
                <a:solidFill>
                  <a:srgbClr val="333333"/>
                </a:solidFill>
                <a:latin typeface="Pretendard SemiBold"/>
                <a:cs typeface="Pretendard SemiBold"/>
              </a:rPr>
              <a:t>원거리 위치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9362" y="5421630"/>
            <a:ext cx="2164556" cy="419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</a:pPr>
            <a:r>
              <a:rPr sz="3300" b="1" kern="0" spc="-66">
                <a:solidFill>
                  <a:srgbClr val="0066CC"/>
                </a:solidFill>
                <a:latin typeface="Pretendard"/>
                <a:cs typeface="Pretendard"/>
              </a:rPr>
              <a:t>66.7%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29362" y="5878830"/>
            <a:ext cx="2164556" cy="342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front 12회 중 8회 성공 — 개선 여지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722519" y="5181600"/>
            <a:ext cx="9525" cy="91440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8960644" y="5227320"/>
            <a:ext cx="2393156" cy="1428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sz="900" b="0" kern="0" spc="72">
                <a:solidFill>
                  <a:srgbClr val="333333"/>
                </a:solidFill>
                <a:latin typeface="Pretendard SemiBold"/>
                <a:cs typeface="Pretendard SemiBold"/>
              </a:rPr>
              <a:t>판정 로직 확인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960644" y="5421630"/>
            <a:ext cx="2393156" cy="4191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00"/>
              </a:lnSpc>
              <a:spcAft>
                <a:spcPts val="0"/>
              </a:spcAft>
            </a:pPr>
            <a:r>
              <a:rPr sz="3300" b="1" kern="0" spc="-66">
                <a:solidFill>
                  <a:srgbClr val="0066CC"/>
                </a:solidFill>
                <a:latin typeface="Pretendard"/>
                <a:cs typeface="Pretendard"/>
              </a:rPr>
              <a:t>7회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960644" y="5878830"/>
            <a:ext cx="2393156" cy="342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3케이스 전부 규칙대로 동작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600" y="476250"/>
            <a:ext cx="57150" cy="5715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3900" y="419100"/>
            <a:ext cx="10858500" cy="1714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75"/>
              </a:lnSpc>
              <a:spcAft>
                <a:spcPts val="0"/>
              </a:spcAft>
            </a:pPr>
            <a:r>
              <a:rPr sz="975" b="0" kern="0" spc="117">
                <a:solidFill>
                  <a:srgbClr val="333333"/>
                </a:solidFill>
                <a:latin typeface="Pretendard SemiBold"/>
                <a:cs typeface="Pretendard SemiBold"/>
              </a:rPr>
              <a:t>04 · 장애요인과 해결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66750"/>
            <a:ext cx="10972800" cy="4381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3104"/>
              </a:lnSpc>
              <a:spcAft>
                <a:spcPts val="0"/>
              </a:spcAft>
            </a:pPr>
            <a:r>
              <a:rPr sz="2700" b="0" kern="0" spc="-54">
                <a:solidFill>
                  <a:srgbClr val="1D1D1F"/>
                </a:solidFill>
                <a:latin typeface="Pretendard SemiBold"/>
                <a:cs typeface="Pretendard SemiBold"/>
              </a:rPr>
              <a:t>막힌 지점마다 원인을 규명하고 우회했다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52525"/>
            <a:ext cx="10972800" cy="2476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48"/>
              </a:lnSpc>
              <a:spcAft>
                <a:spcPts val="0"/>
              </a:spcAft>
            </a:pPr>
            <a:r>
              <a:rPr sz="1275" b="0" kern="0" spc="-13">
                <a:solidFill>
                  <a:srgbClr val="333333"/>
                </a:solidFill>
                <a:latin typeface="Pretendard"/>
                <a:cs typeface="Pretendard"/>
              </a:rPr>
              <a:t>실물에서 만난 네 건을 증상 · 원인 · 해결로 정리했다 — 세 건은 원인까지 규명해 재발을 막았다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504950"/>
            <a:ext cx="109728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55892" y="6505766"/>
            <a:ext cx="68580" cy="56578"/>
          </a:xfrm>
          <a:prstGeom prst="roundRect">
            <a:avLst>
              <a:gd name="adj" fmla="val 42424"/>
            </a:avLst>
          </a:prstGeom>
          <a:solidFill>
            <a:srgbClr val="1D1D1F"/>
          </a:solidFill>
          <a:ln w="4286">
            <a:solidFill>
              <a:srgbClr val="1D1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690181" y="6490335"/>
            <a:ext cx="0" cy="15431"/>
          </a:xfrm>
          <a:prstGeom prst="line">
            <a:avLst/>
          </a:prstGeom>
          <a:ln w="6000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84352" y="6481077"/>
            <a:ext cx="11659" cy="11659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1" name="Connector 10"/>
          <p:cNvCxnSpPr/>
          <p:nvPr/>
        </p:nvCxnSpPr>
        <p:spPr>
          <a:xfrm flipV="1">
            <a:off x="721042" y="6502336"/>
            <a:ext cx="27432" cy="17146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742474" y="6496336"/>
            <a:ext cx="12002" cy="12002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3" name="Connector 12"/>
          <p:cNvCxnSpPr/>
          <p:nvPr/>
        </p:nvCxnSpPr>
        <p:spPr>
          <a:xfrm>
            <a:off x="748474" y="6502336"/>
            <a:ext cx="12002" cy="24003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753275" y="6519139"/>
            <a:ext cx="14402" cy="14402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5" name="Connector 14"/>
          <p:cNvCxnSpPr/>
          <p:nvPr/>
        </p:nvCxnSpPr>
        <p:spPr>
          <a:xfrm flipV="1">
            <a:off x="760476" y="6516052"/>
            <a:ext cx="12002" cy="10287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0476" y="6526339"/>
            <a:ext cx="10287" cy="12002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63607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Oval 17"/>
          <p:cNvSpPr/>
          <p:nvPr/>
        </p:nvSpPr>
        <p:spPr>
          <a:xfrm>
            <a:off x="694468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Oval 18"/>
          <p:cNvSpPr/>
          <p:nvPr/>
        </p:nvSpPr>
        <p:spPr>
          <a:xfrm>
            <a:off x="679894" y="6517767"/>
            <a:ext cx="30861" cy="30861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Oval 19"/>
          <p:cNvSpPr/>
          <p:nvPr/>
        </p:nvSpPr>
        <p:spPr>
          <a:xfrm>
            <a:off x="696697" y="6525997"/>
            <a:ext cx="7544" cy="754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57250" y="6438900"/>
            <a:ext cx="4762500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825"/>
              </a:lnSpc>
              <a:spcAft>
                <a:spcPts val="0"/>
              </a:spcAft>
            </a:pPr>
            <a:r>
              <a:rPr sz="825" b="0" kern="0" spc="50">
                <a:solidFill>
                  <a:srgbClr val="7A7A7A"/>
                </a:solidFill>
                <a:latin typeface="Pretendard SemiBold"/>
                <a:cs typeface="Pretendard SemiBold"/>
              </a:rPr>
              <a:t>HazardBot 개발완료보고서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24900" y="6438900"/>
            <a:ext cx="2857500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825"/>
              </a:lnSpc>
              <a:spcAft>
                <a:spcPts val="0"/>
              </a:spcAft>
            </a:pPr>
            <a:r>
              <a:rPr sz="825" b="0" kern="0" spc="50">
                <a:solidFill>
                  <a:srgbClr val="7A7A7A"/>
                </a:solidFill>
                <a:latin typeface="Pretendard SemiBold"/>
                <a:cs typeface="Pretendard SemiBold"/>
              </a:rPr>
              <a:t>16 / 20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1676400"/>
            <a:ext cx="10972800" cy="3200400"/>
          </a:xfrm>
          <a:prstGeom prst="roundRect">
            <a:avLst>
              <a:gd name="adj" fmla="val 1785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1905000"/>
            <a:ext cx="2286000" cy="1428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989"/>
              </a:lnSpc>
              <a:spcAft>
                <a:spcPts val="0"/>
              </a:spcAft>
            </a:pPr>
            <a:r>
              <a:rPr sz="825" b="0" kern="0" spc="50">
                <a:solidFill>
                  <a:srgbClr val="7A7A7A"/>
                </a:solidFill>
                <a:latin typeface="Pretendard SemiBold"/>
                <a:cs typeface="Pretendard SemiBold"/>
              </a:rPr>
              <a:t>증상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9000" y="1905000"/>
            <a:ext cx="3009900" cy="1428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989"/>
              </a:lnSpc>
              <a:spcAft>
                <a:spcPts val="0"/>
              </a:spcAft>
            </a:pPr>
            <a:r>
              <a:rPr sz="825" b="0" kern="0" spc="50">
                <a:solidFill>
                  <a:srgbClr val="7A7A7A"/>
                </a:solidFill>
                <a:latin typeface="Pretendard SemiBold"/>
                <a:cs typeface="Pretendard SemiBold"/>
              </a:rPr>
              <a:t>원인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67500" y="1905000"/>
            <a:ext cx="4610100" cy="1428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989"/>
              </a:lnSpc>
              <a:spcAft>
                <a:spcPts val="0"/>
              </a:spcAft>
            </a:pPr>
            <a:r>
              <a:rPr sz="825" b="0" kern="0" spc="50">
                <a:solidFill>
                  <a:srgbClr val="7A7A7A"/>
                </a:solidFill>
                <a:latin typeface="Pretendard SemiBold"/>
                <a:cs typeface="Pretendard SemiBold"/>
              </a:rPr>
              <a:t>해결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2171700"/>
            <a:ext cx="103632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4400" y="2247900"/>
            <a:ext cx="2286000" cy="65722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413"/>
              </a:lnSpc>
              <a:spcAft>
                <a:spcPts val="0"/>
              </a:spcAft>
            </a:pPr>
            <a:r>
              <a:rPr sz="975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리더암 서보 6개 동시 소손</a:t>
            </a:r>
          </a:p>
          <a:p>
            <a:pPr algn="l">
              <a:lnSpc>
                <a:spcPts val="1155"/>
              </a:lnSpc>
              <a:spcBef>
                <a:spcPts val="225"/>
              </a:spcBef>
              <a:spcAft>
                <a:spcPts val="0"/>
              </a:spcAft>
            </a:pPr>
            <a:r>
              <a:rPr sz="825" b="0" kern="0" spc="0">
                <a:solidFill>
                  <a:srgbClr val="7A7A7A"/>
                </a:solidFill>
                <a:latin typeface="Pretendard"/>
                <a:cs typeface="Pretendard"/>
              </a:rPr>
              <a:t>2026-06-16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2247900"/>
            <a:ext cx="3009900" cy="65722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7.4V 정격 서보에 12V 오인가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67500" y="2247900"/>
            <a:ext cx="4610100" cy="65722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XL4015 두 대의 용도를 고정해(리더 7.4V / ESP32 5.0V) 레일을 물리적으로 분리하고, 되돌릴 수 없는 항목만 모은 통전 전 확인 5항목을 만들었다. 이후 동일 사고 0건.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" y="2900362"/>
            <a:ext cx="103632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14400" y="2905125"/>
            <a:ext cx="2286000" cy="65722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413"/>
              </a:lnSpc>
              <a:spcAft>
                <a:spcPts val="0"/>
              </a:spcAft>
            </a:pPr>
            <a:r>
              <a:rPr sz="975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ESP_Drive 보드 발열 사망</a:t>
            </a:r>
          </a:p>
          <a:p>
            <a:pPr algn="l">
              <a:lnSpc>
                <a:spcPts val="1155"/>
              </a:lnSpc>
              <a:spcBef>
                <a:spcPts val="225"/>
              </a:spcBef>
              <a:spcAft>
                <a:spcPts val="0"/>
              </a:spcAft>
            </a:pPr>
            <a:r>
              <a:rPr sz="825" b="0" kern="0" spc="0">
                <a:solidFill>
                  <a:srgbClr val="7A7A7A"/>
                </a:solidFill>
                <a:latin typeface="Pretendard"/>
                <a:cs typeface="Pretendard"/>
              </a:rPr>
              <a:t>2026-08-25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2905125"/>
            <a:ext cx="3009900" cy="65722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핀소켓 GND가 모터 진동으로 이탈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67500" y="2905125"/>
            <a:ext cx="4610100" cy="65722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전원선을 VCC/GND 직납땜으로 바꿨다. 이어서 전원 모듈(DFR0753)이 쇼트로 소손되자 XL4016 단독 레일로 계통을 우회 재구성했다.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3557588"/>
            <a:ext cx="103632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14400" y="3562350"/>
            <a:ext cx="2286000" cy="65722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413"/>
              </a:lnSpc>
              <a:spcAft>
                <a:spcPts val="0"/>
              </a:spcAft>
            </a:pPr>
            <a:r>
              <a:rPr sz="975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표준 도구로 캘리브레이션 불가</a:t>
            </a:r>
          </a:p>
          <a:p>
            <a:pPr algn="l">
              <a:lnSpc>
                <a:spcPts val="1155"/>
              </a:lnSpc>
              <a:spcBef>
                <a:spcPts val="225"/>
              </a:spcBef>
              <a:spcAft>
                <a:spcPts val="0"/>
              </a:spcAft>
            </a:pPr>
            <a:r>
              <a:rPr sz="825" b="0" kern="0" spc="0">
                <a:solidFill>
                  <a:srgbClr val="7A7A7A"/>
                </a:solidFill>
                <a:latin typeface="Pretendard"/>
                <a:cs typeface="Pretendard"/>
              </a:rPr>
              <a:t>2026-06~07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29000" y="3562350"/>
            <a:ext cx="3009900" cy="65722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shoulder_lift 엔코더 래핑 · wrist_roll 연속 회전축 영점 불일치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67500" y="3562350"/>
            <a:ext cx="4610100" cy="65722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표준 lerobot-calibrate 로는 잡히지 않아 축마다 전용 도구를 직접 만들었다. 정본 4종(leader_arm · follower_arm · wrist_zero · follower_home)을 확정하고 백업·복원 체계를 붙였다.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4400" y="4214812"/>
            <a:ext cx="103632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14400" y="4219575"/>
            <a:ext cx="2286000" cy="65722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413"/>
              </a:lnSpc>
              <a:spcAft>
                <a:spcPts val="0"/>
              </a:spcAft>
            </a:pPr>
            <a:r>
              <a:rPr sz="975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RPi 온보드 추론 중 정지</a:t>
            </a:r>
          </a:p>
          <a:p>
            <a:pPr algn="l">
              <a:lnSpc>
                <a:spcPts val="1155"/>
              </a:lnSpc>
              <a:spcBef>
                <a:spcPts val="225"/>
              </a:spcBef>
              <a:spcAft>
                <a:spcPts val="0"/>
              </a:spcAft>
            </a:pPr>
            <a:r>
              <a:rPr sz="825" b="0" kern="0" spc="0">
                <a:solidFill>
                  <a:srgbClr val="7A7A7A"/>
                </a:solidFill>
                <a:latin typeface="Pretendard"/>
                <a:cs typeface="Pretendard"/>
              </a:rPr>
              <a:t>2026-08-04 사전점검 → 08-29 실물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29000" y="4219575"/>
            <a:ext cx="3009900" cy="65722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수집 전 더미 가중치로 쟀을 때는 224×224 평균 0.509초로 합격이었다. 실물도 평균은 23ms 였지만, 청크를 다시 계산하는 틱만 1023ms 로 튀어 20초에 4번 멈췄다.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67500" y="4219575"/>
            <a:ext cx="4610100" cy="65722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노트북 GPU 오프로드(gRPC)로 전환해 연결·제어까지 성공했으나 파지가 재현되지 않았다. 원인 미규명 상태로 조사를 종결하고, 노트북 단독 경로(rollout_act.ps1 · COM3 직결)로 제어 경로를 확정했다 — 15p 86.7%의 근거다.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09600" y="5105400"/>
            <a:ext cx="10972800" cy="1219200"/>
          </a:xfrm>
          <a:prstGeom prst="roundRect">
            <a:avLst>
              <a:gd name="adj" fmla="val 4687"/>
            </a:avLst>
          </a:prstGeom>
          <a:solidFill>
            <a:srgbClr val="EB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09600" y="5162550"/>
            <a:ext cx="28575" cy="11049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66775" y="5334000"/>
            <a:ext cx="10487025" cy="762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sz="900" b="0" kern="0" spc="72">
                <a:solidFill>
                  <a:srgbClr val="0066CC"/>
                </a:solidFill>
                <a:latin typeface="Pretendard SemiBold"/>
                <a:cs typeface="Pretendard SemiBold"/>
              </a:rPr>
              <a:t>남은 한계</a:t>
            </a:r>
          </a:p>
          <a:p>
            <a:pPr algn="l">
              <a:lnSpc>
                <a:spcPts val="1395"/>
              </a:lnSpc>
              <a:spcBef>
                <a:spcPts val="450"/>
              </a:spcBef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"/>
                <a:cs typeface="Pretendard"/>
              </a:rPr>
              <a:t>판정 → 초동 조치 자동 트리거는 코드 구현 후 실물 최종 검증이 남아 있다 · DRIVE 주행은 RPi/ESP 통합 이후 간헐적 오작동으로 이번 시연 범위에서 제외했다(안전 우선순위 판단 로직 자체는 구현되어 있다) · 원거리 위치 파지 성공률 66.7% 는 개선 여지가 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600" y="476250"/>
            <a:ext cx="57150" cy="5715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3900" y="419100"/>
            <a:ext cx="10858500" cy="1714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75"/>
              </a:lnSpc>
              <a:spcAft>
                <a:spcPts val="0"/>
              </a:spcAft>
            </a:pPr>
            <a:r>
              <a:rPr sz="975" b="0" kern="0" spc="117">
                <a:solidFill>
                  <a:srgbClr val="333333"/>
                </a:solidFill>
                <a:latin typeface="Pretendard SemiBold"/>
                <a:cs typeface="Pretendard SemiBold"/>
              </a:rPr>
              <a:t>05 · 결과와 일정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66750"/>
            <a:ext cx="10972800" cy="4381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3104"/>
              </a:lnSpc>
              <a:spcAft>
                <a:spcPts val="0"/>
              </a:spcAft>
            </a:pPr>
            <a:r>
              <a:rPr sz="2700" b="0" kern="0" spc="-54">
                <a:solidFill>
                  <a:srgbClr val="1D1D1F"/>
                </a:solidFill>
                <a:latin typeface="Pretendard SemiBold"/>
                <a:cs typeface="Pretendard SemiBold"/>
              </a:rPr>
              <a:t>발견에서 멈추지 않고 조치까지 간다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52525"/>
            <a:ext cx="10972800" cy="2476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48"/>
              </a:lnSpc>
              <a:spcAft>
                <a:spcPts val="0"/>
              </a:spcAft>
            </a:pPr>
            <a:r>
              <a:rPr sz="1275" b="0" kern="0" spc="-13">
                <a:solidFill>
                  <a:srgbClr val="333333"/>
                </a:solidFill>
                <a:latin typeface="Pretendard"/>
                <a:cs typeface="Pretendard"/>
              </a:rPr>
              <a:t>기존 순찰·보안 로봇과의 차이는 조치 여부, 판정 근거, 그리고 조작 방식 세 곳에서 갈린다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504950"/>
            <a:ext cx="109728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55892" y="6505766"/>
            <a:ext cx="68580" cy="56578"/>
          </a:xfrm>
          <a:prstGeom prst="roundRect">
            <a:avLst>
              <a:gd name="adj" fmla="val 42424"/>
            </a:avLst>
          </a:prstGeom>
          <a:solidFill>
            <a:srgbClr val="1D1D1F"/>
          </a:solidFill>
          <a:ln w="4286">
            <a:solidFill>
              <a:srgbClr val="1D1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690181" y="6490335"/>
            <a:ext cx="0" cy="15431"/>
          </a:xfrm>
          <a:prstGeom prst="line">
            <a:avLst/>
          </a:prstGeom>
          <a:ln w="6000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84352" y="6481077"/>
            <a:ext cx="11659" cy="11659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1" name="Connector 10"/>
          <p:cNvCxnSpPr/>
          <p:nvPr/>
        </p:nvCxnSpPr>
        <p:spPr>
          <a:xfrm flipV="1">
            <a:off x="721042" y="6502336"/>
            <a:ext cx="27432" cy="17146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742474" y="6496336"/>
            <a:ext cx="12002" cy="12002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3" name="Connector 12"/>
          <p:cNvCxnSpPr/>
          <p:nvPr/>
        </p:nvCxnSpPr>
        <p:spPr>
          <a:xfrm>
            <a:off x="748474" y="6502336"/>
            <a:ext cx="12002" cy="24003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753275" y="6519139"/>
            <a:ext cx="14402" cy="14402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5" name="Connector 14"/>
          <p:cNvCxnSpPr/>
          <p:nvPr/>
        </p:nvCxnSpPr>
        <p:spPr>
          <a:xfrm flipV="1">
            <a:off x="760476" y="6516052"/>
            <a:ext cx="12002" cy="10287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0476" y="6526339"/>
            <a:ext cx="10287" cy="12002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63607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Oval 17"/>
          <p:cNvSpPr/>
          <p:nvPr/>
        </p:nvSpPr>
        <p:spPr>
          <a:xfrm>
            <a:off x="694468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Oval 18"/>
          <p:cNvSpPr/>
          <p:nvPr/>
        </p:nvSpPr>
        <p:spPr>
          <a:xfrm>
            <a:off x="679894" y="6517767"/>
            <a:ext cx="30861" cy="30861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Oval 19"/>
          <p:cNvSpPr/>
          <p:nvPr/>
        </p:nvSpPr>
        <p:spPr>
          <a:xfrm>
            <a:off x="696697" y="6525997"/>
            <a:ext cx="7544" cy="754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57250" y="6438900"/>
            <a:ext cx="4762500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825"/>
              </a:lnSpc>
              <a:spcAft>
                <a:spcPts val="0"/>
              </a:spcAft>
            </a:pPr>
            <a:r>
              <a:rPr sz="825" b="0" kern="0" spc="50">
                <a:solidFill>
                  <a:srgbClr val="7A7A7A"/>
                </a:solidFill>
                <a:latin typeface="Pretendard SemiBold"/>
                <a:cs typeface="Pretendard SemiBold"/>
              </a:rPr>
              <a:t>HazardBot 개발완료보고서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24900" y="6438900"/>
            <a:ext cx="2857500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825"/>
              </a:lnSpc>
              <a:spcAft>
                <a:spcPts val="0"/>
              </a:spcAft>
            </a:pPr>
            <a:r>
              <a:rPr sz="825" b="0" kern="0" spc="50">
                <a:solidFill>
                  <a:srgbClr val="7A7A7A"/>
                </a:solidFill>
                <a:latin typeface="Pretendard SemiBold"/>
                <a:cs typeface="Pretendard SemiBold"/>
              </a:rPr>
              <a:t>17 / 20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1676400"/>
            <a:ext cx="5372100" cy="4648200"/>
          </a:xfrm>
          <a:prstGeom prst="roundRect">
            <a:avLst>
              <a:gd name="adj" fmla="val 1229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1905000"/>
            <a:ext cx="4914900" cy="17907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sz="900" b="0" kern="0" spc="72">
                <a:solidFill>
                  <a:srgbClr val="333333"/>
                </a:solidFill>
                <a:latin typeface="Pretendard SemiBold"/>
                <a:cs typeface="Pretendard SemiBold"/>
              </a:rPr>
              <a:t>① 기존 산업용 순찰·보안 로봇과의 기능 비교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2247900"/>
            <a:ext cx="2095500" cy="1428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989"/>
              </a:lnSpc>
              <a:spcAft>
                <a:spcPts val="0"/>
              </a:spcAft>
            </a:pPr>
            <a:r>
              <a:rPr sz="825" b="0" kern="0" spc="50">
                <a:solidFill>
                  <a:srgbClr val="7A7A7A"/>
                </a:solidFill>
                <a:latin typeface="Pretendard SemiBold"/>
                <a:cs typeface="Pretendard SemiBold"/>
              </a:rPr>
              <a:t>기능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38500" y="2247900"/>
            <a:ext cx="1143000" cy="1428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989"/>
              </a:lnSpc>
              <a:spcAft>
                <a:spcPts val="0"/>
              </a:spcAft>
            </a:pPr>
            <a:r>
              <a:rPr sz="825" b="0" kern="0" spc="50">
                <a:solidFill>
                  <a:srgbClr val="7A7A7A"/>
                </a:solidFill>
                <a:latin typeface="Pretendard SemiBold"/>
                <a:cs typeface="Pretendard SemiBold"/>
              </a:rPr>
              <a:t>기존 로봇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33900" y="2247900"/>
            <a:ext cx="1295400" cy="1428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989"/>
              </a:lnSpc>
              <a:spcAft>
                <a:spcPts val="0"/>
              </a:spcAft>
            </a:pPr>
            <a:r>
              <a:rPr sz="825" b="0" kern="0" spc="50">
                <a:solidFill>
                  <a:srgbClr val="7A7A7A"/>
                </a:solidFill>
                <a:latin typeface="Pretendard SemiBold"/>
                <a:cs typeface="Pretendard SemiBold"/>
              </a:rPr>
              <a:t>HazardBot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2514600"/>
            <a:ext cx="49149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28700" y="2590800"/>
            <a:ext cx="1981200" cy="533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sz="975" b="0" kern="0" spc="0">
                <a:solidFill>
                  <a:srgbClr val="1D1D1F"/>
                </a:solidFill>
                <a:latin typeface="Pretendard"/>
                <a:cs typeface="Pretendard"/>
              </a:rPr>
              <a:t>순찰 · 감시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38500" y="2590800"/>
            <a:ext cx="1143000" cy="533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1657"/>
              </a:lnSpc>
              <a:spcAft>
                <a:spcPts val="0"/>
              </a:spcAft>
            </a:pPr>
            <a:r>
              <a:rPr sz="1275" b="0" kern="0" spc="0">
                <a:solidFill>
                  <a:srgbClr val="7A7A7A"/>
                </a:solidFill>
                <a:latin typeface="Pretendard"/>
                <a:cs typeface="Pretendard"/>
              </a:rPr>
              <a:t>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33900" y="2590800"/>
            <a:ext cx="1295400" cy="533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1657"/>
              </a:lnSpc>
              <a:spcAft>
                <a:spcPts val="0"/>
              </a:spcAft>
            </a:pPr>
            <a:r>
              <a:rPr sz="1275" b="0" kern="0" spc="0">
                <a:solidFill>
                  <a:srgbClr val="7A7A7A"/>
                </a:solidFill>
                <a:latin typeface="Pretendard"/>
                <a:cs typeface="Pretendard"/>
              </a:rPr>
              <a:t>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3119438"/>
            <a:ext cx="49149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028700" y="3124200"/>
            <a:ext cx="1981200" cy="533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sz="975" b="0" kern="0" spc="0">
                <a:solidFill>
                  <a:srgbClr val="1D1D1F"/>
                </a:solidFill>
                <a:latin typeface="Pretendard"/>
                <a:cs typeface="Pretendard"/>
              </a:rPr>
              <a:t>이상 감지 · 기록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38500" y="3124200"/>
            <a:ext cx="1143000" cy="533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1657"/>
              </a:lnSpc>
              <a:spcAft>
                <a:spcPts val="0"/>
              </a:spcAft>
            </a:pPr>
            <a:r>
              <a:rPr sz="1275" b="0" kern="0" spc="0">
                <a:solidFill>
                  <a:srgbClr val="7A7A7A"/>
                </a:solidFill>
                <a:latin typeface="Pretendard"/>
                <a:cs typeface="Pretendard"/>
              </a:rPr>
              <a:t>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33900" y="3124200"/>
            <a:ext cx="1295400" cy="533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1657"/>
              </a:lnSpc>
              <a:spcAft>
                <a:spcPts val="0"/>
              </a:spcAft>
            </a:pPr>
            <a:r>
              <a:rPr sz="1275" b="0" kern="0" spc="0">
                <a:solidFill>
                  <a:srgbClr val="7A7A7A"/>
                </a:solidFill>
                <a:latin typeface="Pretendard"/>
                <a:cs typeface="Pretendard"/>
              </a:rPr>
              <a:t>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3652838"/>
            <a:ext cx="49149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28700" y="3657600"/>
            <a:ext cx="1981200" cy="533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sz="975" b="0" kern="0" spc="0">
                <a:solidFill>
                  <a:srgbClr val="1D1D1F"/>
                </a:solidFill>
                <a:latin typeface="Pretendard"/>
                <a:cs typeface="Pretendard"/>
              </a:rPr>
              <a:t>관제 보고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38500" y="3657600"/>
            <a:ext cx="1143000" cy="533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1657"/>
              </a:lnSpc>
              <a:spcAft>
                <a:spcPts val="0"/>
              </a:spcAft>
            </a:pPr>
            <a:r>
              <a:rPr sz="1275" b="0" kern="0" spc="0">
                <a:solidFill>
                  <a:srgbClr val="7A7A7A"/>
                </a:solidFill>
                <a:latin typeface="Pretendard"/>
                <a:cs typeface="Pretendard"/>
              </a:rPr>
              <a:t>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3900" y="3657600"/>
            <a:ext cx="1295400" cy="533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1657"/>
              </a:lnSpc>
              <a:spcAft>
                <a:spcPts val="0"/>
              </a:spcAft>
            </a:pPr>
            <a:r>
              <a:rPr sz="1275" b="0" kern="0" spc="0">
                <a:solidFill>
                  <a:srgbClr val="7A7A7A"/>
                </a:solidFill>
                <a:latin typeface="Pretendard"/>
                <a:cs typeface="Pretendard"/>
              </a:rPr>
              <a:t>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" y="4186238"/>
            <a:ext cx="49149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914400" y="4191000"/>
            <a:ext cx="4914900" cy="533400"/>
          </a:xfrm>
          <a:prstGeom prst="roundRect">
            <a:avLst>
              <a:gd name="adj" fmla="val 5357"/>
            </a:avLst>
          </a:prstGeom>
          <a:solidFill>
            <a:srgbClr val="EB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028700" y="4191000"/>
            <a:ext cx="1981200" cy="533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sz="975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물리적 초동 조치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38500" y="4191000"/>
            <a:ext cx="1143000" cy="533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1657"/>
              </a:lnSpc>
              <a:spcAft>
                <a:spcPts val="0"/>
              </a:spcAft>
            </a:pPr>
            <a:r>
              <a:rPr sz="1275" b="0" kern="0" spc="0">
                <a:solidFill>
                  <a:srgbClr val="D70015"/>
                </a:solidFill>
                <a:latin typeface="Pretendard"/>
                <a:cs typeface="Pretendard"/>
              </a:rPr>
              <a:t>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33900" y="4191000"/>
            <a:ext cx="1295400" cy="5334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1657"/>
              </a:lnSpc>
              <a:spcAft>
                <a:spcPts val="0"/>
              </a:spcAft>
            </a:pPr>
            <a:r>
              <a:rPr sz="1275" b="0" kern="0" spc="0">
                <a:solidFill>
                  <a:srgbClr val="0066CC"/>
                </a:solidFill>
                <a:latin typeface="Pretendard SemiBold"/>
                <a:cs typeface="Pretendard SemiBold"/>
              </a:rPr>
              <a:t>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4400" y="4838700"/>
            <a:ext cx="49149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914400" y="4991100"/>
            <a:ext cx="4914900" cy="11049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575"/>
              </a:lnSpc>
              <a:spcAft>
                <a:spcPts val="0"/>
              </a:spcAft>
            </a:pPr>
            <a:r>
              <a:rPr sz="105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기존 로봇은 발견하고 알리는 데서 끝난다</a:t>
            </a:r>
          </a:p>
          <a:p>
            <a:pPr algn="l">
              <a:lnSpc>
                <a:spcPts val="1395"/>
              </a:lnSpc>
              <a:spcBef>
                <a:spcPts val="600"/>
              </a:spcBef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결국 사람이 위험물에 다가가야 한다는 문제는 그대로 남는다. HazardBot 은 판정과 조치가 한 로봇 안에서 닫히므로, 사람이 현장에 들어가기 전에 격리라는 초동 조치가 이미 끝나 있다.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10300" y="1676400"/>
            <a:ext cx="5372100" cy="2209800"/>
          </a:xfrm>
          <a:prstGeom prst="roundRect">
            <a:avLst>
              <a:gd name="adj" fmla="val 2586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438900" y="1905000"/>
            <a:ext cx="4914900" cy="1428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sz="900" b="0" kern="0" spc="72">
                <a:solidFill>
                  <a:srgbClr val="333333"/>
                </a:solidFill>
                <a:latin typeface="Pretendard SemiBold"/>
                <a:cs typeface="Pretendard SemiBold"/>
              </a:rPr>
              <a:t>② 판정 근거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38900" y="2162175"/>
            <a:ext cx="49149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923"/>
              </a:lnSpc>
              <a:spcAft>
                <a:spcPts val="0"/>
              </a:spcAft>
            </a:pPr>
            <a:r>
              <a:rPr sz="1425" b="0" kern="0" spc="-21">
                <a:solidFill>
                  <a:srgbClr val="1D1D1F"/>
                </a:solidFill>
                <a:latin typeface="Pretendard SemiBold"/>
                <a:cs typeface="Pretendard SemiBold"/>
              </a:rPr>
              <a:t>색이 아니라 물성으로 나눈다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38900" y="2562225"/>
            <a:ext cx="4914900" cy="54292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sz="975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고체 — 황색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가스를 내뿜지 않으므로 존재 자체가 위반이다. 즉시 판정한다.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38900" y="3105150"/>
            <a:ext cx="49149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38900" y="3114675"/>
            <a:ext cx="4914900" cy="54292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sz="975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액체 — 적색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새어 나올 때만 위험해지므로 MQ-2 3초 검사로 2차 게이팅한다.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210300" y="4114800"/>
            <a:ext cx="5372100" cy="2209800"/>
          </a:xfrm>
          <a:prstGeom prst="roundRect">
            <a:avLst>
              <a:gd name="adj" fmla="val 2586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438900" y="4343400"/>
            <a:ext cx="4914900" cy="1428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sz="900" b="0" kern="0" spc="72">
                <a:solidFill>
                  <a:srgbClr val="333333"/>
                </a:solidFill>
                <a:latin typeface="Pretendard SemiBold"/>
                <a:cs typeface="Pretendard SemiBold"/>
              </a:rPr>
              <a:t>③ 조치 방식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38900" y="4600575"/>
            <a:ext cx="49149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923"/>
              </a:lnSpc>
              <a:spcAft>
                <a:spcPts val="0"/>
              </a:spcAft>
            </a:pPr>
            <a:r>
              <a:rPr sz="1425" b="0" kern="0" spc="-21">
                <a:solidFill>
                  <a:srgbClr val="1D1D1F"/>
                </a:solidFill>
                <a:latin typeface="Pretendard SemiBold"/>
                <a:cs typeface="Pretendard SemiBold"/>
              </a:rPr>
              <a:t>고정 궤적이 아니라 학습된 정책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38900" y="5000625"/>
            <a:ext cx="4914900" cy="46434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sz="975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모방학습 정책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좌표를 고정한 시퀀스가 아니라 사람 시연 100회를 학습한 ACT 정책이라, 물체 위치가 달라져도 대응한다.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38900" y="5464969"/>
            <a:ext cx="49149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438900" y="5474494"/>
            <a:ext cx="4914900" cy="62150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sz="975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설계 근거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판정 기준을 임의로 정하지 않고 위험물안전관리법 유별 혼재 제한과 KS C IEC 60079-10-1 에서 가져왔다.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600" y="476250"/>
            <a:ext cx="57150" cy="5715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3900" y="419100"/>
            <a:ext cx="10858500" cy="1714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75"/>
              </a:lnSpc>
              <a:spcAft>
                <a:spcPts val="0"/>
              </a:spcAft>
            </a:pPr>
            <a:r>
              <a:rPr sz="975" b="0" kern="0" spc="117">
                <a:solidFill>
                  <a:srgbClr val="333333"/>
                </a:solidFill>
                <a:latin typeface="Pretendard SemiBold"/>
                <a:cs typeface="Pretendard SemiBold"/>
              </a:rPr>
              <a:t>05 · 결과와 일정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66750"/>
            <a:ext cx="10972800" cy="4381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3104"/>
              </a:lnSpc>
              <a:spcAft>
                <a:spcPts val="0"/>
              </a:spcAft>
            </a:pPr>
            <a:r>
              <a:rPr sz="2700" b="0" kern="0" spc="-54">
                <a:solidFill>
                  <a:srgbClr val="1D1D1F"/>
                </a:solidFill>
                <a:latin typeface="Pretendard SemiBold"/>
                <a:cs typeface="Pretendard SemiBold"/>
              </a:rPr>
              <a:t>임베디드 자원 제약을 구조로 풀었다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52525"/>
            <a:ext cx="10972800" cy="2476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48"/>
              </a:lnSpc>
              <a:spcAft>
                <a:spcPts val="0"/>
              </a:spcAft>
            </a:pPr>
            <a:r>
              <a:rPr sz="1275" b="0" kern="0" spc="-13">
                <a:solidFill>
                  <a:srgbClr val="333333"/>
                </a:solidFill>
                <a:latin typeface="Pretendard"/>
                <a:cs typeface="Pretendard"/>
              </a:rPr>
              <a:t>센서를 주기별로 나누고, 정지 권한을 한 곳에 모으고, 없는 자원은 다른 방법으로 대체했다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504950"/>
            <a:ext cx="109728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55892" y="6505766"/>
            <a:ext cx="68580" cy="56578"/>
          </a:xfrm>
          <a:prstGeom prst="roundRect">
            <a:avLst>
              <a:gd name="adj" fmla="val 42424"/>
            </a:avLst>
          </a:prstGeom>
          <a:solidFill>
            <a:srgbClr val="1D1D1F"/>
          </a:solidFill>
          <a:ln w="4286">
            <a:solidFill>
              <a:srgbClr val="1D1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690181" y="6490335"/>
            <a:ext cx="0" cy="15431"/>
          </a:xfrm>
          <a:prstGeom prst="line">
            <a:avLst/>
          </a:prstGeom>
          <a:ln w="6000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84352" y="6481077"/>
            <a:ext cx="11659" cy="11659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1" name="Connector 10"/>
          <p:cNvCxnSpPr/>
          <p:nvPr/>
        </p:nvCxnSpPr>
        <p:spPr>
          <a:xfrm flipV="1">
            <a:off x="721042" y="6502336"/>
            <a:ext cx="27432" cy="17146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742474" y="6496336"/>
            <a:ext cx="12002" cy="12002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3" name="Connector 12"/>
          <p:cNvCxnSpPr/>
          <p:nvPr/>
        </p:nvCxnSpPr>
        <p:spPr>
          <a:xfrm>
            <a:off x="748474" y="6502336"/>
            <a:ext cx="12002" cy="24003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753275" y="6519139"/>
            <a:ext cx="14402" cy="14402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5" name="Connector 14"/>
          <p:cNvCxnSpPr/>
          <p:nvPr/>
        </p:nvCxnSpPr>
        <p:spPr>
          <a:xfrm flipV="1">
            <a:off x="760476" y="6516052"/>
            <a:ext cx="12002" cy="10287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0476" y="6526339"/>
            <a:ext cx="10287" cy="12002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63607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Oval 17"/>
          <p:cNvSpPr/>
          <p:nvPr/>
        </p:nvSpPr>
        <p:spPr>
          <a:xfrm>
            <a:off x="694468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Oval 18"/>
          <p:cNvSpPr/>
          <p:nvPr/>
        </p:nvSpPr>
        <p:spPr>
          <a:xfrm>
            <a:off x="679894" y="6517767"/>
            <a:ext cx="30861" cy="30861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Oval 19"/>
          <p:cNvSpPr/>
          <p:nvPr/>
        </p:nvSpPr>
        <p:spPr>
          <a:xfrm>
            <a:off x="696697" y="6525997"/>
            <a:ext cx="7544" cy="754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57250" y="6438900"/>
            <a:ext cx="4762500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825"/>
              </a:lnSpc>
              <a:spcAft>
                <a:spcPts val="0"/>
              </a:spcAft>
            </a:pPr>
            <a:r>
              <a:rPr sz="825" b="0" kern="0" spc="50">
                <a:solidFill>
                  <a:srgbClr val="7A7A7A"/>
                </a:solidFill>
                <a:latin typeface="Pretendard SemiBold"/>
                <a:cs typeface="Pretendard SemiBold"/>
              </a:rPr>
              <a:t>HazardBot 개발완료보고서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24900" y="6438900"/>
            <a:ext cx="2857500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825"/>
              </a:lnSpc>
              <a:spcAft>
                <a:spcPts val="0"/>
              </a:spcAft>
            </a:pPr>
            <a:r>
              <a:rPr sz="825" b="0" kern="0" spc="50">
                <a:solidFill>
                  <a:srgbClr val="7A7A7A"/>
                </a:solidFill>
                <a:latin typeface="Pretendard SemiBold"/>
                <a:cs typeface="Pretendard SemiBold"/>
              </a:rPr>
              <a:t>18 / 20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1676400"/>
            <a:ext cx="3505200" cy="4648200"/>
          </a:xfrm>
          <a:prstGeom prst="roundRect">
            <a:avLst>
              <a:gd name="adj" fmla="val 1630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8200" y="1905000"/>
            <a:ext cx="3048000" cy="1428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sz="900" b="0" kern="0" spc="72">
                <a:solidFill>
                  <a:srgbClr val="333333"/>
                </a:solidFill>
                <a:latin typeface="Pretendard SemiBold"/>
                <a:cs typeface="Pretendard SemiBold"/>
              </a:rPr>
              <a:t>① 구조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200" y="2162175"/>
            <a:ext cx="30480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923"/>
              </a:lnSpc>
              <a:spcAft>
                <a:spcPts val="0"/>
              </a:spcAft>
            </a:pPr>
            <a:r>
              <a:rPr sz="1425" b="0" kern="0" spc="-21">
                <a:solidFill>
                  <a:srgbClr val="1D1D1F"/>
                </a:solidFill>
                <a:latin typeface="Pretendard SemiBold"/>
                <a:cs typeface="Pretendard SemiBold"/>
              </a:rPr>
              <a:t>역할이 분리된 3계층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2562225"/>
            <a:ext cx="3048000" cy="4191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50"/>
              </a:lnSpc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센서를 「누가 이 데이터로 행동하는가」를 기준으로 세 계층으로 재편했다.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200" y="3124200"/>
            <a:ext cx="1428750" cy="1428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989"/>
              </a:lnSpc>
              <a:spcAft>
                <a:spcPts val="0"/>
              </a:spcAft>
            </a:pPr>
            <a:r>
              <a:rPr sz="825" b="0" kern="0" spc="50">
                <a:solidFill>
                  <a:srgbClr val="7A7A7A"/>
                </a:solidFill>
                <a:latin typeface="Pretendard SemiBold"/>
                <a:cs typeface="Pretendard SemiBold"/>
              </a:rPr>
              <a:t>계층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66950" y="3124200"/>
            <a:ext cx="666750" cy="1428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ts val="989"/>
              </a:lnSpc>
              <a:spcAft>
                <a:spcPts val="0"/>
              </a:spcAft>
            </a:pPr>
            <a:r>
              <a:rPr sz="825" b="0" kern="0" spc="50">
                <a:solidFill>
                  <a:srgbClr val="7A7A7A"/>
                </a:solidFill>
                <a:latin typeface="Pretendard SemiBold"/>
                <a:cs typeface="Pretendard SemiBold"/>
              </a:rPr>
              <a:t>주기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86100" y="3124200"/>
            <a:ext cx="800100" cy="1428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ts val="989"/>
              </a:lnSpc>
              <a:spcAft>
                <a:spcPts val="0"/>
              </a:spcAft>
            </a:pPr>
            <a:r>
              <a:rPr sz="825" b="0" kern="0" spc="50">
                <a:solidFill>
                  <a:srgbClr val="7A7A7A"/>
                </a:solidFill>
                <a:latin typeface="Pretendard SemiBold"/>
                <a:cs typeface="Pretendard SemiBold"/>
              </a:rPr>
              <a:t>담당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8200" y="3352800"/>
            <a:ext cx="3048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38200" y="3429000"/>
            <a:ext cx="1428750" cy="666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413"/>
              </a:lnSpc>
              <a:spcAft>
                <a:spcPts val="0"/>
              </a:spcAft>
            </a:pPr>
            <a:r>
              <a:rPr sz="975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실시간 반사</a:t>
            </a:r>
          </a:p>
          <a:p>
            <a:pPr algn="l">
              <a:lnSpc>
                <a:spcPts val="1155"/>
              </a:lnSpc>
              <a:spcBef>
                <a:spcPts val="150"/>
              </a:spcBef>
              <a:spcAft>
                <a:spcPts val="0"/>
              </a:spcAft>
            </a:pPr>
            <a:r>
              <a:rPr sz="825" b="0" kern="0" spc="0">
                <a:solidFill>
                  <a:srgbClr val="7A7A7A"/>
                </a:solidFill>
                <a:latin typeface="Pretendard"/>
                <a:cs typeface="Pretendard"/>
              </a:rPr>
              <a:t>라인센서 · ToF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66950" y="3429000"/>
            <a:ext cx="666750" cy="666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267"/>
              </a:lnSpc>
              <a:spcAft>
                <a:spcPts val="0"/>
              </a:spcAft>
            </a:pPr>
            <a:r>
              <a:rPr sz="975" b="0" kern="0" spc="0">
                <a:solidFill>
                  <a:srgbClr val="0066CC"/>
                </a:solidFill>
                <a:latin typeface="Pretendard SemiBold"/>
                <a:cs typeface="Pretendard SemiBold"/>
              </a:rPr>
              <a:t>20ms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86100" y="3429000"/>
            <a:ext cx="800100" cy="666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170"/>
              </a:lnSpc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ESP_Drive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8200" y="4090988"/>
            <a:ext cx="30480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38200" y="4095750"/>
            <a:ext cx="1428750" cy="666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413"/>
              </a:lnSpc>
              <a:spcAft>
                <a:spcPts val="0"/>
              </a:spcAft>
            </a:pPr>
            <a:r>
              <a:rPr sz="975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환경 감시</a:t>
            </a:r>
          </a:p>
          <a:p>
            <a:pPr algn="l">
              <a:lnSpc>
                <a:spcPts val="1155"/>
              </a:lnSpc>
              <a:spcBef>
                <a:spcPts val="150"/>
              </a:spcBef>
              <a:spcAft>
                <a:spcPts val="0"/>
              </a:spcAft>
            </a:pPr>
            <a:r>
              <a:rPr sz="825" b="0" kern="0" spc="0">
                <a:solidFill>
                  <a:srgbClr val="7A7A7A"/>
                </a:solidFill>
                <a:latin typeface="Pretendard"/>
                <a:cs typeface="Pretendard"/>
              </a:rPr>
              <a:t>MQ-2 가스 · 화염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66950" y="4095750"/>
            <a:ext cx="666750" cy="666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267"/>
              </a:lnSpc>
              <a:spcAft>
                <a:spcPts val="0"/>
              </a:spcAft>
            </a:pPr>
            <a:r>
              <a:rPr sz="975" b="0" kern="0" spc="0">
                <a:solidFill>
                  <a:srgbClr val="0066CC"/>
                </a:solidFill>
                <a:latin typeface="Pretendard SemiBold"/>
                <a:cs typeface="Pretendard SemiBold"/>
              </a:rPr>
              <a:t>100ms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86100" y="4095750"/>
            <a:ext cx="800100" cy="666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170"/>
              </a:lnSpc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ESP_Env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8200" y="4757738"/>
            <a:ext cx="30480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38200" y="4762500"/>
            <a:ext cx="1428750" cy="666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413"/>
              </a:lnSpc>
              <a:spcAft>
                <a:spcPts val="0"/>
              </a:spcAft>
            </a:pPr>
            <a:r>
              <a:rPr sz="975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인지 · 학습</a:t>
            </a:r>
          </a:p>
          <a:p>
            <a:pPr algn="l">
              <a:lnSpc>
                <a:spcPts val="1155"/>
              </a:lnSpc>
              <a:spcBef>
                <a:spcPts val="150"/>
              </a:spcBef>
              <a:spcAft>
                <a:spcPts val="0"/>
              </a:spcAft>
            </a:pPr>
            <a:r>
              <a:rPr sz="825" b="0" kern="0" spc="0">
                <a:solidFill>
                  <a:srgbClr val="7A7A7A"/>
                </a:solidFill>
                <a:latin typeface="Pretendard"/>
                <a:cs typeface="Pretendard"/>
              </a:rPr>
              <a:t>카메라 · ACT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66950" y="4762500"/>
            <a:ext cx="666750" cy="666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267"/>
              </a:lnSpc>
              <a:spcAft>
                <a:spcPts val="0"/>
              </a:spcAft>
            </a:pPr>
            <a:r>
              <a:rPr sz="975" b="0" kern="0" spc="0">
                <a:solidFill>
                  <a:srgbClr val="0066CC"/>
                </a:solidFill>
                <a:latin typeface="Pretendard SemiBold"/>
                <a:cs typeface="Pretendard SemiBold"/>
              </a:rPr>
              <a:t>30fps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86100" y="4762500"/>
            <a:ext cx="800100" cy="6667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170"/>
              </a:lnSpc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RPi · 노트북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8200" y="5505450"/>
            <a:ext cx="30480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38200" y="5638800"/>
            <a:ext cx="3048000" cy="4572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825" b="0" kern="0" spc="0">
                <a:solidFill>
                  <a:srgbClr val="7A7A7A"/>
                </a:solidFill>
                <a:latin typeface="Pretendard"/>
                <a:cs typeface="Pretendard"/>
              </a:rPr>
              <a:t>판단 기준을 계층으로 고정하니, 어떤 센서를 어느 보드에 붙일지가 논쟁이 아니라 규칙이 됐다.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343400" y="1676400"/>
            <a:ext cx="3505200" cy="4648200"/>
          </a:xfrm>
          <a:prstGeom prst="roundRect">
            <a:avLst>
              <a:gd name="adj" fmla="val 1630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572000" y="1905000"/>
            <a:ext cx="3048000" cy="1428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sz="900" b="0" kern="0" spc="72">
                <a:solidFill>
                  <a:srgbClr val="333333"/>
                </a:solidFill>
                <a:latin typeface="Pretendard SemiBold"/>
                <a:cs typeface="Pretendard SemiBold"/>
              </a:rPr>
              <a:t>② 안전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0" y="2162175"/>
            <a:ext cx="30480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923"/>
              </a:lnSpc>
              <a:spcAft>
                <a:spcPts val="0"/>
              </a:spcAft>
            </a:pPr>
            <a:r>
              <a:rPr sz="1425" b="0" kern="0" spc="-21">
                <a:solidFill>
                  <a:srgbClr val="1D1D1F"/>
                </a:solidFill>
                <a:latin typeface="Pretendard SemiBold"/>
                <a:cs typeface="Pretendard SemiBold"/>
              </a:rPr>
              <a:t>정지 권한을 한 곳에 모았다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0" y="2562225"/>
            <a:ext cx="3048000" cy="11191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sz="975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모터를 멈추는 것은 DRIVE 뿐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하드웨어 풀다운 · DRIVE 로컬 · RPi · 사람의 4계층으로 나누되, 실제로 모터를 끊는 권한은 DRIVE 한 곳에만 둔다.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0" y="3681412"/>
            <a:ext cx="30480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572000" y="3690938"/>
            <a:ext cx="3048000" cy="12763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sz="975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하트비트 — 명령이 아니라 생존 신호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STOP 을 보내는 방식이 아니라 생존 신호가 끊기면 멈추는 방식이라, RPi 사망 · WiFi 두절 · ENV 사망을 하나의 메커니즘으로 처리한다.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0" y="4967288"/>
            <a:ext cx="30480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572000" y="4976812"/>
            <a:ext cx="3048000" cy="11191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sz="975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STBY 10kΩ 풀다운 페일세이프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ESP32 가 죽거나 리셋되면 제어핀이 하이임피던스가 되어 모터가 자동 정지한다. 설계 결정을 하드웨어로 뒷받침했다.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077200" y="1676400"/>
            <a:ext cx="3505200" cy="4648200"/>
          </a:xfrm>
          <a:prstGeom prst="roundRect">
            <a:avLst>
              <a:gd name="adj" fmla="val 1630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305800" y="1905000"/>
            <a:ext cx="3048000" cy="1428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sz="900" b="0" kern="0" spc="72">
                <a:solidFill>
                  <a:srgbClr val="333333"/>
                </a:solidFill>
                <a:latin typeface="Pretendard SemiBold"/>
                <a:cs typeface="Pretendard SemiBold"/>
              </a:rPr>
              <a:t>③ 자원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05800" y="2162175"/>
            <a:ext cx="30480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923"/>
              </a:lnSpc>
              <a:spcAft>
                <a:spcPts val="0"/>
              </a:spcAft>
            </a:pPr>
            <a:r>
              <a:rPr sz="1425" b="0" kern="0" spc="-21">
                <a:solidFill>
                  <a:srgbClr val="1D1D1F"/>
                </a:solidFill>
                <a:latin typeface="Pretendard SemiBold"/>
                <a:cs typeface="Pretendard SemiBold"/>
              </a:rPr>
              <a:t>없는 자원은 다르게 대체했다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05800" y="2562225"/>
            <a:ext cx="3048000" cy="11191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sz="975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전압 피드포워드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엔코더 속도루프 없이 실제듀티 = 목표듀티 × (12.0 / 측정전압) 으로 배터리 전압 강하를 보상한다.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305800" y="3681412"/>
            <a:ext cx="30480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305800" y="3690938"/>
            <a:ext cx="3048000" cy="11191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sz="975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VL53L1X 논블로킹 읽기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블로킹으로 읽으면 라인 PID 주기가 붕괴함을 규명하고 구조를 바꿨다.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305800" y="4810125"/>
            <a:ext cx="30480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8305800" y="4819650"/>
            <a:ext cx="3048000" cy="12763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sz="975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라인 추종 PD 루프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적분항 없이 KP=60 · KD=25 · 20ms(50Hz)로 구성했다. 센서 배선 없이 도는 가상 라인 모드로 조향 방향 · 비례 · 이탈 선회를 검증했고, 실측 게인 튜닝은 섀시 트랙 몫으로 남겼다.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600" y="476250"/>
            <a:ext cx="57150" cy="5715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3900" y="419100"/>
            <a:ext cx="10858500" cy="1714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75"/>
              </a:lnSpc>
              <a:spcAft>
                <a:spcPts val="0"/>
              </a:spcAft>
            </a:pPr>
            <a:r>
              <a:rPr sz="975" b="0" kern="0" spc="117">
                <a:solidFill>
                  <a:srgbClr val="333333"/>
                </a:solidFill>
                <a:latin typeface="Pretendard SemiBold"/>
                <a:cs typeface="Pretendard SemiBold"/>
              </a:rPr>
              <a:t>05 · 결과와 일정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66750"/>
            <a:ext cx="10972800" cy="4381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3104"/>
              </a:lnSpc>
              <a:spcAft>
                <a:spcPts val="0"/>
              </a:spcAft>
            </a:pPr>
            <a:r>
              <a:rPr sz="2700" b="0" kern="0" spc="-54">
                <a:solidFill>
                  <a:srgbClr val="1D1D1F"/>
                </a:solidFill>
                <a:latin typeface="Pretendard SemiBold"/>
                <a:cs typeface="Pretendard SemiBold"/>
              </a:rPr>
              <a:t>사람이 위험물에 다가가는 횟수를 줄인다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52525"/>
            <a:ext cx="10972800" cy="2476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48"/>
              </a:lnSpc>
              <a:spcAft>
                <a:spcPts val="0"/>
              </a:spcAft>
            </a:pPr>
            <a:r>
              <a:rPr sz="1275" b="0" kern="0" spc="-13">
                <a:solidFill>
                  <a:srgbClr val="333333"/>
                </a:solidFill>
                <a:latin typeface="Pretendard"/>
                <a:cs typeface="Pretendard"/>
              </a:rPr>
              <a:t>지금 쓸 수 있는 곳과 기대효과, 그리고 실제 현장에 놓기 위해 넓혀야 할 네 축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504950"/>
            <a:ext cx="109728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55892" y="6505766"/>
            <a:ext cx="68580" cy="56578"/>
          </a:xfrm>
          <a:prstGeom prst="roundRect">
            <a:avLst>
              <a:gd name="adj" fmla="val 42424"/>
            </a:avLst>
          </a:prstGeom>
          <a:solidFill>
            <a:srgbClr val="1D1D1F"/>
          </a:solidFill>
          <a:ln w="4286">
            <a:solidFill>
              <a:srgbClr val="1D1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690181" y="6490335"/>
            <a:ext cx="0" cy="15431"/>
          </a:xfrm>
          <a:prstGeom prst="line">
            <a:avLst/>
          </a:prstGeom>
          <a:ln w="6000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84352" y="6481077"/>
            <a:ext cx="11659" cy="11659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1" name="Connector 10"/>
          <p:cNvCxnSpPr/>
          <p:nvPr/>
        </p:nvCxnSpPr>
        <p:spPr>
          <a:xfrm flipV="1">
            <a:off x="721042" y="6502336"/>
            <a:ext cx="27432" cy="17146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742474" y="6496336"/>
            <a:ext cx="12002" cy="12002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3" name="Connector 12"/>
          <p:cNvCxnSpPr/>
          <p:nvPr/>
        </p:nvCxnSpPr>
        <p:spPr>
          <a:xfrm>
            <a:off x="748474" y="6502336"/>
            <a:ext cx="12002" cy="24003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753275" y="6519139"/>
            <a:ext cx="14402" cy="14402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5" name="Connector 14"/>
          <p:cNvCxnSpPr/>
          <p:nvPr/>
        </p:nvCxnSpPr>
        <p:spPr>
          <a:xfrm flipV="1">
            <a:off x="760476" y="6516052"/>
            <a:ext cx="12002" cy="10287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0476" y="6526339"/>
            <a:ext cx="10287" cy="12002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63607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Oval 17"/>
          <p:cNvSpPr/>
          <p:nvPr/>
        </p:nvSpPr>
        <p:spPr>
          <a:xfrm>
            <a:off x="694468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Oval 18"/>
          <p:cNvSpPr/>
          <p:nvPr/>
        </p:nvSpPr>
        <p:spPr>
          <a:xfrm>
            <a:off x="679894" y="6517767"/>
            <a:ext cx="30861" cy="30861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Oval 19"/>
          <p:cNvSpPr/>
          <p:nvPr/>
        </p:nvSpPr>
        <p:spPr>
          <a:xfrm>
            <a:off x="696697" y="6525997"/>
            <a:ext cx="7544" cy="754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57250" y="6438900"/>
            <a:ext cx="4762500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825"/>
              </a:lnSpc>
              <a:spcAft>
                <a:spcPts val="0"/>
              </a:spcAft>
            </a:pPr>
            <a:r>
              <a:rPr sz="825" b="0" kern="0" spc="50">
                <a:solidFill>
                  <a:srgbClr val="7A7A7A"/>
                </a:solidFill>
                <a:latin typeface="Pretendard SemiBold"/>
                <a:cs typeface="Pretendard SemiBold"/>
              </a:rPr>
              <a:t>HazardBot 개발완료보고서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24900" y="6438900"/>
            <a:ext cx="2857500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825"/>
              </a:lnSpc>
              <a:spcAft>
                <a:spcPts val="0"/>
              </a:spcAft>
            </a:pPr>
            <a:r>
              <a:rPr sz="825" b="0" kern="0" spc="50">
                <a:solidFill>
                  <a:srgbClr val="7A7A7A"/>
                </a:solidFill>
                <a:latin typeface="Pretendard SemiBold"/>
                <a:cs typeface="Pretendard SemiBold"/>
              </a:rPr>
              <a:t>19 / 20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1676400"/>
            <a:ext cx="5372100" cy="4648200"/>
          </a:xfrm>
          <a:prstGeom prst="roundRect">
            <a:avLst>
              <a:gd name="adj" fmla="val 1229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8200" y="1905000"/>
            <a:ext cx="4914900" cy="1428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sz="900" b="0" kern="0" spc="72">
                <a:solidFill>
                  <a:srgbClr val="333333"/>
                </a:solidFill>
                <a:latin typeface="Pretendard SemiBold"/>
                <a:cs typeface="Pretendard SemiBold"/>
              </a:rPr>
              <a:t>활용성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200" y="2162175"/>
            <a:ext cx="49149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923"/>
              </a:lnSpc>
              <a:spcAft>
                <a:spcPts val="0"/>
              </a:spcAft>
            </a:pPr>
            <a:r>
              <a:rPr sz="1425" b="0" kern="0" spc="-21">
                <a:solidFill>
                  <a:srgbClr val="1D1D1F"/>
                </a:solidFill>
                <a:latin typeface="Pretendard SemiBold"/>
                <a:cs typeface="Pretendard SemiBold"/>
              </a:rPr>
              <a:t>어디에 놓을 수 있나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2562225"/>
            <a:ext cx="4914900" cy="16573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825" b="0" kern="0" spc="50">
                <a:solidFill>
                  <a:srgbClr val="7A7A7A"/>
                </a:solidFill>
                <a:latin typeface="Pretendard SemiBold"/>
                <a:cs typeface="Pretendard SemiBold"/>
              </a:rPr>
              <a:t>활용처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8200" y="2762250"/>
            <a:ext cx="739140" cy="209550"/>
          </a:xfrm>
          <a:prstGeom prst="roundRect">
            <a:avLst>
              <a:gd name="adj" fmla="val 13636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38200" y="2762250"/>
            <a:ext cx="739140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900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"/>
                <a:cs typeface="Pretendard"/>
              </a:rPr>
              <a:t>반도체 FAB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653540" y="2762250"/>
            <a:ext cx="1068324" cy="209550"/>
          </a:xfrm>
          <a:prstGeom prst="roundRect">
            <a:avLst>
              <a:gd name="adj" fmla="val 13636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653540" y="2762250"/>
            <a:ext cx="1068324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900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"/>
                <a:cs typeface="Pretendard"/>
              </a:rPr>
              <a:t>정유 · 화학 플랜트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98064" y="2762250"/>
            <a:ext cx="1077468" cy="209550"/>
          </a:xfrm>
          <a:prstGeom prst="roundRect">
            <a:avLst>
              <a:gd name="adj" fmla="val 13636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798064" y="2762250"/>
            <a:ext cx="1077468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900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"/>
                <a:cs typeface="Pretendard"/>
              </a:rPr>
              <a:t>화학물질 보관창고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8200" y="3067050"/>
            <a:ext cx="1479804" cy="209550"/>
          </a:xfrm>
          <a:prstGeom prst="roundRect">
            <a:avLst>
              <a:gd name="adj" fmla="val 13636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38200" y="3067050"/>
            <a:ext cx="1479804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900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"/>
                <a:cs typeface="Pretendard"/>
              </a:rPr>
              <a:t>물류창고 야간 무인 시간대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394204" y="3067050"/>
            <a:ext cx="1699260" cy="209550"/>
          </a:xfrm>
          <a:prstGeom prst="roundRect">
            <a:avLst>
              <a:gd name="adj" fmla="val 13636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394204" y="3067050"/>
            <a:ext cx="1699260" cy="2095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900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"/>
                <a:cs typeface="Pretendard"/>
              </a:rPr>
              <a:t>소방 · 안전관리 초동 대응 보조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8200" y="3505200"/>
            <a:ext cx="49149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38200" y="3657600"/>
            <a:ext cx="4914900" cy="75406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sz="975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감시의 공백을 메운다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야간 · 연휴 · 교대 사이처럼 사람의 집중이 끊기는 시간대를 로봇이 같은 기준으로 이어서 지킨다.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8200" y="4411662"/>
            <a:ext cx="49149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38200" y="4421188"/>
            <a:ext cx="4914900" cy="91122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sz="975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사람이 도착하기 전에 격리가 끝나 있다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이상을 발견하고 사람이 현장에 투입되기까지의 시간 동안, 초동 조치인 격리가 이미 완료된 상태를 만든다.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8200" y="5332412"/>
            <a:ext cx="49149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38200" y="5341937"/>
            <a:ext cx="4914900" cy="75406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sz="975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판정 근거가 기록으로 남는다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색상값 · 가스값 · 시각이 EVENT LOG 에 쌓여 사후 확인과 원인 추적이 가능하다.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10300" y="1676400"/>
            <a:ext cx="5372100" cy="4648200"/>
          </a:xfrm>
          <a:prstGeom prst="roundRect">
            <a:avLst>
              <a:gd name="adj" fmla="val 1229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438900" y="1905000"/>
            <a:ext cx="4914900" cy="1428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sz="900" b="0" kern="0" spc="72">
                <a:solidFill>
                  <a:srgbClr val="333333"/>
                </a:solidFill>
                <a:latin typeface="Pretendard SemiBold"/>
                <a:cs typeface="Pretendard SemiBold"/>
              </a:rPr>
              <a:t>발전 가능성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38900" y="2162175"/>
            <a:ext cx="4914900" cy="247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923"/>
              </a:lnSpc>
              <a:spcAft>
                <a:spcPts val="0"/>
              </a:spcAft>
            </a:pPr>
            <a:r>
              <a:rPr sz="1425" b="0" kern="0" spc="-21">
                <a:solidFill>
                  <a:srgbClr val="1D1D1F"/>
                </a:solidFill>
                <a:latin typeface="Pretendard SemiBold"/>
                <a:cs typeface="Pretendard SemiBold"/>
              </a:rPr>
              <a:t>현장에 놓기 위해 넓힐 네 축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38900" y="2562225"/>
            <a:ext cx="4914900" cy="8763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sz="975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위험물 분류 확장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지금은 색상 2분류뿐이다. 용기 라벨의 UN 번호와 QR/바코드를 읽어 MSDS(물질안전보건자료)와 연동하면 부식성 · 독성 · 압축가스까지 넓힐 수 있다.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38900" y="3438525"/>
            <a:ext cx="49149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438900" y="3448050"/>
            <a:ext cx="4914900" cy="8763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sz="975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초동 조치 범위 확장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격리함 투입 외에 밸브 잠금, 국소 배기 가동, 흡착제 · 중화제 살포, 스필 컨테인먼트 전개 같은 대응 동작으로 넓힌다.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38900" y="4324350"/>
            <a:ext cx="49149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38900" y="4333875"/>
            <a:ext cx="4914900" cy="8763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sz="975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온보드 자립 추론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지금은 ACT 정책이 노트북 GPU 에서 돌고 USB 로 팔을 제어한다. 현장에서는 로봇이 스스로 판단해야 하므로, 온보드 추론의 정지 원인을 규명하거나 엣지 NPU 가속기를 얹어 노트북 없이 도는 구조로 만든다.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38900" y="5210175"/>
            <a:ext cx="49149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38900" y="5219700"/>
            <a:ext cx="4914900" cy="8763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462"/>
              </a:lnSpc>
              <a:spcAft>
                <a:spcPts val="0"/>
              </a:spcAft>
            </a:pPr>
            <a:r>
              <a:rPr sz="975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전 구역 주행 · 다중 로봇</a:t>
            </a:r>
          </a:p>
          <a:p>
            <a:pPr algn="l">
              <a:lnSpc>
                <a:spcPts val="1237"/>
              </a:lnSpc>
              <a:spcBef>
                <a:spcPts val="225"/>
              </a:spcBef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SLAM 기반 전 구역 주행으로 넓히고, 한 대로 감당할 수 없는 규모에는 구역 분담과 작업 핸드오프가 가능한 다중 로봇 구조로 확장한다.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600" y="476250"/>
            <a:ext cx="57150" cy="5715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3900" y="419100"/>
            <a:ext cx="10858500" cy="1714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975"/>
              </a:lnSpc>
              <a:spcAft>
                <a:spcPts val="0"/>
              </a:spcAft>
            </a:pPr>
            <a:r>
              <a:rPr sz="975" b="0" kern="0" spc="117">
                <a:solidFill>
                  <a:srgbClr val="333333"/>
                </a:solidFill>
                <a:latin typeface="Pretendard SemiBold"/>
                <a:cs typeface="Pretendard SemiBold"/>
              </a:rPr>
              <a:t>05 · 결과와 일정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66750"/>
            <a:ext cx="10972800" cy="4381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3104"/>
              </a:lnSpc>
              <a:spcAft>
                <a:spcPts val="0"/>
              </a:spcAft>
            </a:pPr>
            <a:r>
              <a:rPr sz="2700" b="0" kern="0" spc="-54">
                <a:solidFill>
                  <a:srgbClr val="1D1D1F"/>
                </a:solidFill>
                <a:latin typeface="Pretendard SemiBold"/>
                <a:cs typeface="Pretendard SemiBold"/>
              </a:rPr>
              <a:t>13주 공정과 세 명의 역할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52525"/>
            <a:ext cx="10972800" cy="2476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48"/>
              </a:lnSpc>
              <a:spcAft>
                <a:spcPts val="0"/>
              </a:spcAft>
            </a:pPr>
            <a:r>
              <a:rPr sz="1275" b="0" kern="0" spc="-13">
                <a:solidFill>
                  <a:srgbClr val="333333"/>
                </a:solidFill>
                <a:latin typeface="Pretendard"/>
                <a:cs typeface="Pretendard"/>
              </a:rPr>
              <a:t>2026-06-01부터 08-31까지 13주 · 기술적 선후관계로 순서를 정하고 역할을 나눴다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504950"/>
            <a:ext cx="109728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55892" y="6505766"/>
            <a:ext cx="68580" cy="56578"/>
          </a:xfrm>
          <a:prstGeom prst="roundRect">
            <a:avLst>
              <a:gd name="adj" fmla="val 42424"/>
            </a:avLst>
          </a:prstGeom>
          <a:solidFill>
            <a:srgbClr val="1D1D1F"/>
          </a:solidFill>
          <a:ln w="4286">
            <a:solidFill>
              <a:srgbClr val="1D1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9" name="Connector 8"/>
          <p:cNvCxnSpPr/>
          <p:nvPr/>
        </p:nvCxnSpPr>
        <p:spPr>
          <a:xfrm flipV="1">
            <a:off x="690181" y="6490335"/>
            <a:ext cx="0" cy="15431"/>
          </a:xfrm>
          <a:prstGeom prst="line">
            <a:avLst/>
          </a:prstGeom>
          <a:ln w="6000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84352" y="6481077"/>
            <a:ext cx="11659" cy="11659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1" name="Connector 10"/>
          <p:cNvCxnSpPr/>
          <p:nvPr/>
        </p:nvCxnSpPr>
        <p:spPr>
          <a:xfrm flipV="1">
            <a:off x="721042" y="6502336"/>
            <a:ext cx="27432" cy="17146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742474" y="6496336"/>
            <a:ext cx="12002" cy="12002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3" name="Connector 12"/>
          <p:cNvCxnSpPr/>
          <p:nvPr/>
        </p:nvCxnSpPr>
        <p:spPr>
          <a:xfrm>
            <a:off x="748474" y="6502336"/>
            <a:ext cx="12002" cy="24003"/>
          </a:xfrm>
          <a:prstGeom prst="line">
            <a:avLst/>
          </a:prstGeom>
          <a:ln w="9429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753275" y="6519139"/>
            <a:ext cx="14402" cy="14402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5" name="Connector 14"/>
          <p:cNvCxnSpPr/>
          <p:nvPr/>
        </p:nvCxnSpPr>
        <p:spPr>
          <a:xfrm flipV="1">
            <a:off x="760476" y="6516052"/>
            <a:ext cx="12002" cy="10287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0476" y="6526339"/>
            <a:ext cx="10287" cy="12002"/>
          </a:xfrm>
          <a:prstGeom prst="line">
            <a:avLst/>
          </a:prstGeom>
          <a:ln w="6858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63607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Oval 17"/>
          <p:cNvSpPr/>
          <p:nvPr/>
        </p:nvSpPr>
        <p:spPr>
          <a:xfrm>
            <a:off x="694468" y="6554629"/>
            <a:ext cx="22288" cy="2228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Oval 18"/>
          <p:cNvSpPr/>
          <p:nvPr/>
        </p:nvSpPr>
        <p:spPr>
          <a:xfrm>
            <a:off x="679894" y="6517767"/>
            <a:ext cx="30861" cy="30861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Oval 19"/>
          <p:cNvSpPr/>
          <p:nvPr/>
        </p:nvSpPr>
        <p:spPr>
          <a:xfrm>
            <a:off x="696697" y="6525997"/>
            <a:ext cx="7544" cy="754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57250" y="6438900"/>
            <a:ext cx="4762500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825"/>
              </a:lnSpc>
              <a:spcAft>
                <a:spcPts val="0"/>
              </a:spcAft>
            </a:pPr>
            <a:r>
              <a:rPr sz="825" b="0" kern="0" spc="50">
                <a:solidFill>
                  <a:srgbClr val="7A7A7A"/>
                </a:solidFill>
                <a:latin typeface="Pretendard SemiBold"/>
                <a:cs typeface="Pretendard SemiBold"/>
              </a:rPr>
              <a:t>HazardBot 개발완료보고서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24900" y="6438900"/>
            <a:ext cx="2857500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825"/>
              </a:lnSpc>
              <a:spcAft>
                <a:spcPts val="0"/>
              </a:spcAft>
            </a:pPr>
            <a:r>
              <a:rPr sz="825" b="0" kern="0" spc="50">
                <a:solidFill>
                  <a:srgbClr val="7A7A7A"/>
                </a:solidFill>
                <a:latin typeface="Pretendard SemiBold"/>
                <a:cs typeface="Pretendard SemiBold"/>
              </a:rPr>
              <a:t>20 / 20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1676400"/>
            <a:ext cx="5372100" cy="4648200"/>
          </a:xfrm>
          <a:prstGeom prst="roundRect">
            <a:avLst>
              <a:gd name="adj" fmla="val 1229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1905000"/>
            <a:ext cx="4914900" cy="17907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sz="900" b="0" kern="0" spc="72">
                <a:solidFill>
                  <a:srgbClr val="333333"/>
                </a:solidFill>
                <a:latin typeface="Pretendard SemiBold"/>
                <a:cs typeface="Pretendard SemiBold"/>
              </a:rPr>
              <a:t>개발 일정 — 2026-06-01 ~ 08-31 · 13주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2324100"/>
            <a:ext cx="28575" cy="4191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66800" y="2209800"/>
            <a:ext cx="800100" cy="647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57"/>
              </a:lnSpc>
              <a:spcAft>
                <a:spcPts val="0"/>
              </a:spcAft>
            </a:pPr>
            <a:r>
              <a:rPr sz="1275" b="1" kern="0" spc="-26">
                <a:solidFill>
                  <a:srgbClr val="1D1D1F"/>
                </a:solidFill>
                <a:latin typeface="Pretendard"/>
                <a:cs typeface="Pretendard"/>
              </a:rPr>
              <a:t>6월</a:t>
            </a:r>
          </a:p>
          <a:p>
            <a:pPr algn="l">
              <a:lnSpc>
                <a:spcPts val="1072"/>
              </a:lnSpc>
              <a:spcBef>
                <a:spcPts val="150"/>
              </a:spcBef>
              <a:spcAft>
                <a:spcPts val="0"/>
              </a:spcAft>
            </a:pPr>
            <a:r>
              <a:rPr sz="825" b="0" kern="0" spc="0">
                <a:solidFill>
                  <a:srgbClr val="7A7A7A"/>
                </a:solidFill>
                <a:latin typeface="Pretendard"/>
                <a:cs typeface="Pretendard"/>
              </a:rPr>
              <a:t>W1–W5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43100" y="2209800"/>
            <a:ext cx="3886200" cy="6477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237"/>
              </a:lnSpc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계획 정본 · 저장소 · CI → 로봇팔 환경과 툴체인 → 전력 계통 설계·확정 → 3D 모델링 · 출력 → 캘리브레이션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2852738"/>
            <a:ext cx="49149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914400" y="2971800"/>
            <a:ext cx="28575" cy="4191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66800" y="2857500"/>
            <a:ext cx="800100" cy="647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57"/>
              </a:lnSpc>
              <a:spcAft>
                <a:spcPts val="0"/>
              </a:spcAft>
            </a:pPr>
            <a:r>
              <a:rPr sz="1275" b="1" kern="0" spc="-26">
                <a:solidFill>
                  <a:srgbClr val="1D1D1F"/>
                </a:solidFill>
                <a:latin typeface="Pretendard"/>
                <a:cs typeface="Pretendard"/>
              </a:rPr>
              <a:t>7월</a:t>
            </a:r>
          </a:p>
          <a:p>
            <a:pPr algn="l">
              <a:lnSpc>
                <a:spcPts val="1072"/>
              </a:lnSpc>
              <a:spcBef>
                <a:spcPts val="150"/>
              </a:spcBef>
              <a:spcAft>
                <a:spcPts val="0"/>
              </a:spcAft>
            </a:pPr>
            <a:r>
              <a:rPr sz="825" b="0" kern="0" spc="0">
                <a:solidFill>
                  <a:srgbClr val="7A7A7A"/>
                </a:solidFill>
                <a:latin typeface="Pretendard"/>
                <a:cs typeface="Pretendard"/>
              </a:rPr>
              <a:t>W6–W9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43100" y="2857500"/>
            <a:ext cx="3886200" cy="6477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237"/>
              </a:lnSpc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캘리브레이션 정본 확정 → 텔레옵 마일스톤 → DRIVE 보드와 주행 펌웨어 → 안전 체계 · 센서 체계 설계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3500438"/>
            <a:ext cx="49149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914400" y="3619500"/>
            <a:ext cx="28575" cy="4191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66800" y="3505200"/>
            <a:ext cx="800100" cy="647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57"/>
              </a:lnSpc>
              <a:spcAft>
                <a:spcPts val="0"/>
              </a:spcAft>
            </a:pPr>
            <a:r>
              <a:rPr sz="1275" b="1" kern="0" spc="-26">
                <a:solidFill>
                  <a:srgbClr val="1D1D1F"/>
                </a:solidFill>
                <a:latin typeface="Pretendard"/>
                <a:cs typeface="Pretendard"/>
              </a:rPr>
              <a:t>8월</a:t>
            </a:r>
          </a:p>
          <a:p>
            <a:pPr algn="l">
              <a:lnSpc>
                <a:spcPts val="1072"/>
              </a:lnSpc>
              <a:spcBef>
                <a:spcPts val="150"/>
              </a:spcBef>
              <a:spcAft>
                <a:spcPts val="0"/>
              </a:spcAft>
            </a:pPr>
            <a:r>
              <a:rPr sz="825" b="0" kern="0" spc="0">
                <a:solidFill>
                  <a:srgbClr val="7A7A7A"/>
                </a:solidFill>
                <a:latin typeface="Pretendard"/>
                <a:cs typeface="Pretendard"/>
              </a:rPr>
              <a:t>W10–W13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43100" y="3505200"/>
            <a:ext cx="3886200" cy="6477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237"/>
              </a:lnSpc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시나리오 · 시연 설계 정본 → 세트 제작과 실측 → 수집 게이트 · 준비 → ACT 수집 · 학습 · 검증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4148138"/>
            <a:ext cx="49149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914400" y="4267200"/>
            <a:ext cx="28575" cy="41910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066800" y="4152900"/>
            <a:ext cx="800100" cy="647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657"/>
              </a:lnSpc>
              <a:spcAft>
                <a:spcPts val="0"/>
              </a:spcAft>
            </a:pPr>
            <a:r>
              <a:rPr sz="1275" b="1" kern="0" spc="-26">
                <a:solidFill>
                  <a:srgbClr val="1D1D1F"/>
                </a:solidFill>
                <a:latin typeface="Pretendard"/>
                <a:cs typeface="Pretendard"/>
              </a:rPr>
              <a:t>9월</a:t>
            </a:r>
          </a:p>
          <a:p>
            <a:pPr algn="l">
              <a:lnSpc>
                <a:spcPts val="1072"/>
              </a:lnSpc>
              <a:spcBef>
                <a:spcPts val="150"/>
              </a:spcBef>
              <a:spcAft>
                <a:spcPts val="0"/>
              </a:spcAft>
            </a:pPr>
            <a:r>
              <a:rPr sz="825" b="0" kern="0" spc="0">
                <a:solidFill>
                  <a:srgbClr val="7A7A7A"/>
                </a:solidFill>
                <a:latin typeface="Pretendard"/>
                <a:cs typeface="Pretendard"/>
              </a:rPr>
              <a:t>제출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3100" y="4152900"/>
            <a:ext cx="3886200" cy="6477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237"/>
              </a:lnSpc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개발완료보고서 · 시연동영상 · 소스코드 저장소 정리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" y="4838700"/>
            <a:ext cx="49149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14400" y="4953000"/>
            <a:ext cx="4914900" cy="16573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825" b="0" kern="0" spc="50">
                <a:solidFill>
                  <a:srgbClr val="7A7A7A"/>
                </a:solidFill>
                <a:latin typeface="Pretendard SemiBold"/>
                <a:cs typeface="Pretendard SemiBold"/>
              </a:rPr>
              <a:t>마일스톤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5181600"/>
            <a:ext cx="5715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70"/>
              </a:lnSpc>
              <a:spcAft>
                <a:spcPts val="0"/>
              </a:spcAft>
            </a:pPr>
            <a:r>
              <a:rPr sz="900" b="0" kern="0" spc="0">
                <a:solidFill>
                  <a:srgbClr val="7A7A7A"/>
                </a:solidFill>
                <a:latin typeface="Pretendard SemiBold"/>
                <a:cs typeface="Pretendard SemiBold"/>
              </a:rPr>
              <a:t>07/11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62100" y="5181600"/>
            <a:ext cx="4267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70"/>
              </a:lnSpc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캘리브레이션 정본 4종 확정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5429250"/>
            <a:ext cx="5715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70"/>
              </a:lnSpc>
              <a:spcAft>
                <a:spcPts val="0"/>
              </a:spcAft>
            </a:pPr>
            <a:r>
              <a:rPr sz="900" b="0" kern="0" spc="0">
                <a:solidFill>
                  <a:srgbClr val="0066CC"/>
                </a:solidFill>
                <a:latin typeface="Pretendard SemiBold"/>
                <a:cs typeface="Pretendard SemiBold"/>
              </a:rPr>
              <a:t>07/16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562100" y="5429250"/>
            <a:ext cx="4267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70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★ 텔레옵 마일스톤 — 60초 오류 0건 · 평균 55.5Hz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" y="5676900"/>
            <a:ext cx="5715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70"/>
              </a:lnSpc>
              <a:spcAft>
                <a:spcPts val="0"/>
              </a:spcAft>
            </a:pPr>
            <a:r>
              <a:rPr sz="900" b="0" kern="0" spc="0">
                <a:solidFill>
                  <a:srgbClr val="7A7A7A"/>
                </a:solidFill>
                <a:latin typeface="Pretendard SemiBold"/>
                <a:cs typeface="Pretendard SemiBold"/>
              </a:rPr>
              <a:t>08/14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62100" y="5676900"/>
            <a:ext cx="4267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70"/>
              </a:lnSpc>
              <a:spcAft>
                <a:spcPts val="0"/>
              </a:spcAft>
            </a:pPr>
            <a:r>
              <a:rPr sz="900" b="0" kern="0" spc="0">
                <a:solidFill>
                  <a:srgbClr val="333333"/>
                </a:solidFill>
                <a:latin typeface="Pretendard"/>
                <a:cs typeface="Pretendard"/>
              </a:rPr>
              <a:t>시연 공간 확보 · 세트 제작 완료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4400" y="5924550"/>
            <a:ext cx="5715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70"/>
              </a:lnSpc>
              <a:spcAft>
                <a:spcPts val="0"/>
              </a:spcAft>
            </a:pPr>
            <a:r>
              <a:rPr sz="900" b="0" kern="0" spc="0">
                <a:solidFill>
                  <a:srgbClr val="0066CC"/>
                </a:solidFill>
                <a:latin typeface="Pretendard SemiBold"/>
                <a:cs typeface="Pretendard SemiBold"/>
              </a:rPr>
              <a:t>08/26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62100" y="5924550"/>
            <a:ext cx="4267200" cy="228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170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★ ACT 학습 완료 — 100,000 스텝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10300" y="1676400"/>
            <a:ext cx="5372100" cy="4648200"/>
          </a:xfrm>
          <a:prstGeom prst="roundRect">
            <a:avLst>
              <a:gd name="adj" fmla="val 1229"/>
            </a:avLst>
          </a:prstGeom>
          <a:solidFill>
            <a:srgbClr val="FFFFFF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515100" y="1905000"/>
            <a:ext cx="4914900" cy="17907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259"/>
              </a:lnSpc>
              <a:spcAft>
                <a:spcPts val="0"/>
              </a:spcAft>
            </a:pPr>
            <a:r>
              <a:rPr sz="900" b="0" kern="0" spc="72">
                <a:solidFill>
                  <a:srgbClr val="333333"/>
                </a:solidFill>
                <a:latin typeface="Pretendard SemiBold"/>
                <a:cs typeface="Pretendard SemiBold"/>
              </a:rPr>
              <a:t>업무 분장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515100" y="2343150"/>
            <a:ext cx="342900" cy="190500"/>
          </a:xfrm>
          <a:prstGeom prst="roundRect">
            <a:avLst>
              <a:gd name="adj" fmla="val 15000"/>
            </a:avLst>
          </a:prstGeom>
          <a:solidFill>
            <a:srgbClr val="EB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515100" y="2343150"/>
            <a:ext cx="342900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825"/>
              </a:lnSpc>
              <a:spcAft>
                <a:spcPts val="0"/>
              </a:spcAft>
            </a:pPr>
            <a:r>
              <a:rPr sz="825" b="0" kern="0" spc="0">
                <a:solidFill>
                  <a:srgbClr val="0066CC"/>
                </a:solidFill>
                <a:latin typeface="Pretendard"/>
                <a:cs typeface="Pretendard"/>
              </a:rPr>
              <a:t>팀장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15100" y="2609850"/>
            <a:ext cx="914400" cy="2667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52"/>
              </a:lnSpc>
              <a:spcAft>
                <a:spcPts val="0"/>
              </a:spcAft>
            </a:pPr>
            <a:r>
              <a:rPr sz="1425" b="0" kern="0" spc="-21">
                <a:solidFill>
                  <a:srgbClr val="1D1D1F"/>
                </a:solidFill>
                <a:latin typeface="Pretendard SemiBold"/>
                <a:cs typeface="Pretendard SemiBold"/>
              </a:rPr>
              <a:t>승환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505700" y="2324100"/>
            <a:ext cx="3924300" cy="1066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5"/>
              </a:lnSpc>
              <a:spcAft>
                <a:spcPts val="0"/>
              </a:spcAft>
            </a:pPr>
            <a:r>
              <a:rPr sz="900" b="0" kern="0" spc="0" dirty="0" err="1">
                <a:solidFill>
                  <a:srgbClr val="1D1D1F"/>
                </a:solidFill>
                <a:latin typeface="Pretendard SemiBold"/>
                <a:cs typeface="Pretendard SemiBold"/>
              </a:rPr>
              <a:t>로봇팔</a:t>
            </a:r>
            <a:r>
              <a:rPr sz="900" b="0" kern="0" spc="0" dirty="0">
                <a:solidFill>
                  <a:srgbClr val="1D1D1F"/>
                </a:solidFill>
                <a:latin typeface="Pretendard SemiBold"/>
                <a:cs typeface="Pretendard SemiBold"/>
              </a:rPr>
              <a:t> · </a:t>
            </a:r>
            <a:r>
              <a:rPr sz="900" b="0" kern="0" spc="0" dirty="0" err="1">
                <a:solidFill>
                  <a:srgbClr val="1D1D1F"/>
                </a:solidFill>
                <a:latin typeface="Pretendard SemiBold"/>
                <a:cs typeface="Pretendard SemiBold"/>
              </a:rPr>
              <a:t>주행</a:t>
            </a:r>
            <a:r>
              <a:rPr sz="900" b="0" kern="0" spc="0" dirty="0">
                <a:solidFill>
                  <a:srgbClr val="1D1D1F"/>
                </a:solidFill>
                <a:latin typeface="Pretendard SemiBold"/>
                <a:cs typeface="Pretendard SemiBold"/>
              </a:rPr>
              <a:t> · </a:t>
            </a:r>
            <a:r>
              <a:rPr sz="900" b="0" kern="0" spc="0" dirty="0" err="1">
                <a:solidFill>
                  <a:srgbClr val="1D1D1F"/>
                </a:solidFill>
                <a:latin typeface="Pretendard SemiBold"/>
                <a:cs typeface="Pretendard SemiBold"/>
              </a:rPr>
              <a:t>전력</a:t>
            </a:r>
            <a:r>
              <a:rPr sz="900" b="0" kern="0" spc="0" dirty="0">
                <a:solidFill>
                  <a:srgbClr val="1D1D1F"/>
                </a:solidFill>
                <a:latin typeface="Pretendard SemiBold"/>
                <a:cs typeface="Pretendard SemiBold"/>
              </a:rPr>
              <a:t> · </a:t>
            </a:r>
            <a:r>
              <a:rPr sz="900" b="0" kern="0" spc="0" dirty="0" err="1">
                <a:solidFill>
                  <a:srgbClr val="1D1D1F"/>
                </a:solidFill>
                <a:latin typeface="Pretendard SemiBold"/>
                <a:cs typeface="Pretendard SemiBold"/>
              </a:rPr>
              <a:t>시연</a:t>
            </a:r>
            <a:r>
              <a:rPr sz="900" b="0" kern="0" spc="0" dirty="0">
                <a:solidFill>
                  <a:srgbClr val="1D1D1F"/>
                </a:solidFill>
                <a:latin typeface="Pretendard SemiBold"/>
                <a:cs typeface="Pretendard SemiBold"/>
              </a:rPr>
              <a:t> </a:t>
            </a:r>
            <a:r>
              <a:rPr sz="900" b="0" kern="0" spc="0" dirty="0" err="1">
                <a:solidFill>
                  <a:srgbClr val="1D1D1F"/>
                </a:solidFill>
                <a:latin typeface="Pretendard SemiBold"/>
                <a:cs typeface="Pretendard SemiBold"/>
              </a:rPr>
              <a:t>설계</a:t>
            </a:r>
            <a:endParaRPr sz="900" b="0" kern="0" spc="0" dirty="0">
              <a:solidFill>
                <a:srgbClr val="1D1D1F"/>
              </a:solidFill>
              <a:latin typeface="Pretendard SemiBold"/>
              <a:cs typeface="Pretendard SemiBold"/>
            </a:endParaRPr>
          </a:p>
          <a:p>
            <a:pPr>
              <a:lnSpc>
                <a:spcPts val="1237"/>
              </a:lnSpc>
              <a:spcBef>
                <a:spcPts val="375"/>
              </a:spcBef>
            </a:pPr>
            <a:r>
              <a:rPr sz="825" b="0" kern="0" spc="0" dirty="0">
                <a:solidFill>
                  <a:srgbClr val="333333"/>
                </a:solidFill>
                <a:latin typeface="Pretendard"/>
                <a:cs typeface="Pretendard"/>
              </a:rPr>
              <a:t>SO-101 </a:t>
            </a:r>
            <a:r>
              <a:rPr sz="825" b="0" kern="0" spc="0" dirty="0" err="1">
                <a:solidFill>
                  <a:srgbClr val="333333"/>
                </a:solidFill>
                <a:latin typeface="Pretendard"/>
                <a:cs typeface="Pretendard"/>
              </a:rPr>
              <a:t>리더-팔로워</a:t>
            </a:r>
            <a:r>
              <a:rPr sz="825" b="0" kern="0" spc="0" dirty="0">
                <a:solidFill>
                  <a:srgbClr val="333333"/>
                </a:solidFill>
                <a:latin typeface="Pretendard"/>
                <a:cs typeface="Pretendard"/>
              </a:rPr>
              <a:t> </a:t>
            </a:r>
            <a:r>
              <a:rPr sz="825" b="0" kern="0" spc="0" dirty="0" err="1">
                <a:solidFill>
                  <a:srgbClr val="333333"/>
                </a:solidFill>
                <a:latin typeface="Pretendard"/>
                <a:cs typeface="Pretendard"/>
              </a:rPr>
              <a:t>구성</a:t>
            </a:r>
            <a:r>
              <a:rPr sz="825" b="0" kern="0" spc="0" dirty="0">
                <a:solidFill>
                  <a:srgbClr val="333333"/>
                </a:solidFill>
                <a:latin typeface="Pretendard"/>
                <a:cs typeface="Pretendard"/>
              </a:rPr>
              <a:t>, </a:t>
            </a:r>
            <a:r>
              <a:rPr sz="825" b="0" kern="0" spc="0" dirty="0" err="1">
                <a:solidFill>
                  <a:srgbClr val="333333"/>
                </a:solidFill>
                <a:latin typeface="Pretendard"/>
                <a:cs typeface="Pretendard"/>
              </a:rPr>
              <a:t>시연</a:t>
            </a:r>
            <a:r>
              <a:rPr sz="825" b="0" kern="0" spc="0" dirty="0">
                <a:solidFill>
                  <a:srgbClr val="333333"/>
                </a:solidFill>
                <a:latin typeface="Pretendard"/>
                <a:cs typeface="Pretendard"/>
              </a:rPr>
              <a:t> 100회 </a:t>
            </a:r>
            <a:r>
              <a:rPr sz="825" b="0" kern="0" spc="0" dirty="0" err="1">
                <a:solidFill>
                  <a:srgbClr val="333333"/>
                </a:solidFill>
                <a:latin typeface="Pretendard"/>
                <a:cs typeface="Pretendard"/>
              </a:rPr>
              <a:t>수집과</a:t>
            </a:r>
            <a:r>
              <a:rPr sz="825" b="0" kern="0" spc="0" dirty="0">
                <a:solidFill>
                  <a:srgbClr val="333333"/>
                </a:solidFill>
                <a:latin typeface="Pretendard"/>
                <a:cs typeface="Pretendard"/>
              </a:rPr>
              <a:t> ACT </a:t>
            </a:r>
            <a:r>
              <a:rPr sz="825" b="0" kern="0" spc="0" dirty="0" err="1">
                <a:solidFill>
                  <a:srgbClr val="333333"/>
                </a:solidFill>
                <a:latin typeface="Pretendard"/>
                <a:cs typeface="Pretendard"/>
              </a:rPr>
              <a:t>정책</a:t>
            </a:r>
            <a:r>
              <a:rPr sz="825" b="0" kern="0" spc="0" dirty="0">
                <a:solidFill>
                  <a:srgbClr val="333333"/>
                </a:solidFill>
                <a:latin typeface="Pretendard"/>
                <a:cs typeface="Pretendard"/>
              </a:rPr>
              <a:t> </a:t>
            </a:r>
            <a:r>
              <a:rPr sz="825" b="0" kern="0" spc="0" dirty="0" err="1">
                <a:solidFill>
                  <a:srgbClr val="333333"/>
                </a:solidFill>
                <a:latin typeface="Pretendard"/>
                <a:cs typeface="Pretendard"/>
              </a:rPr>
              <a:t>학습</a:t>
            </a:r>
            <a:r>
              <a:rPr sz="825" b="0" kern="0" spc="0" dirty="0">
                <a:solidFill>
                  <a:srgbClr val="333333"/>
                </a:solidFill>
                <a:latin typeface="Pretendard"/>
                <a:cs typeface="Pretendard"/>
              </a:rPr>
              <a:t>, RTX 4060 </a:t>
            </a:r>
            <a:r>
              <a:rPr sz="825" b="0" kern="0" spc="0" dirty="0" err="1">
                <a:solidFill>
                  <a:srgbClr val="333333"/>
                </a:solidFill>
                <a:latin typeface="Pretendard"/>
                <a:cs typeface="Pretendard"/>
              </a:rPr>
              <a:t>롤아웃</a:t>
            </a:r>
            <a:r>
              <a:rPr sz="825" b="0" kern="0" spc="0" dirty="0">
                <a:solidFill>
                  <a:srgbClr val="333333"/>
                </a:solidFill>
                <a:latin typeface="Pretendard"/>
                <a:cs typeface="Pretendard"/>
              </a:rPr>
              <a:t> </a:t>
            </a:r>
            <a:r>
              <a:rPr sz="825" b="0" kern="0" spc="0" dirty="0" err="1">
                <a:solidFill>
                  <a:srgbClr val="333333"/>
                </a:solidFill>
                <a:latin typeface="Pretendard"/>
                <a:cs typeface="Pretendard"/>
              </a:rPr>
              <a:t>파이프라인</a:t>
            </a:r>
            <a:r>
              <a:rPr sz="825" b="0" kern="0" spc="0" dirty="0">
                <a:solidFill>
                  <a:srgbClr val="333333"/>
                </a:solidFill>
                <a:latin typeface="Pretendard"/>
                <a:cs typeface="Pretendard"/>
              </a:rPr>
              <a:t> · </a:t>
            </a:r>
            <a:r>
              <a:rPr sz="825" b="0" kern="0" spc="0" dirty="0" err="1">
                <a:solidFill>
                  <a:srgbClr val="333333"/>
                </a:solidFill>
                <a:latin typeface="Pretendard"/>
                <a:cs typeface="Pretendard"/>
              </a:rPr>
              <a:t>ESP_Drive</a:t>
            </a:r>
            <a:r>
              <a:rPr sz="825" b="0" kern="0" spc="0" dirty="0">
                <a:solidFill>
                  <a:srgbClr val="333333"/>
                </a:solidFill>
                <a:latin typeface="Pretendard"/>
                <a:cs typeface="Pretendard"/>
              </a:rPr>
              <a:t> </a:t>
            </a:r>
            <a:r>
              <a:rPr sz="825" b="0" kern="0" spc="0" dirty="0" err="1">
                <a:solidFill>
                  <a:srgbClr val="333333"/>
                </a:solidFill>
                <a:latin typeface="Pretendard"/>
                <a:cs typeface="Pretendard"/>
              </a:rPr>
              <a:t>펌웨어와</a:t>
            </a:r>
            <a:r>
              <a:rPr sz="825" b="0" kern="0" spc="0" dirty="0">
                <a:solidFill>
                  <a:srgbClr val="333333"/>
                </a:solidFill>
                <a:latin typeface="Pretendard"/>
                <a:cs typeface="Pretendard"/>
              </a:rPr>
              <a:t> </a:t>
            </a:r>
            <a:r>
              <a:rPr sz="825" b="0" kern="0" spc="0" dirty="0" err="1">
                <a:solidFill>
                  <a:srgbClr val="333333"/>
                </a:solidFill>
                <a:latin typeface="Pretendard"/>
                <a:cs typeface="Pretendard"/>
              </a:rPr>
              <a:t>안전</a:t>
            </a:r>
            <a:r>
              <a:rPr sz="825" b="0" kern="0" spc="0" dirty="0">
                <a:solidFill>
                  <a:srgbClr val="333333"/>
                </a:solidFill>
                <a:latin typeface="Pretendard"/>
                <a:cs typeface="Pretendard"/>
              </a:rPr>
              <a:t> </a:t>
            </a:r>
            <a:r>
              <a:rPr sz="825" b="0" kern="0" spc="0" dirty="0" err="1">
                <a:solidFill>
                  <a:srgbClr val="333333"/>
                </a:solidFill>
                <a:latin typeface="Pretendard"/>
                <a:cs typeface="Pretendard"/>
              </a:rPr>
              <a:t>우선순위</a:t>
            </a:r>
            <a:r>
              <a:rPr sz="825" b="0" kern="0" spc="0" dirty="0">
                <a:solidFill>
                  <a:srgbClr val="333333"/>
                </a:solidFill>
                <a:latin typeface="Pretendard"/>
                <a:cs typeface="Pretendard"/>
              </a:rPr>
              <a:t> </a:t>
            </a:r>
            <a:r>
              <a:rPr sz="825" b="0" kern="0" spc="0" dirty="0" err="1">
                <a:solidFill>
                  <a:srgbClr val="333333"/>
                </a:solidFill>
                <a:latin typeface="Pretendard"/>
                <a:cs typeface="Pretendard"/>
              </a:rPr>
              <a:t>판단</a:t>
            </a:r>
            <a:r>
              <a:rPr sz="825" b="0" kern="0" spc="0" dirty="0">
                <a:solidFill>
                  <a:srgbClr val="333333"/>
                </a:solidFill>
                <a:latin typeface="Pretendard"/>
                <a:cs typeface="Pretendard"/>
              </a:rPr>
              <a:t> </a:t>
            </a:r>
            <a:r>
              <a:rPr sz="825" b="0" kern="0" spc="0" dirty="0" err="1">
                <a:solidFill>
                  <a:srgbClr val="333333"/>
                </a:solidFill>
                <a:latin typeface="Pretendard"/>
                <a:cs typeface="Pretendard"/>
              </a:rPr>
              <a:t>로직</a:t>
            </a:r>
            <a:r>
              <a:rPr sz="825" b="0" kern="0" spc="0" dirty="0">
                <a:solidFill>
                  <a:srgbClr val="333333"/>
                </a:solidFill>
                <a:latin typeface="Pretendard"/>
                <a:cs typeface="Pretendard"/>
              </a:rPr>
              <a:t> · </a:t>
            </a:r>
            <a:r>
              <a:rPr sz="825" b="0" kern="0" spc="0" dirty="0" err="1">
                <a:solidFill>
                  <a:srgbClr val="333333"/>
                </a:solidFill>
                <a:latin typeface="Pretendard"/>
                <a:cs typeface="Pretendard"/>
              </a:rPr>
              <a:t>배터리부터</a:t>
            </a:r>
            <a:r>
              <a:rPr sz="825" b="0" kern="0" spc="0" dirty="0">
                <a:solidFill>
                  <a:srgbClr val="333333"/>
                </a:solidFill>
                <a:latin typeface="Pretendard"/>
                <a:cs typeface="Pretendard"/>
              </a:rPr>
              <a:t> 각 </a:t>
            </a:r>
            <a:r>
              <a:rPr sz="825" b="0" kern="0" spc="0" dirty="0" err="1">
                <a:solidFill>
                  <a:srgbClr val="333333"/>
                </a:solidFill>
                <a:latin typeface="Pretendard"/>
                <a:cs typeface="Pretendard"/>
              </a:rPr>
              <a:t>보드까지</a:t>
            </a:r>
            <a:r>
              <a:rPr sz="825" b="0" kern="0" spc="0" dirty="0">
                <a:solidFill>
                  <a:srgbClr val="333333"/>
                </a:solidFill>
                <a:latin typeface="Pretendard"/>
                <a:cs typeface="Pretendard"/>
              </a:rPr>
              <a:t> </a:t>
            </a:r>
            <a:r>
              <a:rPr sz="825" b="0" kern="0" spc="0" dirty="0" err="1">
                <a:solidFill>
                  <a:srgbClr val="333333"/>
                </a:solidFill>
                <a:latin typeface="Pretendard"/>
                <a:cs typeface="Pretendard"/>
              </a:rPr>
              <a:t>전력</a:t>
            </a:r>
            <a:r>
              <a:rPr sz="825" b="0" kern="0" spc="0" dirty="0">
                <a:solidFill>
                  <a:srgbClr val="333333"/>
                </a:solidFill>
                <a:latin typeface="Pretendard"/>
                <a:cs typeface="Pretendard"/>
              </a:rPr>
              <a:t> </a:t>
            </a:r>
            <a:r>
              <a:rPr sz="825" b="0" kern="0" spc="0" dirty="0" err="1">
                <a:solidFill>
                  <a:srgbClr val="333333"/>
                </a:solidFill>
                <a:latin typeface="Pretendard"/>
                <a:cs typeface="Pretendard"/>
              </a:rPr>
              <a:t>계통</a:t>
            </a:r>
            <a:r>
              <a:rPr sz="825" b="0" kern="0" spc="0" dirty="0">
                <a:solidFill>
                  <a:srgbClr val="333333"/>
                </a:solidFill>
                <a:latin typeface="Pretendard"/>
                <a:cs typeface="Pretendard"/>
              </a:rPr>
              <a:t> 전 </a:t>
            </a:r>
            <a:r>
              <a:rPr sz="825" b="0" kern="0" spc="0" dirty="0" err="1">
                <a:solidFill>
                  <a:srgbClr val="333333"/>
                </a:solidFill>
                <a:latin typeface="Pretendard"/>
                <a:cs typeface="Pretendard"/>
              </a:rPr>
              <a:t>구간</a:t>
            </a:r>
            <a:r>
              <a:rPr sz="825" b="0" kern="0" spc="0" dirty="0">
                <a:solidFill>
                  <a:srgbClr val="333333"/>
                </a:solidFill>
                <a:latin typeface="Pretendard"/>
                <a:cs typeface="Pretendard"/>
              </a:rPr>
              <a:t> · </a:t>
            </a:r>
            <a:r>
              <a:rPr sz="825" b="0" kern="0" spc="0" dirty="0" err="1">
                <a:solidFill>
                  <a:srgbClr val="333333"/>
                </a:solidFill>
                <a:latin typeface="Pretendard"/>
                <a:cs typeface="Pretendard"/>
              </a:rPr>
              <a:t>시나리오와</a:t>
            </a:r>
            <a:r>
              <a:rPr sz="825" b="0" kern="0" spc="0" dirty="0">
                <a:solidFill>
                  <a:srgbClr val="333333"/>
                </a:solidFill>
                <a:latin typeface="Pretendard"/>
                <a:cs typeface="Pretendard"/>
              </a:rPr>
              <a:t> </a:t>
            </a:r>
            <a:r>
              <a:rPr sz="825" b="0" kern="0" spc="0" dirty="0" err="1">
                <a:solidFill>
                  <a:srgbClr val="333333"/>
                </a:solidFill>
                <a:latin typeface="Pretendard"/>
                <a:cs typeface="Pretendard"/>
              </a:rPr>
              <a:t>세트</a:t>
            </a:r>
            <a:r>
              <a:rPr sz="825" b="0" kern="0" spc="0" dirty="0">
                <a:solidFill>
                  <a:srgbClr val="333333"/>
                </a:solidFill>
                <a:latin typeface="Pretendard"/>
                <a:cs typeface="Pretendard"/>
              </a:rPr>
              <a:t> </a:t>
            </a:r>
            <a:r>
              <a:rPr sz="825" b="0" kern="0" spc="0" dirty="0" err="1">
                <a:solidFill>
                  <a:srgbClr val="333333"/>
                </a:solidFill>
                <a:latin typeface="Pretendard"/>
                <a:cs typeface="Pretendard"/>
              </a:rPr>
              <a:t>설계</a:t>
            </a:r>
            <a:r>
              <a:rPr lang="en-US" sz="825" b="0" kern="0" spc="0" dirty="0">
                <a:solidFill>
                  <a:srgbClr val="333333"/>
                </a:solidFill>
                <a:latin typeface="Pretendard"/>
                <a:cs typeface="Pretendard"/>
              </a:rPr>
              <a:t> </a:t>
            </a:r>
            <a:r>
              <a:rPr lang="en-US" altLang="ko-KR" sz="825" kern="0" dirty="0">
                <a:solidFill>
                  <a:srgbClr val="333333"/>
                </a:solidFill>
                <a:latin typeface="Pretendard"/>
                <a:cs typeface="Pretendard"/>
              </a:rPr>
              <a:t>· </a:t>
            </a:r>
            <a:r>
              <a:rPr lang="ko-KR" altLang="en-US" sz="825" kern="0" dirty="0">
                <a:solidFill>
                  <a:srgbClr val="333333"/>
                </a:solidFill>
                <a:latin typeface="Pretendard" panose="02000503000000020004" pitchFamily="50" charset="-127"/>
                <a:ea typeface="Pretendard" panose="02000503000000020004" pitchFamily="50" charset="-127"/>
                <a:cs typeface="Pretendard" panose="02000503000000020004" pitchFamily="50" charset="-127"/>
              </a:rPr>
              <a:t>개발완료보고서 제작</a:t>
            </a:r>
            <a:endParaRPr sz="825" b="0" kern="0" spc="0" dirty="0">
              <a:solidFill>
                <a:srgbClr val="333333"/>
              </a:solidFill>
              <a:latin typeface="Pretendard" panose="02000503000000020004" pitchFamily="50" charset="-127"/>
              <a:ea typeface="Pretendard" panose="02000503000000020004" pitchFamily="50" charset="-127"/>
              <a:cs typeface="Pretendard" panose="02000503000000020004" pitchFamily="50" charset="-127"/>
            </a:endParaRPr>
          </a:p>
        </p:txBody>
      </p:sp>
      <p:sp>
        <p:nvSpPr>
          <p:cNvPr id="56" name="Rectangle 55"/>
          <p:cNvSpPr/>
          <p:nvPr/>
        </p:nvSpPr>
        <p:spPr>
          <a:xfrm>
            <a:off x="6515100" y="3500438"/>
            <a:ext cx="49149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7" name="Rounded Rectangle 56"/>
          <p:cNvSpPr/>
          <p:nvPr/>
        </p:nvSpPr>
        <p:spPr>
          <a:xfrm>
            <a:off x="6515100" y="3638550"/>
            <a:ext cx="342900" cy="190500"/>
          </a:xfrm>
          <a:prstGeom prst="roundRect">
            <a:avLst>
              <a:gd name="adj" fmla="val 15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515100" y="3638550"/>
            <a:ext cx="342900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825"/>
              </a:lnSpc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팀원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15100" y="3905250"/>
            <a:ext cx="914400" cy="2667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52"/>
              </a:lnSpc>
              <a:spcAft>
                <a:spcPts val="0"/>
              </a:spcAft>
            </a:pPr>
            <a:r>
              <a:rPr sz="1425" b="0" kern="0" spc="-21">
                <a:solidFill>
                  <a:srgbClr val="1D1D1F"/>
                </a:solidFill>
                <a:latin typeface="Pretendard SemiBold"/>
                <a:cs typeface="Pretendard SemiBold"/>
              </a:rPr>
              <a:t>강희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05700" y="3619500"/>
            <a:ext cx="3924300" cy="1066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5"/>
              </a:lnSpc>
              <a:spcAft>
                <a:spcPts val="0"/>
              </a:spcAft>
            </a:pPr>
            <a:r>
              <a:rPr sz="900" b="0" kern="0" spc="0" dirty="0" err="1">
                <a:solidFill>
                  <a:srgbClr val="1D1D1F"/>
                </a:solidFill>
                <a:latin typeface="Pretendard SemiBold"/>
                <a:cs typeface="Pretendard SemiBold"/>
              </a:rPr>
              <a:t>센서</a:t>
            </a:r>
            <a:r>
              <a:rPr sz="900" b="0" kern="0" spc="0" dirty="0">
                <a:solidFill>
                  <a:srgbClr val="1D1D1F"/>
                </a:solidFill>
                <a:latin typeface="Pretendard SemiBold"/>
                <a:cs typeface="Pretendard SemiBold"/>
              </a:rPr>
              <a:t> </a:t>
            </a:r>
            <a:r>
              <a:rPr sz="900" b="0" kern="0" spc="0" dirty="0" err="1">
                <a:solidFill>
                  <a:srgbClr val="1D1D1F"/>
                </a:solidFill>
                <a:latin typeface="Pretendard SemiBold"/>
                <a:cs typeface="Pretendard SemiBold"/>
              </a:rPr>
              <a:t>하드웨어</a:t>
            </a:r>
            <a:r>
              <a:rPr sz="900" b="0" kern="0" spc="0" dirty="0">
                <a:solidFill>
                  <a:srgbClr val="1D1D1F"/>
                </a:solidFill>
                <a:latin typeface="Pretendard SemiBold"/>
                <a:cs typeface="Pretendard SemiBold"/>
              </a:rPr>
              <a:t> · </a:t>
            </a:r>
            <a:r>
              <a:rPr sz="900" b="0" kern="0" spc="0" dirty="0" err="1">
                <a:solidFill>
                  <a:srgbClr val="1D1D1F"/>
                </a:solidFill>
                <a:latin typeface="Pretendard SemiBold"/>
                <a:cs typeface="Pretendard SemiBold"/>
              </a:rPr>
              <a:t>펌웨어</a:t>
            </a:r>
            <a:r>
              <a:rPr sz="900" b="0" kern="0" spc="0" dirty="0">
                <a:solidFill>
                  <a:srgbClr val="1D1D1F"/>
                </a:solidFill>
                <a:latin typeface="Pretendard SemiBold"/>
                <a:cs typeface="Pretendard SemiBold"/>
              </a:rPr>
              <a:t> · </a:t>
            </a:r>
            <a:r>
              <a:rPr sz="900" b="0" kern="0" spc="0" dirty="0" err="1">
                <a:solidFill>
                  <a:srgbClr val="1D1D1F"/>
                </a:solidFill>
                <a:latin typeface="Pretendard SemiBold"/>
                <a:cs typeface="Pretendard SemiBold"/>
              </a:rPr>
              <a:t>시연</a:t>
            </a:r>
            <a:r>
              <a:rPr sz="900" b="0" kern="0" spc="0" dirty="0">
                <a:solidFill>
                  <a:srgbClr val="1D1D1F"/>
                </a:solidFill>
                <a:latin typeface="Pretendard SemiBold"/>
                <a:cs typeface="Pretendard SemiBold"/>
              </a:rPr>
              <a:t> </a:t>
            </a:r>
            <a:r>
              <a:rPr sz="900" b="0" kern="0" spc="0" dirty="0" err="1">
                <a:solidFill>
                  <a:srgbClr val="1D1D1F"/>
                </a:solidFill>
                <a:latin typeface="Pretendard SemiBold"/>
                <a:cs typeface="Pretendard SemiBold"/>
              </a:rPr>
              <a:t>영상</a:t>
            </a:r>
            <a:endParaRPr sz="900" b="0" kern="0" spc="0" dirty="0">
              <a:solidFill>
                <a:srgbClr val="1D1D1F"/>
              </a:solidFill>
              <a:latin typeface="Pretendard SemiBold"/>
              <a:cs typeface="Pretendard SemiBold"/>
            </a:endParaRPr>
          </a:p>
          <a:p>
            <a:pPr algn="l">
              <a:lnSpc>
                <a:spcPts val="1237"/>
              </a:lnSpc>
              <a:spcBef>
                <a:spcPts val="375"/>
              </a:spcBef>
              <a:spcAft>
                <a:spcPts val="0"/>
              </a:spcAft>
            </a:pPr>
            <a:r>
              <a:rPr sz="825" b="0" kern="0" spc="0" dirty="0">
                <a:solidFill>
                  <a:srgbClr val="333333"/>
                </a:solidFill>
                <a:latin typeface="Pretendard"/>
                <a:cs typeface="Pretendard"/>
              </a:rPr>
              <a:t>MQ-2 </a:t>
            </a:r>
            <a:r>
              <a:rPr sz="825" b="0" kern="0" spc="0" dirty="0" err="1">
                <a:solidFill>
                  <a:srgbClr val="333333"/>
                </a:solidFill>
                <a:latin typeface="Pretendard"/>
                <a:cs typeface="Pretendard"/>
              </a:rPr>
              <a:t>가스센서와</a:t>
            </a:r>
            <a:r>
              <a:rPr sz="825" b="0" kern="0" spc="0" dirty="0">
                <a:solidFill>
                  <a:srgbClr val="333333"/>
                </a:solidFill>
                <a:latin typeface="Pretendard"/>
                <a:cs typeface="Pretendard"/>
              </a:rPr>
              <a:t> </a:t>
            </a:r>
            <a:r>
              <a:rPr sz="825" b="0" kern="0" spc="0" dirty="0" err="1">
                <a:solidFill>
                  <a:srgbClr val="333333"/>
                </a:solidFill>
                <a:latin typeface="Pretendard"/>
                <a:cs typeface="Pretendard"/>
              </a:rPr>
              <a:t>화염센서</a:t>
            </a:r>
            <a:r>
              <a:rPr sz="825" b="0" kern="0" spc="0" dirty="0">
                <a:solidFill>
                  <a:srgbClr val="333333"/>
                </a:solidFill>
                <a:latin typeface="Pretendard"/>
                <a:cs typeface="Pretendard"/>
              </a:rPr>
              <a:t> </a:t>
            </a:r>
            <a:r>
              <a:rPr sz="825" b="0" kern="0" spc="0" dirty="0" err="1">
                <a:solidFill>
                  <a:srgbClr val="333333"/>
                </a:solidFill>
                <a:latin typeface="Pretendard"/>
                <a:cs typeface="Pretendard"/>
              </a:rPr>
              <a:t>배선</a:t>
            </a:r>
            <a:r>
              <a:rPr sz="825" b="0" kern="0" spc="0" dirty="0">
                <a:solidFill>
                  <a:srgbClr val="333333"/>
                </a:solidFill>
                <a:latin typeface="Pretendard"/>
                <a:cs typeface="Pretendard"/>
              </a:rPr>
              <a:t> · </a:t>
            </a:r>
            <a:r>
              <a:rPr sz="825" b="0" kern="0" spc="0" dirty="0" err="1">
                <a:solidFill>
                  <a:srgbClr val="333333"/>
                </a:solidFill>
                <a:latin typeface="Pretendard"/>
                <a:cs typeface="Pretendard"/>
              </a:rPr>
              <a:t>납땜과</a:t>
            </a:r>
            <a:r>
              <a:rPr sz="825" b="0" kern="0" spc="0" dirty="0">
                <a:solidFill>
                  <a:srgbClr val="333333"/>
                </a:solidFill>
                <a:latin typeface="Pretendard"/>
                <a:cs typeface="Pretendard"/>
              </a:rPr>
              <a:t> </a:t>
            </a:r>
            <a:r>
              <a:rPr sz="825" b="0" kern="0" spc="0" dirty="0" err="1">
                <a:solidFill>
                  <a:srgbClr val="333333"/>
                </a:solidFill>
                <a:latin typeface="Pretendard"/>
                <a:cs typeface="Pretendard"/>
              </a:rPr>
              <a:t>급전</a:t>
            </a:r>
            <a:r>
              <a:rPr sz="825" b="0" kern="0" spc="0" dirty="0">
                <a:solidFill>
                  <a:srgbClr val="333333"/>
                </a:solidFill>
                <a:latin typeface="Pretendard"/>
                <a:cs typeface="Pretendard"/>
              </a:rPr>
              <a:t> </a:t>
            </a:r>
            <a:r>
              <a:rPr sz="825" b="0" kern="0" spc="0" dirty="0" err="1">
                <a:solidFill>
                  <a:srgbClr val="333333"/>
                </a:solidFill>
                <a:latin typeface="Pretendard"/>
                <a:cs typeface="Pretendard"/>
              </a:rPr>
              <a:t>경로</a:t>
            </a:r>
            <a:r>
              <a:rPr sz="825" b="0" kern="0" spc="0" dirty="0">
                <a:solidFill>
                  <a:srgbClr val="333333"/>
                </a:solidFill>
                <a:latin typeface="Pretendard"/>
                <a:cs typeface="Pretendard"/>
              </a:rPr>
              <a:t> </a:t>
            </a:r>
            <a:r>
              <a:rPr sz="825" b="0" kern="0" spc="0" dirty="0" err="1">
                <a:solidFill>
                  <a:srgbClr val="333333"/>
                </a:solidFill>
                <a:latin typeface="Pretendard"/>
                <a:cs typeface="Pretendard"/>
              </a:rPr>
              <a:t>구성</a:t>
            </a:r>
            <a:r>
              <a:rPr sz="825" b="0" kern="0" spc="0" dirty="0">
                <a:solidFill>
                  <a:srgbClr val="333333"/>
                </a:solidFill>
                <a:latin typeface="Pretendard"/>
                <a:cs typeface="Pretendard"/>
              </a:rPr>
              <a:t> · </a:t>
            </a:r>
            <a:r>
              <a:rPr sz="825" b="0" kern="0" spc="0" dirty="0" err="1">
                <a:solidFill>
                  <a:srgbClr val="333333"/>
                </a:solidFill>
                <a:latin typeface="Pretendard"/>
                <a:cs typeface="Pretendard"/>
              </a:rPr>
              <a:t>센서</a:t>
            </a:r>
            <a:r>
              <a:rPr sz="825" b="0" kern="0" spc="0" dirty="0">
                <a:solidFill>
                  <a:srgbClr val="333333"/>
                </a:solidFill>
                <a:latin typeface="Pretendard"/>
                <a:cs typeface="Pretendard"/>
              </a:rPr>
              <a:t> </a:t>
            </a:r>
            <a:r>
              <a:rPr sz="825" b="0" kern="0" spc="0" dirty="0" err="1">
                <a:solidFill>
                  <a:srgbClr val="333333"/>
                </a:solidFill>
                <a:latin typeface="Pretendard"/>
                <a:cs typeface="Pretendard"/>
              </a:rPr>
              <a:t>샘플링과</a:t>
            </a:r>
            <a:r>
              <a:rPr sz="825" b="0" kern="0" spc="0" dirty="0">
                <a:solidFill>
                  <a:srgbClr val="333333"/>
                </a:solidFill>
                <a:latin typeface="Pretendard"/>
                <a:cs typeface="Pretendard"/>
              </a:rPr>
              <a:t> 3초 </a:t>
            </a:r>
            <a:r>
              <a:rPr sz="825" b="0" kern="0" spc="0" dirty="0" err="1">
                <a:solidFill>
                  <a:srgbClr val="333333"/>
                </a:solidFill>
                <a:latin typeface="Pretendard"/>
                <a:cs typeface="Pretendard"/>
              </a:rPr>
              <a:t>가스</a:t>
            </a:r>
            <a:r>
              <a:rPr sz="825" b="0" kern="0" spc="0" dirty="0">
                <a:solidFill>
                  <a:srgbClr val="333333"/>
                </a:solidFill>
                <a:latin typeface="Pretendard"/>
                <a:cs typeface="Pretendard"/>
              </a:rPr>
              <a:t> </a:t>
            </a:r>
            <a:r>
              <a:rPr sz="825" b="0" kern="0" spc="0" dirty="0" err="1">
                <a:solidFill>
                  <a:srgbClr val="333333"/>
                </a:solidFill>
                <a:latin typeface="Pretendard"/>
                <a:cs typeface="Pretendard"/>
              </a:rPr>
              <a:t>정밀검사</a:t>
            </a:r>
            <a:r>
              <a:rPr sz="825" b="0" kern="0" spc="0" dirty="0">
                <a:solidFill>
                  <a:srgbClr val="333333"/>
                </a:solidFill>
                <a:latin typeface="Pretendard"/>
                <a:cs typeface="Pretendard"/>
              </a:rPr>
              <a:t>(GAS_CHECK) </a:t>
            </a:r>
            <a:r>
              <a:rPr sz="825" b="0" kern="0" spc="0" dirty="0" err="1">
                <a:solidFill>
                  <a:srgbClr val="333333"/>
                </a:solidFill>
                <a:latin typeface="Pretendard"/>
                <a:cs typeface="Pretendard"/>
              </a:rPr>
              <a:t>로직</a:t>
            </a:r>
            <a:r>
              <a:rPr sz="825" b="0" kern="0" spc="0" dirty="0">
                <a:solidFill>
                  <a:srgbClr val="333333"/>
                </a:solidFill>
                <a:latin typeface="Pretendard"/>
                <a:cs typeface="Pretendard"/>
              </a:rPr>
              <a:t> </a:t>
            </a:r>
            <a:r>
              <a:rPr sz="825" b="0" kern="0" spc="0" dirty="0" err="1">
                <a:solidFill>
                  <a:srgbClr val="333333"/>
                </a:solidFill>
                <a:latin typeface="Pretendard"/>
                <a:cs typeface="Pretendard"/>
              </a:rPr>
              <a:t>구현</a:t>
            </a:r>
            <a:r>
              <a:rPr sz="825" b="0" kern="0" spc="0" dirty="0">
                <a:solidFill>
                  <a:srgbClr val="333333"/>
                </a:solidFill>
                <a:latin typeface="Pretendard"/>
                <a:cs typeface="Pretendard"/>
              </a:rPr>
              <a:t> · </a:t>
            </a:r>
            <a:r>
              <a:rPr sz="825" b="0" kern="0" spc="0" dirty="0" err="1">
                <a:solidFill>
                  <a:srgbClr val="333333"/>
                </a:solidFill>
                <a:latin typeface="Pretendard"/>
                <a:cs typeface="Pretendard"/>
              </a:rPr>
              <a:t>판정</a:t>
            </a:r>
            <a:r>
              <a:rPr sz="825" b="0" kern="0" spc="0" dirty="0">
                <a:solidFill>
                  <a:srgbClr val="333333"/>
                </a:solidFill>
                <a:latin typeface="Pretendard"/>
                <a:cs typeface="Pretendard"/>
              </a:rPr>
              <a:t> </a:t>
            </a:r>
            <a:r>
              <a:rPr sz="825" b="0" kern="0" spc="0" dirty="0" err="1">
                <a:solidFill>
                  <a:srgbClr val="333333"/>
                </a:solidFill>
                <a:latin typeface="Pretendard"/>
                <a:cs typeface="Pretendard"/>
              </a:rPr>
              <a:t>결과</a:t>
            </a:r>
            <a:r>
              <a:rPr sz="825" b="0" kern="0" spc="0" dirty="0">
                <a:solidFill>
                  <a:srgbClr val="333333"/>
                </a:solidFill>
                <a:latin typeface="Pretendard"/>
                <a:cs typeface="Pretendard"/>
              </a:rPr>
              <a:t>(DETECTED / CLEAR / ERROR) </a:t>
            </a:r>
            <a:r>
              <a:rPr sz="825" b="0" kern="0" spc="0" dirty="0" err="1">
                <a:solidFill>
                  <a:srgbClr val="333333"/>
                </a:solidFill>
                <a:latin typeface="Pretendard"/>
                <a:cs typeface="Pretendard"/>
              </a:rPr>
              <a:t>전달</a:t>
            </a:r>
            <a:r>
              <a:rPr sz="825" b="0" kern="0" spc="0" dirty="0">
                <a:solidFill>
                  <a:srgbClr val="333333"/>
                </a:solidFill>
                <a:latin typeface="Pretendard"/>
                <a:cs typeface="Pretendard"/>
              </a:rPr>
              <a:t> </a:t>
            </a:r>
            <a:r>
              <a:rPr sz="825" b="0" kern="0" spc="0" dirty="0" err="1">
                <a:solidFill>
                  <a:srgbClr val="333333"/>
                </a:solidFill>
                <a:latin typeface="Pretendard"/>
                <a:cs typeface="Pretendard"/>
              </a:rPr>
              <a:t>통신</a:t>
            </a:r>
            <a:r>
              <a:rPr sz="825" b="0" kern="0" spc="0" dirty="0">
                <a:solidFill>
                  <a:srgbClr val="333333"/>
                </a:solidFill>
                <a:latin typeface="Pretendard"/>
                <a:cs typeface="Pretendard"/>
              </a:rPr>
              <a:t> · </a:t>
            </a:r>
            <a:r>
              <a:rPr sz="825" b="0" kern="0" spc="0" dirty="0" err="1">
                <a:solidFill>
                  <a:srgbClr val="333333"/>
                </a:solidFill>
                <a:latin typeface="Pretendard"/>
                <a:cs typeface="Pretendard"/>
              </a:rPr>
              <a:t>제출</a:t>
            </a:r>
            <a:r>
              <a:rPr sz="825" b="0" kern="0" spc="0" dirty="0">
                <a:solidFill>
                  <a:srgbClr val="333333"/>
                </a:solidFill>
                <a:latin typeface="Pretendard"/>
                <a:cs typeface="Pretendard"/>
              </a:rPr>
              <a:t> </a:t>
            </a:r>
            <a:r>
              <a:rPr sz="825" b="0" kern="0" spc="0" dirty="0" err="1">
                <a:solidFill>
                  <a:srgbClr val="333333"/>
                </a:solidFill>
                <a:latin typeface="Pretendard"/>
                <a:cs typeface="Pretendard"/>
              </a:rPr>
              <a:t>시연</a:t>
            </a:r>
            <a:r>
              <a:rPr sz="825" b="0" kern="0" spc="0" dirty="0">
                <a:solidFill>
                  <a:srgbClr val="333333"/>
                </a:solidFill>
                <a:latin typeface="Pretendard"/>
                <a:cs typeface="Pretendard"/>
              </a:rPr>
              <a:t> </a:t>
            </a:r>
            <a:r>
              <a:rPr sz="825" b="0" kern="0" spc="0" dirty="0" err="1">
                <a:solidFill>
                  <a:srgbClr val="333333"/>
                </a:solidFill>
                <a:latin typeface="Pretendard"/>
                <a:cs typeface="Pretendard"/>
              </a:rPr>
              <a:t>영상</a:t>
            </a:r>
            <a:r>
              <a:rPr sz="825" b="0" kern="0" spc="0" dirty="0">
                <a:solidFill>
                  <a:srgbClr val="333333"/>
                </a:solidFill>
                <a:latin typeface="Pretendard"/>
                <a:cs typeface="Pretendard"/>
              </a:rPr>
              <a:t> </a:t>
            </a:r>
            <a:r>
              <a:rPr sz="825" b="0" kern="0" spc="0" dirty="0" err="1">
                <a:solidFill>
                  <a:srgbClr val="333333"/>
                </a:solidFill>
                <a:latin typeface="Pretendard"/>
                <a:cs typeface="Pretendard"/>
              </a:rPr>
              <a:t>제작</a:t>
            </a:r>
            <a:endParaRPr sz="825" b="0" kern="0" spc="0" dirty="0">
              <a:solidFill>
                <a:srgbClr val="333333"/>
              </a:solidFill>
              <a:latin typeface="Pretendard"/>
              <a:cs typeface="Pretendard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6515100" y="4795838"/>
            <a:ext cx="4914900" cy="9525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2" name="Rounded Rectangle 61"/>
          <p:cNvSpPr/>
          <p:nvPr/>
        </p:nvSpPr>
        <p:spPr>
          <a:xfrm>
            <a:off x="6515100" y="4933950"/>
            <a:ext cx="342900" cy="190500"/>
          </a:xfrm>
          <a:prstGeom prst="roundRect">
            <a:avLst>
              <a:gd name="adj" fmla="val 15000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515100" y="4933950"/>
            <a:ext cx="342900" cy="1905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825"/>
              </a:lnSpc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팀원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15100" y="5200650"/>
            <a:ext cx="914400" cy="2667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52"/>
              </a:lnSpc>
              <a:spcAft>
                <a:spcPts val="0"/>
              </a:spcAft>
            </a:pPr>
            <a:r>
              <a:rPr sz="1425" b="0" kern="0" spc="-21">
                <a:solidFill>
                  <a:srgbClr val="1D1D1F"/>
                </a:solidFill>
                <a:latin typeface="Pretendard SemiBold"/>
                <a:cs typeface="Pretendard SemiBold"/>
              </a:rPr>
              <a:t>진우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505700" y="4914900"/>
            <a:ext cx="3924300" cy="1066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305"/>
              </a:lnSpc>
              <a:spcAft>
                <a:spcPts val="0"/>
              </a:spcAft>
            </a:pPr>
            <a:r>
              <a:rPr sz="900" b="0" kern="0" spc="0">
                <a:solidFill>
                  <a:srgbClr val="1D1D1F"/>
                </a:solidFill>
                <a:latin typeface="Pretendard SemiBold"/>
                <a:cs typeface="Pretendard SemiBold"/>
              </a:rPr>
              <a:t>ROS2 통합 · 배포 · 저장소</a:t>
            </a:r>
          </a:p>
          <a:p>
            <a:pPr algn="l">
              <a:lnSpc>
                <a:spcPts val="1237"/>
              </a:lnSpc>
              <a:spcBef>
                <a:spcPts val="375"/>
              </a:spcBef>
              <a:spcAft>
                <a:spcPts val="0"/>
              </a:spcAft>
            </a:pPr>
            <a:r>
              <a:rPr sz="825" b="0" kern="0" spc="0">
                <a:solidFill>
                  <a:srgbClr val="333333"/>
                </a:solidFill>
                <a:latin typeface="Pretendard"/>
                <a:cs typeface="Pretendard"/>
              </a:rPr>
              <a:t>ROS2 워크스페이스 구성과 노드 통합 · sensor_bridge_node 와 amr_bridge_node 를 통한 RPi–ESP 통신 연결 · RPi 실물 대시보드 배포와 실기 검증 · GitHub 저장소 관리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161288" y="2566416"/>
            <a:ext cx="365760" cy="301752"/>
          </a:xfrm>
          <a:prstGeom prst="roundRect">
            <a:avLst>
              <a:gd name="adj" fmla="val 42424"/>
            </a:avLst>
          </a:prstGeom>
          <a:solidFill>
            <a:srgbClr val="1D1D1F"/>
          </a:solidFill>
          <a:ln w="22859">
            <a:solidFill>
              <a:srgbClr val="1D1D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4" name="Connector 3"/>
          <p:cNvCxnSpPr/>
          <p:nvPr/>
        </p:nvCxnSpPr>
        <p:spPr>
          <a:xfrm flipV="1">
            <a:off x="1344168" y="2484120"/>
            <a:ext cx="0" cy="82296"/>
          </a:xfrm>
          <a:prstGeom prst="line">
            <a:avLst/>
          </a:prstGeom>
          <a:ln w="32004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1313078" y="2434742"/>
            <a:ext cx="62179" cy="62179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6" name="Connector 5"/>
          <p:cNvCxnSpPr/>
          <p:nvPr/>
        </p:nvCxnSpPr>
        <p:spPr>
          <a:xfrm flipV="1">
            <a:off x="1508760" y="2548128"/>
            <a:ext cx="146304" cy="91440"/>
          </a:xfrm>
          <a:prstGeom prst="line">
            <a:avLst/>
          </a:prstGeom>
          <a:ln w="50291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623060" y="2516124"/>
            <a:ext cx="64008" cy="64008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8" name="Connector 7"/>
          <p:cNvCxnSpPr/>
          <p:nvPr/>
        </p:nvCxnSpPr>
        <p:spPr>
          <a:xfrm>
            <a:off x="1655064" y="2548128"/>
            <a:ext cx="64008" cy="128016"/>
          </a:xfrm>
          <a:prstGeom prst="line">
            <a:avLst/>
          </a:prstGeom>
          <a:ln w="50291" cap="rnd">
            <a:solidFill>
              <a:srgbClr val="1D1D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1680667" y="2637739"/>
            <a:ext cx="76810" cy="76810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0" name="Connector 9"/>
          <p:cNvCxnSpPr/>
          <p:nvPr/>
        </p:nvCxnSpPr>
        <p:spPr>
          <a:xfrm flipV="1">
            <a:off x="1719072" y="2621280"/>
            <a:ext cx="64008" cy="54864"/>
          </a:xfrm>
          <a:prstGeom prst="line">
            <a:avLst/>
          </a:prstGeom>
          <a:ln w="36576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719072" y="2676144"/>
            <a:ext cx="54864" cy="64008"/>
          </a:xfrm>
          <a:prstGeom prst="line">
            <a:avLst/>
          </a:prstGeom>
          <a:ln w="36576" cap="rnd">
            <a:solidFill>
              <a:srgbClr val="0066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202436" y="2827020"/>
            <a:ext cx="118872" cy="118872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Oval 12"/>
          <p:cNvSpPr/>
          <p:nvPr/>
        </p:nvSpPr>
        <p:spPr>
          <a:xfrm>
            <a:off x="1367028" y="2827020"/>
            <a:ext cx="118872" cy="118872"/>
          </a:xfrm>
          <a:prstGeom prst="ellipse">
            <a:avLst/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Oval 13"/>
          <p:cNvSpPr/>
          <p:nvPr/>
        </p:nvSpPr>
        <p:spPr>
          <a:xfrm>
            <a:off x="1289304" y="2630424"/>
            <a:ext cx="164592" cy="164592"/>
          </a:xfrm>
          <a:prstGeom prst="ellipse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Oval 14"/>
          <p:cNvSpPr/>
          <p:nvPr/>
        </p:nvSpPr>
        <p:spPr>
          <a:xfrm>
            <a:off x="1378915" y="2674315"/>
            <a:ext cx="40234" cy="40234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133600" y="2324100"/>
            <a:ext cx="8572500" cy="4191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2970"/>
              </a:lnSpc>
              <a:spcAft>
                <a:spcPts val="0"/>
              </a:spcAft>
            </a:pPr>
            <a:r>
              <a:rPr sz="2700" b="1" kern="0" spc="-54">
                <a:solidFill>
                  <a:srgbClr val="1D1D1F"/>
                </a:solidFill>
                <a:latin typeface="Pretendard"/>
                <a:cs typeface="Pretendard"/>
              </a:rPr>
              <a:t>감사합니다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52650" y="2857500"/>
            <a:ext cx="8572500" cy="20955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75"/>
              </a:lnSpc>
              <a:spcAft>
                <a:spcPts val="0"/>
              </a:spcAft>
            </a:pPr>
            <a:r>
              <a:rPr sz="1050" b="0" kern="0" spc="0">
                <a:solidFill>
                  <a:srgbClr val="333333"/>
                </a:solidFill>
                <a:latin typeface="Pretendard"/>
                <a:cs typeface="Pretendard"/>
              </a:rPr>
              <a:t>HazardBot — 감지 · 판정에서 초동 조치까지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3733800"/>
            <a:ext cx="1036320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914400" y="4038600"/>
            <a:ext cx="10363200" cy="1219200"/>
          </a:xfrm>
          <a:prstGeom prst="roundRect">
            <a:avLst>
              <a:gd name="adj" fmla="val 4687"/>
            </a:avLst>
          </a:prstGeom>
          <a:solidFill>
            <a:srgbClr val="EB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14400" y="4095750"/>
            <a:ext cx="28575" cy="11049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71575" y="4267200"/>
            <a:ext cx="9877425" cy="762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sz="900" b="0" kern="0" spc="72">
                <a:solidFill>
                  <a:srgbClr val="0066CC"/>
                </a:solidFill>
                <a:latin typeface="Pretendard SemiBold"/>
                <a:cs typeface="Pretendard SemiBold"/>
              </a:rPr>
              <a:t>Q &amp; A</a:t>
            </a:r>
          </a:p>
          <a:p>
            <a:pPr algn="l">
              <a:lnSpc>
                <a:spcPts val="1920"/>
              </a:lnSpc>
              <a:spcBef>
                <a:spcPts val="600"/>
              </a:spcBef>
              <a:spcAft>
                <a:spcPts val="0"/>
              </a:spcAft>
            </a:pPr>
            <a:r>
              <a:rPr sz="1200" b="0" kern="0" spc="-6">
                <a:solidFill>
                  <a:srgbClr val="1D1D1F"/>
                </a:solidFill>
                <a:latin typeface="Pretendard"/>
                <a:cs typeface="Pretendard"/>
              </a:rPr>
              <a:t>남은 과제는 RPi 온보드 추론 경로의 원인 규명, 판정 → 조치 자동 연동의 실물 최종 검증, DRIVE 주행 재개다.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676900"/>
            <a:ext cx="6667500" cy="1714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</a:pPr>
            <a:r>
              <a:rPr sz="900" b="0" kern="0" spc="72">
                <a:solidFill>
                  <a:srgbClr val="7A7A7A"/>
                </a:solidFill>
                <a:latin typeface="Pretendard SemiBold"/>
                <a:cs typeface="Pretendard SemiBold"/>
              </a:rPr>
              <a:t>제24회 임베디드SW경진대회 · 자유공모 · 확정 후 삽입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0100" y="5676900"/>
            <a:ext cx="6667500" cy="17145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</a:pPr>
            <a:r>
              <a:rPr sz="900" b="0" kern="0" spc="72">
                <a:solidFill>
                  <a:srgbClr val="7A7A7A"/>
                </a:solidFill>
                <a:latin typeface="Pretendard SemiBold"/>
                <a:cs typeface="Pretendard SemiBold"/>
              </a:rPr>
              <a:t>2026-09-03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3848</Words>
  <Application>Microsoft Office PowerPoint</Application>
  <PresentationFormat>와이드스크린</PresentationFormat>
  <Paragraphs>621</Paragraphs>
  <Slides>22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7" baseType="lpstr">
      <vt:lpstr>Pretendard</vt:lpstr>
      <vt:lpstr>Pretendard SemiBold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박승환</cp:lastModifiedBy>
  <cp:revision>3</cp:revision>
  <dcterms:created xsi:type="dcterms:W3CDTF">2013-01-27T09:14:16Z</dcterms:created>
  <dcterms:modified xsi:type="dcterms:W3CDTF">2026-09-02T12:47:07Z</dcterms:modified>
  <cp:category/>
</cp:coreProperties>
</file>